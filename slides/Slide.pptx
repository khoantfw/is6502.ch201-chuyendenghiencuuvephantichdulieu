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Trên tập kiểm tra gồm 294 nhân viên, mô hình xác định 117 người có mức rủi ro cao.</a:t>
            </a:r>
          </a:p>
          <a:p>
            <a:r>
              <a:t>Các phương pháp tìm kiếm chẩn đoán tạo được kịch bản giảm điểm cho toàn bộ 117 người. Tuy nhiên, khi áp dụng các quy tắc HR, chỉ 73 người, tương đương 62,4%, còn kịch bản khả thi.</a:t>
            </a:r>
          </a:p>
          <a:p>
            <a:r>
              <a:t>Nếu không cho phép thay đổi overtime, tỷ lệ này giảm còn 35,9%. Vì vậy, kết luận trung tâm là: một kịch bản hợp lệ với mô hình chưa chắc đã khả thi đối với tổ chức.</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Nội dung gồm bốn phần.</a:t>
            </a:r>
          </a:p>
          <a:p>
            <a:r>
              <a:t>Thứ nhất là khoảng trống nghiên cứu và câu hỏi nghiên cứu. Thứ hai là thiết kế kiểm toán. Thứ ba là các bằng chứng về hiệu năng và tính khả thi. Cuối cùng là độ nhạy, giới hạn và hàm ý sử dụng.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Một mô hình attrition có thể trả lời ai đang có điểm rủi ro cao. SHAP giải thích đặc trưng nào ảnh hưởng đến điểm số. Counterfactual tiếp tục cho biết cần thay đổi hồ sơ như thế nào để vượt qua ngưỡng.</a:t>
            </a:r>
          </a:p>
          <a:p>
            <a:r>
              <a:t>Tuy nhiên, ba bước này vẫn chưa trả lời được câu hỏi quan trọng nhất: thay đổi đó có tương ứng với một hành động HR hợp lý, đúng chiều và có thể đánh giá hay không?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RQ1 kiểm tra liệu có thể tạo được một hồ sơ làm điểm rủi ro giảm dưới ngưỡng hay không.</a:t>
            </a:r>
          </a:p>
          <a:p>
            <a:r>
              <a:t>RQ2 kiểm tra hồ sơ đó có chỉ sử dụng các đòn bẩy HR được phép và thỏa mãn các quy tắc hay không.</a:t>
            </a:r>
          </a:p>
          <a:p>
            <a:r>
              <a:t>RQ3 đánh giá kết quả nhạy như thế nào với cách chia dữ liệu và các giả định vận hành.</a:t>
            </a:r>
          </a:p>
          <a:p>
            <a:r>
              <a:t>Đóng góp của nghiên cứu không phải là một thuật toán mới, mà là một quy trình audit ở cấp nhân viên, ghi nhận phần coverage bị mất và lý do bị loại.</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Dataset có 1.470 hồ sơ tổng hợp và được chia theo tỷ lệ 60–20–20 với seed 42.</a:t>
            </a:r>
          </a:p>
          <a:p>
            <a:r>
              <a:t>Tập train gồm 882 người, dùng để học preprocessing, mô hình, miền giá trị và salary cap. Tập validation gồm 294 người, dùng để chọn mô hình và ngưỡng. Tập test gồm 294 người chỉ được sử dụng một lần cho đánh giá cuối và audit counterfactual.</a:t>
            </a:r>
          </a:p>
          <a:p>
            <a:r>
              <a:t>Cách tách này đảm bảo các lựa chọn mô hình không dựa trên kết quả của tập test.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Logistic regression đạt validation AP là 0,573, cao hơn XGBoost và random forest. Trên tập test, AP là 0,587.</a:t>
            </a:r>
          </a:p>
          <a:p>
            <a:r>
              <a:t>Tại ngưỡng 0,37, mô hình có recall 78,7%, tức phát hiện được 37 trong 47 người thực sự nghỉ việc. Tuy nhiên precision chỉ là 31,6%, và có 80 false positives.</a:t>
            </a:r>
          </a:p>
          <a:p>
            <a:r>
              <a:t>Do đó, 117 người được gắn cờ nên được hiểu là một hàng đợi cần xem xét, không phải danh sách những người chắc chắn sẽ nghỉ việc. Điểm số cũng là attrition score, không phải xác suất đã được calibration.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Nghiên cứu sử dụng ba mức ràng buộc.</a:t>
            </a:r>
          </a:p>
          <a:p>
            <a:r>
              <a:t>Level 1 cho phép thay đổi rộng các đặc trưng trong miền dữ liệu train. Level 2 khóa các biến bất biến và lịch sử, nhưng vẫn cho phép thay đổi perception, job context và các đòn bẩy trực tiếp. Hai mức này chỉ dùng để chẩn đoán.</a:t>
            </a:r>
          </a:p>
          <a:p>
            <a:r>
              <a:t>Level 3 là mức chính, chỉ xét ba đòn bẩy: tăng monthly income, tăng stock-option level và chuyển overtime từ Yes sang No. Tổng cộng có 2.681 hồ sơ duy nhất được đánh giá.</a:t>
            </a:r>
          </a:p>
          <a:p>
            <a:r>
              <a:t>Đây là một stress test trong không gian đã khai báo, không phải toàn bộ các biện pháp giữ chân nhân viên trong thực tế.</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Ở Level 1 và Level 2, cả 117 người đều có ít nhất một kịch bản làm điểm giảm dưới ngưỡng.</a:t>
            </a:r>
          </a:p>
          <a:p>
            <a:r>
              <a:t>Nhưng ở Level 3, chỉ 73 người còn kịch bản hợp lệ và khả thi theo các quy tắc đã mã hóa. 44 người còn lại có diagnostic recourse nhưng không có giải pháp trong lưới HR giới hạn.</a:t>
            </a:r>
          </a:p>
          <a:p>
            <a:r>
              <a:t>Như vậy, coverage giảm 37,6 điểm phần trăm, từ 100% xuống 62,4%. Đây là kết quả trung tâm của nghiên cứu.</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Các kịch bản chẩn đoán bị loại chủ yếu vì thay đổi job structure ngoài phạm vi, với 663 lượt vi phạm. Các nguyên nhân tiếp theo là vượt salary cap, thay đổi biến lịch sử, xem perception score như một hành động và tạo ra mâu thuẫn về tenure.</a:t>
            </a:r>
          </a:p>
          <a:p>
            <a:r>
              <a:t>Đây là số lượt vi phạm ở cấp kịch bản, không phải số nhân viên; một kịch bản có thể vi phạm nhiều quy tắc.</a:t>
            </a:r>
          </a:p>
          <a:p>
            <a:r>
              <a:t>Kết quả cho thấy nếu không có bước audit rõ ràng, mô hình có thể tạo ra một hồ sơ hợp lệ về mặt toán học nhưng không hợp lý về mặt tổ chức.</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Trong toàn bộ 999 kịch bản khả thi, stock options xuất hiện ở 84,6%, income ở 79,9% và overtime ở 65,8%.</a:t>
            </a:r>
          </a:p>
          <a:p>
            <a:r>
              <a:t>Nhưng khi chọn một kịch bản tốt nhất cho mỗi nhân viên, income chỉ còn xuất hiện trong 2,7%, tương đương hai trường hợp. Trong khi đó, overtime và stock options lần lượt xuất hiện ở 61,6% và 58,9%.</a:t>
            </a:r>
          </a:p>
          <a:p>
            <a:r>
              <a:t>Nguyên nhân là quy tắc ranking ưu tiên ít đặc trưng thay đổi và ưu tiên không tăng lương. Vì vậy, tần suất này phản ánh chính sách xếp hạng, không chứng minh overtime hay stock options hiệu quả hơn về mặt nhân quả.</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Employee 144 đại diện cho nhóm actionable. Điểm ban đầu là 0,605. Khi StockOptionLevel tăng từ 0 lên 3, điểm giảm xuống 0,283, thấp hơn ngưỡng 0,37 mà không cần thay đổi income hoặc overtime.</a:t>
            </a:r>
          </a:p>
          <a:p>
            <a:r>
              <a:t>Tuy nhiên, điều này chỉ có nghĩa là HR nên đánh giá tính đủ điều kiện, ngân sách, công bằng và mức độ nhân viên coi trọng quyền lợi này; không có nghĩa là tăng stock option sẽ chắc chắn giữ được nhân viên.</a:t>
            </a:r>
          </a:p>
          <a:p>
            <a:r>
              <a:t>Employee 269 có điểm 0,844. Mặc dù DiCE tìm được kịch bản giảm điểm, các kịch bản đều vi phạm phạm vi, lịch sử, perception, tenure hoặc salary cap. Trường hợp này cần chẩn đoán định tính thay vì một đề xuất tự động.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Yếu tố tác động mạnh nhất là overtime. Khi cho phép thay đổi overtime, feasibility là 62,4%; khi khóa biến này, tỷ lệ giảm còn 35,9%, tức giảm 26,5 điểm phần trăm.</a:t>
            </a:r>
          </a:p>
          <a:p>
            <a:r>
              <a:t>Ngược lại, thay đổi salary-cap percentile từ p60 đến p90 gần như không ảnh hưởng, với tỷ lệ từ 62,4% đến 64,1%.</a:t>
            </a:r>
          </a:p>
          <a:p>
            <a:r>
              <a:t>Qua ba split seed, feasibility dao động từ 55,7% đến 68,7%, và mô hình được chọn cũng thay đổi. Vì vậy, kết luận về khoảng cách feasibility khá ổn định, nhưng con số 62,4% không nên được xem là một tỷ lệ phổ quát.</a:t>
            </a:r>
          </a:p>
          <a:p>
            <a:r>
              <a:t>Phân tích threshold cũng làm thay đổi cả ngưỡng và thành phần cohort, nên không phải là hiệu ứng trong cùng một nhân viên.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Thứ nhất, dự đoán vẫn có độ bất định: recall tương đối cao nhưng precision thấp, nên một flag chỉ nên khởi tạo quá trình review.</a:t>
            </a:r>
          </a:p>
          <a:p>
            <a:r>
              <a:t>Thứ hai, computational recourse có một khoảng cách feasibility rõ ràng: diagnostic coverage là 100%, nhưng chỉ 62,4% vượt qua các quy tắc HR.</a:t>
            </a:r>
          </a:p>
          <a:p>
            <a:r>
              <a:t>Thứ ba, coverage phụ thuộc vào giả định tổ chức, đặc biệt là khả năng điều chỉnh overtime.</a:t>
            </a:r>
          </a:p>
          <a:p>
            <a:r>
              <a:t>Vì vậy, hệ thống phù hợp cho transparent triage, model audit và human review; không phù hợp để tự động ra quyết định HR, khẳng định quan hệ nhân quả hoặc bảo đảm giữ chân nhân viên. Dataset tổng hợp và cắt ngang chỉ cho phép audit hành vi mô hình.</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Tóm lại, kết quả quan trọng nhất là chỉ 73 trong 117 nhân viên rủi ro cao có recourse trong lưới HR giới hạn. Counterfactual giúp chúng ta kiểm tra logic của mô hình, nhưng không chứng minh một can thiệp sẽ làm nhân viên ở lại.</a:t>
            </a:r>
          </a:p>
          <a:p>
            <a:r>
              <a:t>Em xin cảm ơn thầy và các bạn đã lắng nghe. Em xin tiếp nhận câu hỏi.</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132A2F"/>
          </a:solidFill>
          <a:ln w="0">
            <a:solidFill>
              <a:srgbClr val="000000">
                <a:alpha val="0"/>
              </a:srgbClr>
            </a:solidFill>
            <a:prstDash val="solid"/>
          </a:ln>
        </p:spPr>
      </p:sp>
      <p:sp>
        <p:nvSpPr>
          <p:cNvPr id="4" name="kicker-01-label"/>
          <p:cNvSpPr>
            <a:spLocks noGrp="1"/>
          </p:cNvSpPr>
          <p:nvPr/>
        </p:nvSpPr>
        <p:spPr>
          <a:xfrm>
            <a:off x="1905000" y="3714750"/>
            <a:ext cx="8382000" cy="2095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00" b="1">
                <a:solidFill>
                  <a:srgbClr val="EAD9A8"/>
                </a:solidFill>
                <a:latin typeface="Avenir Next" panose="020B0803020202020204"/>
                <a:ea typeface="Avenir Next" panose="020B0803020202020204"/>
                <a:cs typeface="Avenir Next" panose="020B0803020202020204"/>
              </a:defRPr>
            </a:pPr>
            <a:r>
              <a:rPr sz="900" b="1">
                <a:solidFill>
                  <a:srgbClr val="EAD9A8"/>
                </a:solidFill>
                <a:latin typeface="Avenir Next" panose="020B0803020202020204"/>
                <a:ea typeface="Avenir Next" panose="020B0803020202020204"/>
                <a:cs typeface="Avenir Next" panose="020B0803020202020204"/>
              </a:rPr>
              <a:t>Research on Data Analysis · IS6502.CH201</a:t>
            </a:r>
            <a:endParaRPr sz="900" b="1">
              <a:solidFill>
                <a:srgbClr val="EAD9A8"/>
              </a:solidFill>
              <a:latin typeface="Avenir Next" panose="020B0803020202020204"/>
              <a:ea typeface="Avenir Next" panose="020B0803020202020204"/>
              <a:cs typeface="Avenir Next" panose="020B0803020202020204"/>
            </a:endParaRPr>
          </a:p>
        </p:txBody>
      </p:sp>
      <p:sp>
        <p:nvSpPr>
          <p:cNvPr id="5" name="Rectangles 4"/>
          <p:cNvSpPr>
            <a:spLocks noGrp="1"/>
          </p:cNvSpPr>
          <p:nvPr/>
        </p:nvSpPr>
        <p:spPr>
          <a:xfrm>
            <a:off x="1143000" y="1666875"/>
            <a:ext cx="9906000" cy="16192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3675" b="1">
                <a:solidFill>
                  <a:srgbClr val="F7F2E9"/>
                </a:solidFill>
                <a:latin typeface="New York"/>
                <a:ea typeface="New York"/>
                <a:cs typeface="New York"/>
              </a:defRPr>
            </a:pPr>
            <a:r>
              <a:rPr sz="3675" b="1">
                <a:solidFill>
                  <a:srgbClr val="F7F2E9"/>
                </a:solidFill>
                <a:latin typeface="New York"/>
                <a:ea typeface="New York"/>
                <a:cs typeface="New York"/>
              </a:rPr>
              <a:t>Are Counterfactual HR</a:t>
            </a:r>
            <a:endParaRPr sz="3675" b="1">
              <a:solidFill>
                <a:srgbClr val="F7F2E9"/>
              </a:solidFill>
              <a:latin typeface="New York"/>
              <a:ea typeface="New York"/>
              <a:cs typeface="New York"/>
            </a:endParaRPr>
          </a:p>
          <a:p>
            <a:pPr algn="ctr">
              <a:buNone/>
              <a:defRPr sz="3675" b="1">
                <a:solidFill>
                  <a:srgbClr val="F7F2E9"/>
                </a:solidFill>
                <a:latin typeface="New York"/>
                <a:ea typeface="New York"/>
                <a:cs typeface="New York"/>
              </a:defRPr>
            </a:pPr>
            <a:r>
              <a:rPr sz="3675" b="1">
                <a:solidFill>
                  <a:srgbClr val="F7F2E9"/>
                </a:solidFill>
                <a:latin typeface="New York"/>
                <a:ea typeface="New York"/>
                <a:cs typeface="New York"/>
              </a:rPr>
              <a:t>Intervention Scenarios Feasible?</a:t>
            </a:r>
            <a:endParaRPr sz="3675" b="1">
              <a:solidFill>
                <a:srgbClr val="F7F2E9"/>
              </a:solidFill>
              <a:latin typeface="New York"/>
              <a:ea typeface="New York"/>
              <a:cs typeface="New York"/>
            </a:endParaRPr>
          </a:p>
        </p:txBody>
      </p:sp>
      <p:sp>
        <p:nvSpPr>
          <p:cNvPr id="29" name="Rectangles 28"/>
          <p:cNvSpPr>
            <a:spLocks noGrp="1"/>
          </p:cNvSpPr>
          <p:nvPr/>
        </p:nvSpPr>
        <p:spPr>
          <a:xfrm>
            <a:off x="1905000" y="4552950"/>
            <a:ext cx="8382000" cy="2667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1200" b="1">
                <a:solidFill>
                  <a:srgbClr val="B9D7D1"/>
                </a:solidFill>
                <a:latin typeface="Avenir Next" panose="020B0803020202020204"/>
                <a:ea typeface="Avenir Next" panose="020B0803020202020204"/>
                <a:cs typeface="Avenir Next" panose="020B0803020202020204"/>
              </a:defRPr>
            </a:pPr>
            <a:r>
              <a:rPr sz="1200" b="1">
                <a:solidFill>
                  <a:srgbClr val="B9D7D1"/>
                </a:solidFill>
                <a:latin typeface="Avenir Next" panose="020B0803020202020204"/>
                <a:ea typeface="Avenir Next" panose="020B0803020202020204"/>
                <a:cs typeface="Avenir Next" panose="020B0803020202020204"/>
              </a:rPr>
              <a:t>Nguyen Tien Khoa</a:t>
            </a:r>
            <a:endParaRPr sz="1200" b="1">
              <a:solidFill>
                <a:srgbClr val="B9D7D1"/>
              </a:solidFill>
              <a:latin typeface="Avenir Next" panose="020B0803020202020204"/>
              <a:ea typeface="Avenir Next" panose="020B0803020202020204"/>
              <a:cs typeface="Avenir Next" panose="020B0803020202020204"/>
            </a:endParaRPr>
          </a:p>
        </p:txBody>
      </p:sp>
      <p:sp>
        <p:nvSpPr>
          <p:cNvPr id="30" name="Rectangles 29"/>
          <p:cNvSpPr>
            <a:spLocks noGrp="1"/>
          </p:cNvSpPr>
          <p:nvPr/>
        </p:nvSpPr>
        <p:spPr>
          <a:xfrm>
            <a:off x="1905000" y="4143375"/>
            <a:ext cx="8382000" cy="2286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1050" b="0">
                <a:solidFill>
                  <a:srgbClr val="B9D7D1"/>
                </a:solidFill>
                <a:latin typeface="Avenir Next" panose="020B0803020202020204"/>
                <a:ea typeface="Avenir Next" panose="020B0803020202020204"/>
                <a:cs typeface="Avenir Next" panose="020B0803020202020204"/>
              </a:defRPr>
            </a:pPr>
            <a:r>
              <a:rPr sz="1050" b="0">
                <a:solidFill>
                  <a:srgbClr val="B9D7D1"/>
                </a:solidFill>
                <a:latin typeface="Avenir Next" panose="020B0803020202020204"/>
                <a:ea typeface="Avenir Next" panose="020B0803020202020204"/>
                <a:cs typeface="Avenir Next" panose="020B0803020202020204"/>
              </a:rPr>
              <a:t>Assoc. Prof. Dr. Nguyen Dinh Thuan</a:t>
            </a:r>
            <a:endParaRPr sz="1050" b="0">
              <a:solidFill>
                <a:srgbClr val="B9D7D1"/>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132A2F"/>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E45B4F"/>
          </a:solidFill>
          <a:ln w="0">
            <a:solidFill>
              <a:srgbClr val="000000">
                <a:alpha val="0"/>
              </a:srgbClr>
            </a:solidFill>
            <a:prstDash val="solid"/>
          </a:ln>
        </p:spPr>
      </p:sp>
      <p:sp>
        <p:nvSpPr>
          <p:cNvPr id="4" name="kicker-01-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01-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EAD9A8"/>
                </a:solidFill>
                <a:latin typeface="Avenir Next" panose="020B0803020202020204"/>
                <a:ea typeface="Avenir Next" panose="020B0803020202020204"/>
                <a:cs typeface="Avenir Next" panose="020B0803020202020204"/>
              </a:defRPr>
            </a:pPr>
            <a:r>
              <a:rPr sz="750" b="1">
                <a:solidFill>
                  <a:srgbClr val="EAD9A8"/>
                </a:solidFill>
                <a:latin typeface="Avenir Next" panose="020B0803020202020204"/>
                <a:ea typeface="Avenir Next" panose="020B0803020202020204"/>
                <a:cs typeface="Avenir Next" panose="020B0803020202020204"/>
              </a:rPr>
              <a:t>EXECUTIVE SUMMARY</a:t>
            </a:r>
            <a:endParaRPr sz="750" b="1">
              <a:solidFill>
                <a:srgbClr val="EAD9A8"/>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1219200"/>
            <a:ext cx="7524750" cy="1695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3675" b="1">
                <a:solidFill>
                  <a:srgbClr val="F7F2E9"/>
                </a:solidFill>
                <a:latin typeface="New York"/>
                <a:ea typeface="New York"/>
                <a:cs typeface="New York"/>
              </a:defRPr>
            </a:pPr>
            <a:r>
              <a:rPr sz="3675" b="1">
                <a:solidFill>
                  <a:srgbClr val="F7F2E9"/>
                </a:solidFill>
                <a:latin typeface="New York"/>
                <a:ea typeface="New York"/>
                <a:cs typeface="New York"/>
              </a:rPr>
              <a:t>Diagnostic recourse is universal—</a:t>
            </a:r>
            <a:endParaRPr sz="3675" b="1">
              <a:solidFill>
                <a:srgbClr val="F7F2E9"/>
              </a:solidFill>
              <a:latin typeface="New York"/>
              <a:ea typeface="New York"/>
              <a:cs typeface="New York"/>
            </a:endParaRPr>
          </a:p>
          <a:p>
            <a:pPr algn="l">
              <a:buNone/>
              <a:defRPr sz="3675" b="1">
                <a:solidFill>
                  <a:srgbClr val="F7F2E9"/>
                </a:solidFill>
                <a:latin typeface="New York"/>
                <a:ea typeface="New York"/>
                <a:cs typeface="New York"/>
              </a:defRPr>
            </a:pPr>
            <a:r>
              <a:rPr sz="3675" b="1">
                <a:solidFill>
                  <a:srgbClr val="F7F2E9"/>
                </a:solidFill>
                <a:latin typeface="New York"/>
                <a:ea typeface="New York"/>
                <a:cs typeface="New York"/>
              </a:rPr>
              <a:t>but HR feasibility is not.</a:t>
            </a:r>
            <a:endParaRPr sz="3675" b="1">
              <a:solidFill>
                <a:srgbClr val="F7F2E9"/>
              </a:solidFill>
              <a:latin typeface="New York"/>
              <a:ea typeface="New York"/>
              <a:cs typeface="New York"/>
            </a:endParaRPr>
          </a:p>
        </p:txBody>
      </p:sp>
      <p:sp>
        <p:nvSpPr>
          <p:cNvPr id="7" name="Rectangles 6"/>
          <p:cNvSpPr>
            <a:spLocks noGrp="1"/>
          </p:cNvSpPr>
          <p:nvPr/>
        </p:nvSpPr>
        <p:spPr>
          <a:xfrm>
            <a:off x="590550" y="3105150"/>
            <a:ext cx="64770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1">
                <a:solidFill>
                  <a:srgbClr val="EAD9A8"/>
                </a:solidFill>
                <a:latin typeface="New York"/>
                <a:ea typeface="New York"/>
                <a:cs typeface="New York"/>
              </a:defRPr>
            </a:pPr>
            <a:r>
              <a:rPr sz="1575" b="1">
                <a:solidFill>
                  <a:srgbClr val="EAD9A8"/>
                </a:solidFill>
                <a:latin typeface="New York"/>
                <a:ea typeface="New York"/>
                <a:cs typeface="New York"/>
              </a:rPr>
              <a:t>Only 73 of 117 high-risk employees had a scenario within the bounded three-lever grid.</a:t>
            </a:r>
            <a:endParaRPr sz="1575" b="1">
              <a:solidFill>
                <a:srgbClr val="EAD9A8"/>
              </a:solidFill>
              <a:latin typeface="New York"/>
              <a:ea typeface="New York"/>
              <a:cs typeface="New York"/>
            </a:endParaRPr>
          </a:p>
        </p:txBody>
      </p:sp>
      <p:sp>
        <p:nvSpPr>
          <p:cNvPr id="8" name="Rectangles 7"/>
          <p:cNvSpPr>
            <a:spLocks noGrp="1"/>
          </p:cNvSpPr>
          <p:nvPr/>
        </p:nvSpPr>
        <p:spPr>
          <a:xfrm>
            <a:off x="8620125" y="1200150"/>
            <a:ext cx="2333625" cy="2333625"/>
          </a:xfrm>
          <a:prstGeom prst="rect">
            <a:avLst/>
          </a:prstGeom>
          <a:solidFill>
            <a:srgbClr val="E45B4F"/>
          </a:solidFill>
          <a:ln w="0">
            <a:solidFill>
              <a:srgbClr val="000000">
                <a:alpha val="0"/>
              </a:srgbClr>
            </a:solidFill>
            <a:prstDash val="solid"/>
          </a:ln>
        </p:spPr>
      </p:sp>
      <p:sp>
        <p:nvSpPr>
          <p:cNvPr id="9" name="Rectangles 8"/>
          <p:cNvSpPr>
            <a:spLocks noGrp="1"/>
          </p:cNvSpPr>
          <p:nvPr/>
        </p:nvSpPr>
        <p:spPr>
          <a:xfrm>
            <a:off x="8820150" y="1638300"/>
            <a:ext cx="192405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4050" b="1">
                <a:solidFill>
                  <a:srgbClr val="F7F2E9"/>
                </a:solidFill>
                <a:latin typeface="New York"/>
                <a:ea typeface="New York"/>
                <a:cs typeface="New York"/>
              </a:defRPr>
            </a:pPr>
            <a:r>
              <a:rPr sz="4050" b="1">
                <a:solidFill>
                  <a:srgbClr val="F7F2E9"/>
                </a:solidFill>
                <a:latin typeface="New York"/>
                <a:ea typeface="New York"/>
                <a:cs typeface="New York"/>
              </a:rPr>
              <a:t>62.4%</a:t>
            </a:r>
            <a:endParaRPr sz="4050" b="1">
              <a:solidFill>
                <a:srgbClr val="F7F2E9"/>
              </a:solidFill>
              <a:latin typeface="New York"/>
              <a:ea typeface="New York"/>
              <a:cs typeface="New York"/>
            </a:endParaRPr>
          </a:p>
        </p:txBody>
      </p:sp>
      <p:sp>
        <p:nvSpPr>
          <p:cNvPr id="10" name="Rectangles 9"/>
          <p:cNvSpPr>
            <a:spLocks noGrp="1"/>
          </p:cNvSpPr>
          <p:nvPr/>
        </p:nvSpPr>
        <p:spPr>
          <a:xfrm>
            <a:off x="8858250" y="2514600"/>
            <a:ext cx="18478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900" b="1">
                <a:solidFill>
                  <a:srgbClr val="F7F2E9"/>
                </a:solidFill>
                <a:latin typeface="Avenir Next" panose="020B0803020202020204"/>
                <a:ea typeface="Avenir Next" panose="020B0803020202020204"/>
                <a:cs typeface="Avenir Next" panose="020B0803020202020204"/>
              </a:defRPr>
            </a:pPr>
            <a:r>
              <a:rPr sz="900" b="1">
                <a:solidFill>
                  <a:srgbClr val="F7F2E9"/>
                </a:solidFill>
                <a:latin typeface="Avenir Next" panose="020B0803020202020204"/>
                <a:ea typeface="Avenir Next" panose="020B0803020202020204"/>
                <a:cs typeface="Avenir Next" panose="020B0803020202020204"/>
              </a:rPr>
              <a:t>encoded HR feasibility</a:t>
            </a:r>
            <a:endParaRPr sz="900" b="1">
              <a:solidFill>
                <a:srgbClr val="F7F2E9"/>
              </a:solidFill>
              <a:latin typeface="Avenir Next" panose="020B0803020202020204"/>
              <a:ea typeface="Avenir Next" panose="020B0803020202020204"/>
              <a:cs typeface="Avenir Next" panose="020B0803020202020204"/>
            </a:endParaRPr>
          </a:p>
        </p:txBody>
      </p:sp>
      <p:sp>
        <p:nvSpPr>
          <p:cNvPr id="11" name="Rectangles 10"/>
          <p:cNvSpPr>
            <a:spLocks noGrp="1"/>
          </p:cNvSpPr>
          <p:nvPr/>
        </p:nvSpPr>
        <p:spPr>
          <a:xfrm>
            <a:off x="8991600" y="2981325"/>
            <a:ext cx="1581150" cy="9525"/>
          </a:xfrm>
          <a:prstGeom prst="rect">
            <a:avLst/>
          </a:prstGeom>
          <a:solidFill>
            <a:srgbClr val="F4C1BB"/>
          </a:solidFill>
          <a:ln w="0">
            <a:solidFill>
              <a:srgbClr val="000000">
                <a:alpha val="0"/>
              </a:srgbClr>
            </a:solidFill>
            <a:prstDash val="solid"/>
          </a:ln>
        </p:spPr>
      </p:sp>
      <p:sp>
        <p:nvSpPr>
          <p:cNvPr id="12" name="Rectangles 11"/>
          <p:cNvSpPr>
            <a:spLocks noGrp="1"/>
          </p:cNvSpPr>
          <p:nvPr/>
        </p:nvSpPr>
        <p:spPr>
          <a:xfrm>
            <a:off x="8858250" y="3105150"/>
            <a:ext cx="18478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50" b="0">
                <a:solidFill>
                  <a:srgbClr val="F7F2E9"/>
                </a:solidFill>
                <a:latin typeface="Avenir Next" panose="020B0803020202020204"/>
                <a:ea typeface="Avenir Next" panose="020B0803020202020204"/>
                <a:cs typeface="Avenir Next" panose="020B0803020202020204"/>
              </a:defRPr>
            </a:pPr>
            <a:r>
              <a:rPr sz="750" b="0">
                <a:solidFill>
                  <a:srgbClr val="F7F2E9"/>
                </a:solidFill>
                <a:latin typeface="Avenir Next" panose="020B0803020202020204"/>
                <a:ea typeface="Avenir Next" panose="020B0803020202020204"/>
                <a:cs typeface="Avenir Next" panose="020B0803020202020204"/>
              </a:rPr>
              <a:t>73 of 117 high-risk employees</a:t>
            </a:r>
            <a:endParaRPr sz="750" b="0">
              <a:solidFill>
                <a:srgbClr val="F7F2E9"/>
              </a:solidFill>
              <a:latin typeface="Avenir Next" panose="020B0803020202020204"/>
              <a:ea typeface="Avenir Next" panose="020B0803020202020204"/>
              <a:cs typeface="Avenir Next" panose="020B0803020202020204"/>
            </a:endParaRPr>
          </a:p>
        </p:txBody>
      </p:sp>
      <p:sp>
        <p:nvSpPr>
          <p:cNvPr id="13" name="Rectangles 12"/>
          <p:cNvSpPr>
            <a:spLocks noGrp="1"/>
          </p:cNvSpPr>
          <p:nvPr/>
        </p:nvSpPr>
        <p:spPr>
          <a:xfrm>
            <a:off x="552450" y="4314825"/>
            <a:ext cx="11087100" cy="9525"/>
          </a:xfrm>
          <a:prstGeom prst="rect">
            <a:avLst/>
          </a:prstGeom>
          <a:solidFill>
            <a:srgbClr val="203D42"/>
          </a:solidFill>
          <a:ln w="0">
            <a:solidFill>
              <a:srgbClr val="000000">
                <a:alpha val="0"/>
              </a:srgbClr>
            </a:solidFill>
            <a:prstDash val="solid"/>
          </a:ln>
        </p:spPr>
      </p:sp>
      <p:sp>
        <p:nvSpPr>
          <p:cNvPr id="14" name="Rectangles 13"/>
          <p:cNvSpPr>
            <a:spLocks noGrp="1"/>
          </p:cNvSpPr>
          <p:nvPr/>
        </p:nvSpPr>
        <p:spPr>
          <a:xfrm>
            <a:off x="552450" y="4686300"/>
            <a:ext cx="28575" cy="647700"/>
          </a:xfrm>
          <a:prstGeom prst="rect">
            <a:avLst/>
          </a:prstGeom>
          <a:solidFill>
            <a:srgbClr val="D6A83A"/>
          </a:solidFill>
          <a:ln w="0">
            <a:solidFill>
              <a:srgbClr val="000000">
                <a:alpha val="0"/>
              </a:srgbClr>
            </a:solidFill>
            <a:prstDash val="solid"/>
          </a:ln>
        </p:spPr>
      </p:sp>
      <p:sp>
        <p:nvSpPr>
          <p:cNvPr id="15" name="Rectangles 14"/>
          <p:cNvSpPr>
            <a:spLocks noGrp="1"/>
          </p:cNvSpPr>
          <p:nvPr/>
        </p:nvSpPr>
        <p:spPr>
          <a:xfrm>
            <a:off x="704850" y="4667250"/>
            <a:ext cx="1809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F7F2E9"/>
                </a:solidFill>
                <a:latin typeface="New York"/>
                <a:ea typeface="New York"/>
                <a:cs typeface="New York"/>
              </a:defRPr>
            </a:pPr>
            <a:r>
              <a:rPr sz="2100" b="1">
                <a:solidFill>
                  <a:srgbClr val="F7F2E9"/>
                </a:solidFill>
                <a:latin typeface="New York"/>
                <a:ea typeface="New York"/>
                <a:cs typeface="New York"/>
              </a:rPr>
              <a:t>117</a:t>
            </a:r>
            <a:endParaRPr sz="2100" b="1">
              <a:solidFill>
                <a:srgbClr val="F7F2E9"/>
              </a:solidFill>
              <a:latin typeface="New York"/>
              <a:ea typeface="New York"/>
              <a:cs typeface="New York"/>
            </a:endParaRPr>
          </a:p>
        </p:txBody>
      </p:sp>
      <p:sp>
        <p:nvSpPr>
          <p:cNvPr id="16" name="Rectangles 15"/>
          <p:cNvSpPr>
            <a:spLocks noGrp="1"/>
          </p:cNvSpPr>
          <p:nvPr/>
        </p:nvSpPr>
        <p:spPr>
          <a:xfrm>
            <a:off x="704850" y="504825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EAD9A8"/>
                </a:solidFill>
                <a:latin typeface="Avenir Next" panose="020B0803020202020204"/>
                <a:ea typeface="Avenir Next" panose="020B0803020202020204"/>
                <a:cs typeface="Avenir Next" panose="020B0803020202020204"/>
              </a:defRPr>
            </a:pPr>
            <a:r>
              <a:rPr sz="715" b="1">
                <a:solidFill>
                  <a:srgbClr val="EAD9A8"/>
                </a:solidFill>
                <a:latin typeface="Avenir Next" panose="020B0803020202020204"/>
                <a:ea typeface="Avenir Next" panose="020B0803020202020204"/>
                <a:cs typeface="Avenir Next" panose="020B0803020202020204"/>
              </a:rPr>
              <a:t>HIGH-RISK</a:t>
            </a:r>
            <a:endParaRPr sz="715" b="1">
              <a:solidFill>
                <a:srgbClr val="EAD9A8"/>
              </a:solidFill>
              <a:latin typeface="Avenir Next" panose="020B0803020202020204"/>
              <a:ea typeface="Avenir Next" panose="020B0803020202020204"/>
              <a:cs typeface="Avenir Next" panose="020B0803020202020204"/>
            </a:endParaRPr>
          </a:p>
        </p:txBody>
      </p:sp>
      <p:sp>
        <p:nvSpPr>
          <p:cNvPr id="17" name="Rectangles 16"/>
          <p:cNvSpPr>
            <a:spLocks noGrp="1"/>
          </p:cNvSpPr>
          <p:nvPr/>
        </p:nvSpPr>
        <p:spPr>
          <a:xfrm>
            <a:off x="704850" y="5219700"/>
            <a:ext cx="1809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B9D7D1"/>
                </a:solidFill>
                <a:latin typeface="Avenir Next" panose="020B0803020202020204"/>
                <a:ea typeface="Avenir Next" panose="020B0803020202020204"/>
                <a:cs typeface="Avenir Next" panose="020B0803020202020204"/>
              </a:defRPr>
            </a:pPr>
            <a:r>
              <a:rPr sz="640" b="0">
                <a:solidFill>
                  <a:srgbClr val="B9D7D1"/>
                </a:solidFill>
                <a:latin typeface="Avenir Next" panose="020B0803020202020204"/>
                <a:ea typeface="Avenir Next" panose="020B0803020202020204"/>
                <a:cs typeface="Avenir Next" panose="020B0803020202020204"/>
              </a:rPr>
              <a:t>of 294 test employees</a:t>
            </a:r>
            <a:endParaRPr sz="640" b="0">
              <a:solidFill>
                <a:srgbClr val="B9D7D1"/>
              </a:solidFill>
              <a:latin typeface="Avenir Next" panose="020B0803020202020204"/>
              <a:ea typeface="Avenir Next" panose="020B0803020202020204"/>
              <a:cs typeface="Avenir Next" panose="020B0803020202020204"/>
            </a:endParaRPr>
          </a:p>
        </p:txBody>
      </p:sp>
      <p:sp>
        <p:nvSpPr>
          <p:cNvPr id="18" name="Rectangles 17"/>
          <p:cNvSpPr>
            <a:spLocks noGrp="1"/>
          </p:cNvSpPr>
          <p:nvPr/>
        </p:nvSpPr>
        <p:spPr>
          <a:xfrm>
            <a:off x="3238500" y="4686300"/>
            <a:ext cx="28575" cy="647700"/>
          </a:xfrm>
          <a:prstGeom prst="rect">
            <a:avLst/>
          </a:prstGeom>
          <a:solidFill>
            <a:srgbClr val="D6A83A"/>
          </a:solidFill>
          <a:ln w="0">
            <a:solidFill>
              <a:srgbClr val="000000">
                <a:alpha val="0"/>
              </a:srgbClr>
            </a:solidFill>
            <a:prstDash val="solid"/>
          </a:ln>
        </p:spPr>
      </p:sp>
      <p:sp>
        <p:nvSpPr>
          <p:cNvPr id="19" name="Rectangles 18"/>
          <p:cNvSpPr>
            <a:spLocks noGrp="1"/>
          </p:cNvSpPr>
          <p:nvPr/>
        </p:nvSpPr>
        <p:spPr>
          <a:xfrm>
            <a:off x="3390900" y="4667250"/>
            <a:ext cx="1809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F7F2E9"/>
                </a:solidFill>
                <a:latin typeface="New York"/>
                <a:ea typeface="New York"/>
                <a:cs typeface="New York"/>
              </a:defRPr>
            </a:pPr>
            <a:r>
              <a:rPr sz="2100" b="1">
                <a:solidFill>
                  <a:srgbClr val="F7F2E9"/>
                </a:solidFill>
                <a:latin typeface="New York"/>
                <a:ea typeface="New York"/>
                <a:cs typeface="New York"/>
              </a:rPr>
              <a:t>100%</a:t>
            </a:r>
            <a:endParaRPr sz="2100" b="1">
              <a:solidFill>
                <a:srgbClr val="F7F2E9"/>
              </a:solidFill>
              <a:latin typeface="New York"/>
              <a:ea typeface="New York"/>
              <a:cs typeface="New York"/>
            </a:endParaRPr>
          </a:p>
        </p:txBody>
      </p:sp>
      <p:sp>
        <p:nvSpPr>
          <p:cNvPr id="20" name="Rectangles 19"/>
          <p:cNvSpPr>
            <a:spLocks noGrp="1"/>
          </p:cNvSpPr>
          <p:nvPr/>
        </p:nvSpPr>
        <p:spPr>
          <a:xfrm>
            <a:off x="3390900" y="504825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EAD9A8"/>
                </a:solidFill>
                <a:latin typeface="Avenir Next" panose="020B0803020202020204"/>
                <a:ea typeface="Avenir Next" panose="020B0803020202020204"/>
                <a:cs typeface="Avenir Next" panose="020B0803020202020204"/>
              </a:defRPr>
            </a:pPr>
            <a:r>
              <a:rPr sz="715" b="1">
                <a:solidFill>
                  <a:srgbClr val="EAD9A8"/>
                </a:solidFill>
                <a:latin typeface="Avenir Next" panose="020B0803020202020204"/>
                <a:ea typeface="Avenir Next" panose="020B0803020202020204"/>
                <a:cs typeface="Avenir Next" panose="020B0803020202020204"/>
              </a:rPr>
              <a:t>DIAGNOSTIC RECOURSE</a:t>
            </a:r>
            <a:endParaRPr sz="715" b="1">
              <a:solidFill>
                <a:srgbClr val="EAD9A8"/>
              </a:solidFill>
              <a:latin typeface="Avenir Next" panose="020B0803020202020204"/>
              <a:ea typeface="Avenir Next" panose="020B0803020202020204"/>
              <a:cs typeface="Avenir Next" panose="020B0803020202020204"/>
            </a:endParaRPr>
          </a:p>
        </p:txBody>
      </p:sp>
      <p:sp>
        <p:nvSpPr>
          <p:cNvPr id="21" name="Rectangles 20"/>
          <p:cNvSpPr>
            <a:spLocks noGrp="1"/>
          </p:cNvSpPr>
          <p:nvPr/>
        </p:nvSpPr>
        <p:spPr>
          <a:xfrm>
            <a:off x="3390900" y="5219700"/>
            <a:ext cx="1809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B9D7D1"/>
                </a:solidFill>
                <a:latin typeface="Avenir Next" panose="020B0803020202020204"/>
                <a:ea typeface="Avenir Next" panose="020B0803020202020204"/>
                <a:cs typeface="Avenir Next" panose="020B0803020202020204"/>
              </a:defRPr>
            </a:pPr>
            <a:r>
              <a:rPr sz="640" b="0">
                <a:solidFill>
                  <a:srgbClr val="B9D7D1"/>
                </a:solidFill>
                <a:latin typeface="Avenir Next" panose="020B0803020202020204"/>
                <a:ea typeface="Avenir Next" panose="020B0803020202020204"/>
                <a:cs typeface="Avenir Next" panose="020B0803020202020204"/>
              </a:rPr>
              <a:t>Levels 1 and 2</a:t>
            </a:r>
            <a:endParaRPr sz="640" b="0">
              <a:solidFill>
                <a:srgbClr val="B9D7D1"/>
              </a:solidFill>
              <a:latin typeface="Avenir Next" panose="020B0803020202020204"/>
              <a:ea typeface="Avenir Next" panose="020B0803020202020204"/>
              <a:cs typeface="Avenir Next" panose="020B0803020202020204"/>
            </a:endParaRPr>
          </a:p>
        </p:txBody>
      </p:sp>
      <p:sp>
        <p:nvSpPr>
          <p:cNvPr id="22" name="Rectangles 21"/>
          <p:cNvSpPr>
            <a:spLocks noGrp="1"/>
          </p:cNvSpPr>
          <p:nvPr/>
        </p:nvSpPr>
        <p:spPr>
          <a:xfrm>
            <a:off x="6096000" y="4686300"/>
            <a:ext cx="28575" cy="647700"/>
          </a:xfrm>
          <a:prstGeom prst="rect">
            <a:avLst/>
          </a:prstGeom>
          <a:solidFill>
            <a:srgbClr val="2A7F78"/>
          </a:solidFill>
          <a:ln w="0">
            <a:solidFill>
              <a:srgbClr val="000000">
                <a:alpha val="0"/>
              </a:srgbClr>
            </a:solidFill>
            <a:prstDash val="solid"/>
          </a:ln>
        </p:spPr>
      </p:sp>
      <p:sp>
        <p:nvSpPr>
          <p:cNvPr id="23" name="Rectangles 22"/>
          <p:cNvSpPr>
            <a:spLocks noGrp="1"/>
          </p:cNvSpPr>
          <p:nvPr/>
        </p:nvSpPr>
        <p:spPr>
          <a:xfrm>
            <a:off x="6248400" y="4667250"/>
            <a:ext cx="1809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F7F2E9"/>
                </a:solidFill>
                <a:latin typeface="New York"/>
                <a:ea typeface="New York"/>
                <a:cs typeface="New York"/>
              </a:defRPr>
            </a:pPr>
            <a:r>
              <a:rPr sz="2100" b="1">
                <a:solidFill>
                  <a:srgbClr val="F7F2E9"/>
                </a:solidFill>
                <a:latin typeface="New York"/>
                <a:ea typeface="New York"/>
                <a:cs typeface="New York"/>
              </a:rPr>
              <a:t>62.4%</a:t>
            </a:r>
            <a:endParaRPr sz="2100" b="1">
              <a:solidFill>
                <a:srgbClr val="F7F2E9"/>
              </a:solidFill>
              <a:latin typeface="New York"/>
              <a:ea typeface="New York"/>
              <a:cs typeface="New York"/>
            </a:endParaRPr>
          </a:p>
        </p:txBody>
      </p:sp>
      <p:sp>
        <p:nvSpPr>
          <p:cNvPr id="24" name="Rectangles 23"/>
          <p:cNvSpPr>
            <a:spLocks noGrp="1"/>
          </p:cNvSpPr>
          <p:nvPr/>
        </p:nvSpPr>
        <p:spPr>
          <a:xfrm>
            <a:off x="6248400" y="504825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EAD9A8"/>
                </a:solidFill>
                <a:latin typeface="Avenir Next" panose="020B0803020202020204"/>
                <a:ea typeface="Avenir Next" panose="020B0803020202020204"/>
                <a:cs typeface="Avenir Next" panose="020B0803020202020204"/>
              </a:defRPr>
            </a:pPr>
            <a:r>
              <a:rPr sz="715" b="1">
                <a:solidFill>
                  <a:srgbClr val="EAD9A8"/>
                </a:solidFill>
                <a:latin typeface="Avenir Next" panose="020B0803020202020204"/>
                <a:ea typeface="Avenir Next" panose="020B0803020202020204"/>
                <a:cs typeface="Avenir Next" panose="020B0803020202020204"/>
              </a:rPr>
              <a:t>RULE-FEASIBLE</a:t>
            </a:r>
            <a:endParaRPr sz="715" b="1">
              <a:solidFill>
                <a:srgbClr val="EAD9A8"/>
              </a:solidFill>
              <a:latin typeface="Avenir Next" panose="020B0803020202020204"/>
              <a:ea typeface="Avenir Next" panose="020B0803020202020204"/>
              <a:cs typeface="Avenir Next" panose="020B0803020202020204"/>
            </a:endParaRPr>
          </a:p>
        </p:txBody>
      </p:sp>
      <p:sp>
        <p:nvSpPr>
          <p:cNvPr id="25" name="Rectangles 24"/>
          <p:cNvSpPr>
            <a:spLocks noGrp="1"/>
          </p:cNvSpPr>
          <p:nvPr/>
        </p:nvSpPr>
        <p:spPr>
          <a:xfrm>
            <a:off x="6248400" y="5219700"/>
            <a:ext cx="1809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B9D7D1"/>
                </a:solidFill>
                <a:latin typeface="Avenir Next" panose="020B0803020202020204"/>
                <a:ea typeface="Avenir Next" panose="020B0803020202020204"/>
                <a:cs typeface="Avenir Next" panose="020B0803020202020204"/>
              </a:defRPr>
            </a:pPr>
            <a:r>
              <a:rPr sz="640" b="0">
                <a:solidFill>
                  <a:srgbClr val="B9D7D1"/>
                </a:solidFill>
                <a:latin typeface="Avenir Next" panose="020B0803020202020204"/>
                <a:ea typeface="Avenir Next" panose="020B0803020202020204"/>
                <a:cs typeface="Avenir Next" panose="020B0803020202020204"/>
              </a:rPr>
              <a:t>bounded Level 3 grid</a:t>
            </a:r>
            <a:endParaRPr sz="640" b="0">
              <a:solidFill>
                <a:srgbClr val="B9D7D1"/>
              </a:solidFill>
              <a:latin typeface="Avenir Next" panose="020B0803020202020204"/>
              <a:ea typeface="Avenir Next" panose="020B0803020202020204"/>
              <a:cs typeface="Avenir Next" panose="020B0803020202020204"/>
            </a:endParaRPr>
          </a:p>
        </p:txBody>
      </p:sp>
      <p:sp>
        <p:nvSpPr>
          <p:cNvPr id="26" name="Rectangles 25"/>
          <p:cNvSpPr>
            <a:spLocks noGrp="1"/>
          </p:cNvSpPr>
          <p:nvPr/>
        </p:nvSpPr>
        <p:spPr>
          <a:xfrm>
            <a:off x="8953500" y="4686300"/>
            <a:ext cx="28575" cy="647700"/>
          </a:xfrm>
          <a:prstGeom prst="rect">
            <a:avLst/>
          </a:prstGeom>
          <a:solidFill>
            <a:srgbClr val="E45B4F"/>
          </a:solidFill>
          <a:ln w="0">
            <a:solidFill>
              <a:srgbClr val="000000">
                <a:alpha val="0"/>
              </a:srgbClr>
            </a:solidFill>
            <a:prstDash val="solid"/>
          </a:ln>
        </p:spPr>
      </p:sp>
      <p:sp>
        <p:nvSpPr>
          <p:cNvPr id="27" name="Rectangles 26"/>
          <p:cNvSpPr>
            <a:spLocks noGrp="1"/>
          </p:cNvSpPr>
          <p:nvPr/>
        </p:nvSpPr>
        <p:spPr>
          <a:xfrm>
            <a:off x="9105900" y="4667250"/>
            <a:ext cx="1809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F7F2E9"/>
                </a:solidFill>
                <a:latin typeface="New York"/>
                <a:ea typeface="New York"/>
                <a:cs typeface="New York"/>
              </a:defRPr>
            </a:pPr>
            <a:r>
              <a:rPr sz="2100" b="1">
                <a:solidFill>
                  <a:srgbClr val="F7F2E9"/>
                </a:solidFill>
                <a:latin typeface="New York"/>
                <a:ea typeface="New York"/>
                <a:cs typeface="New York"/>
              </a:rPr>
              <a:t>35.9%</a:t>
            </a:r>
            <a:endParaRPr sz="2100" b="1">
              <a:solidFill>
                <a:srgbClr val="F7F2E9"/>
              </a:solidFill>
              <a:latin typeface="New York"/>
              <a:ea typeface="New York"/>
              <a:cs typeface="New York"/>
            </a:endParaRPr>
          </a:p>
        </p:txBody>
      </p:sp>
      <p:sp>
        <p:nvSpPr>
          <p:cNvPr id="28" name="Rectangles 27"/>
          <p:cNvSpPr>
            <a:spLocks noGrp="1"/>
          </p:cNvSpPr>
          <p:nvPr/>
        </p:nvSpPr>
        <p:spPr>
          <a:xfrm>
            <a:off x="9105900" y="504825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EAD9A8"/>
                </a:solidFill>
                <a:latin typeface="Avenir Next" panose="020B0803020202020204"/>
                <a:ea typeface="Avenir Next" panose="020B0803020202020204"/>
                <a:cs typeface="Avenir Next" panose="020B0803020202020204"/>
              </a:defRPr>
            </a:pPr>
            <a:r>
              <a:rPr sz="715" b="1">
                <a:solidFill>
                  <a:srgbClr val="EAD9A8"/>
                </a:solidFill>
                <a:latin typeface="Avenir Next" panose="020B0803020202020204"/>
                <a:ea typeface="Avenir Next" panose="020B0803020202020204"/>
                <a:cs typeface="Avenir Next" panose="020B0803020202020204"/>
              </a:rPr>
              <a:t>WITHOUT OVERTIME</a:t>
            </a:r>
            <a:endParaRPr sz="715" b="1">
              <a:solidFill>
                <a:srgbClr val="EAD9A8"/>
              </a:solidFill>
              <a:latin typeface="Avenir Next" panose="020B0803020202020204"/>
              <a:ea typeface="Avenir Next" panose="020B0803020202020204"/>
              <a:cs typeface="Avenir Next" panose="020B0803020202020204"/>
            </a:endParaRPr>
          </a:p>
        </p:txBody>
      </p:sp>
      <p:sp>
        <p:nvSpPr>
          <p:cNvPr id="29" name="Rectangles 28"/>
          <p:cNvSpPr>
            <a:spLocks noGrp="1"/>
          </p:cNvSpPr>
          <p:nvPr/>
        </p:nvSpPr>
        <p:spPr>
          <a:xfrm>
            <a:off x="9105900" y="5219700"/>
            <a:ext cx="1809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B9D7D1"/>
                </a:solidFill>
                <a:latin typeface="Avenir Next" panose="020B0803020202020204"/>
                <a:ea typeface="Avenir Next" panose="020B0803020202020204"/>
                <a:cs typeface="Avenir Next" panose="020B0803020202020204"/>
              </a:defRPr>
            </a:pPr>
            <a:r>
              <a:rPr sz="640" b="0">
                <a:solidFill>
                  <a:srgbClr val="B9D7D1"/>
                </a:solidFill>
                <a:latin typeface="Avenir Next" panose="020B0803020202020204"/>
                <a:ea typeface="Avenir Next" panose="020B0803020202020204"/>
                <a:cs typeface="Avenir Next" panose="020B0803020202020204"/>
              </a:rPr>
              <a:t>42 of 117 employees</a:t>
            </a:r>
            <a:endParaRPr sz="640" b="0">
              <a:solidFill>
                <a:srgbClr val="B9D7D1"/>
              </a:solidFill>
              <a:latin typeface="Avenir Next" panose="020B0803020202020204"/>
              <a:ea typeface="Avenir Next" panose="020B0803020202020204"/>
              <a:cs typeface="Avenir Next" panose="020B0803020202020204"/>
            </a:endParaRPr>
          </a:p>
        </p:txBody>
      </p:sp>
      <p:sp>
        <p:nvSpPr>
          <p:cNvPr id="30" name="Rectangles 29"/>
          <p:cNvSpPr>
            <a:spLocks noGrp="1"/>
          </p:cNvSpPr>
          <p:nvPr/>
        </p:nvSpPr>
        <p:spPr>
          <a:xfrm>
            <a:off x="552450" y="6048375"/>
            <a:ext cx="476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B9D7D1"/>
                </a:solidFill>
                <a:latin typeface="Avenir Next" panose="020B0803020202020204"/>
                <a:ea typeface="Avenir Next" panose="020B0803020202020204"/>
                <a:cs typeface="Avenir Next" panose="020B0803020202020204"/>
              </a:defRPr>
            </a:pPr>
            <a:r>
              <a:rPr sz="750" b="1">
                <a:solidFill>
                  <a:srgbClr val="B9D7D1"/>
                </a:solidFill>
                <a:latin typeface="Avenir Next" panose="020B0803020202020204"/>
                <a:ea typeface="Avenir Next" panose="020B0803020202020204"/>
                <a:cs typeface="Avenir Next" panose="020B0803020202020204"/>
              </a:rPr>
              <a:t>Central finding · model validity ≠ organizational actionability</a:t>
            </a:r>
            <a:endParaRPr sz="750" b="1">
              <a:solidFill>
                <a:srgbClr val="B9D7D1"/>
              </a:solidFill>
              <a:latin typeface="Avenir Next" panose="020B0803020202020204"/>
              <a:ea typeface="Avenir Next" panose="020B0803020202020204"/>
              <a:cs typeface="Avenir Next" panose="020B0803020202020204"/>
            </a:endParaRPr>
          </a:p>
        </p:txBody>
      </p:sp>
      <p:sp>
        <p:nvSpPr>
          <p:cNvPr id="31" name="Rectangles 30"/>
          <p:cNvSpPr>
            <a:spLocks noGrp="1"/>
          </p:cNvSpPr>
          <p:nvPr/>
        </p:nvSpPr>
        <p:spPr>
          <a:xfrm>
            <a:off x="6858000" y="6048375"/>
            <a:ext cx="47815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50" b="0">
                <a:solidFill>
                  <a:srgbClr val="B9D7D1"/>
                </a:solidFill>
                <a:latin typeface="Avenir Next" panose="020B0803020202020204"/>
                <a:ea typeface="Avenir Next" panose="020B0803020202020204"/>
                <a:cs typeface="Avenir Next" panose="020B0803020202020204"/>
              </a:defRPr>
            </a:pPr>
            <a:r>
              <a:rPr sz="750" b="0">
                <a:solidFill>
                  <a:srgbClr val="B9D7D1"/>
                </a:solidFill>
                <a:latin typeface="Avenir Next" panose="020B0803020202020204"/>
                <a:ea typeface="Avenir Next" panose="020B0803020202020204"/>
                <a:cs typeface="Avenir Next" panose="020B0803020202020204"/>
              </a:rPr>
              <a:t>Synthetic, cross-sectional data · audit, not causal recommendation</a:t>
            </a:r>
            <a:endParaRPr sz="750" b="0">
              <a:solidFill>
                <a:srgbClr val="B9D7D1"/>
              </a:solidFill>
              <a:latin typeface="Avenir Next" panose="020B0803020202020204"/>
              <a:ea typeface="Avenir Next" panose="020B0803020202020204"/>
              <a:cs typeface="Avenir Next" panose="020B0803020202020204"/>
            </a:endParaRPr>
          </a:p>
        </p:txBody>
      </p:sp>
      <p:sp>
        <p:nvSpPr>
          <p:cNvPr id="32" name="Rectangles 31"/>
          <p:cNvSpPr>
            <a:spLocks noGrp="1"/>
          </p:cNvSpPr>
          <p:nvPr/>
        </p:nvSpPr>
        <p:spPr>
          <a:xfrm>
            <a:off x="552450" y="6486525"/>
            <a:ext cx="11087100" cy="9525"/>
          </a:xfrm>
          <a:prstGeom prst="rect">
            <a:avLst/>
          </a:prstGeom>
          <a:solidFill>
            <a:srgbClr val="203D42"/>
          </a:solidFill>
          <a:ln w="0">
            <a:solidFill>
              <a:srgbClr val="000000">
                <a:alpha val="0"/>
              </a:srgbClr>
            </a:solidFill>
            <a:prstDash val="solid"/>
          </a:ln>
        </p:spPr>
      </p:sp>
      <p:sp>
        <p:nvSpPr>
          <p:cNvPr id="33" name="Rectangles 32"/>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B9D7D1"/>
                </a:solidFill>
                <a:latin typeface="Avenir Next" panose="020B0803020202020204"/>
                <a:ea typeface="Avenir Next" panose="020B0803020202020204"/>
                <a:cs typeface="Avenir Next" panose="020B0803020202020204"/>
              </a:defRPr>
            </a:pPr>
            <a:r>
              <a:rPr sz="640" b="0">
                <a:solidFill>
                  <a:srgbClr val="B9D7D1"/>
                </a:solidFill>
                <a:latin typeface="Avenir Next" panose="020B0803020202020204"/>
                <a:ea typeface="Avenir Next" panose="020B0803020202020204"/>
                <a:cs typeface="Avenir Next" panose="020B0803020202020204"/>
              </a:rPr>
              <a:t>Source: verified project outputs; IBM HR Analytics synthetic dataset</a:t>
            </a:r>
            <a:endParaRPr sz="640" b="0">
              <a:solidFill>
                <a:srgbClr val="B9D7D1"/>
              </a:solidFill>
              <a:latin typeface="Avenir Next" panose="020B0803020202020204"/>
              <a:ea typeface="Avenir Next" panose="020B0803020202020204"/>
              <a:cs typeface="Avenir Next" panose="020B0803020202020204"/>
            </a:endParaRPr>
          </a:p>
        </p:txBody>
      </p:sp>
      <p:sp>
        <p:nvSpPr>
          <p:cNvPr id="34" name="Rectangles 33"/>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EAD9A8"/>
                </a:solidFill>
                <a:latin typeface="Avenir Next" panose="020B0803020202020204"/>
                <a:ea typeface="Avenir Next" panose="020B0803020202020204"/>
                <a:cs typeface="Avenir Next" panose="020B0803020202020204"/>
              </a:defRPr>
            </a:pPr>
            <a:r>
              <a:rPr sz="675" b="1">
                <a:solidFill>
                  <a:srgbClr val="EAD9A8"/>
                </a:solidFill>
                <a:latin typeface="Avenir Next" panose="020B0803020202020204"/>
                <a:ea typeface="Avenir Next" panose="020B0803020202020204"/>
                <a:cs typeface="Avenir Next" panose="020B0803020202020204"/>
              </a:rPr>
              <a:t>02</a:t>
            </a:r>
            <a:endParaRPr sz="675" b="1">
              <a:solidFill>
                <a:srgbClr val="EAD9A8"/>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4F0E8"/>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132A2F"/>
          </a:solidFill>
          <a:ln w="0">
            <a:solidFill>
              <a:srgbClr val="000000">
                <a:alpha val="0"/>
              </a:srgbClr>
            </a:solidFill>
            <a:prstDash val="solid"/>
          </a:ln>
        </p:spPr>
      </p:sp>
      <p:sp>
        <p:nvSpPr>
          <p:cNvPr id="4" name="kicker-02-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02-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PRESENTATION STRUCTURE</a:t>
            </a:r>
            <a:endParaRPr sz="750" b="1">
              <a:solidFill>
                <a:srgbClr val="5F6D6D"/>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685800"/>
            <a:ext cx="1057275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132A2F"/>
                </a:solidFill>
                <a:latin typeface="New York"/>
                <a:ea typeface="New York"/>
                <a:cs typeface="New York"/>
              </a:defRPr>
            </a:pPr>
            <a:r>
              <a:rPr sz="2550" b="1">
                <a:solidFill>
                  <a:srgbClr val="132A2F"/>
                </a:solidFill>
                <a:latin typeface="New York"/>
                <a:ea typeface="New York"/>
                <a:cs typeface="New York"/>
              </a:rPr>
              <a:t>From research gap to evidence, feasibility, and responsible use.</a:t>
            </a:r>
            <a:endParaRPr sz="2550" b="1">
              <a:solidFill>
                <a:srgbClr val="132A2F"/>
              </a:solidFill>
              <a:latin typeface="New York"/>
              <a:ea typeface="New York"/>
              <a:cs typeface="New York"/>
            </a:endParaRPr>
          </a:p>
        </p:txBody>
      </p:sp>
      <p:sp>
        <p:nvSpPr>
          <p:cNvPr id="7" name="Rectangles 6"/>
          <p:cNvSpPr>
            <a:spLocks noGrp="1"/>
          </p:cNvSpPr>
          <p:nvPr/>
        </p:nvSpPr>
        <p:spPr>
          <a:xfrm>
            <a:off x="552450" y="2238375"/>
            <a:ext cx="2286000" cy="1809750"/>
          </a:xfrm>
          <a:prstGeom prst="rect">
            <a:avLst/>
          </a:prstGeom>
          <a:solidFill>
            <a:srgbClr val="FBF8F2"/>
          </a:solidFill>
          <a:ln w="9525">
            <a:solidFill>
              <a:srgbClr val="D9D2C7"/>
            </a:solidFill>
            <a:prstDash val="solid"/>
          </a:ln>
        </p:spPr>
      </p:sp>
      <p:sp>
        <p:nvSpPr>
          <p:cNvPr id="8" name="Oval 7"/>
          <p:cNvSpPr>
            <a:spLocks noGrp="1"/>
          </p:cNvSpPr>
          <p:nvPr/>
        </p:nvSpPr>
        <p:spPr>
          <a:xfrm>
            <a:off x="723900" y="2409825"/>
            <a:ext cx="323850" cy="323850"/>
          </a:xfrm>
          <a:prstGeom prst="ellipse">
            <a:avLst/>
          </a:prstGeom>
          <a:solidFill>
            <a:srgbClr val="D6A83A"/>
          </a:solidFill>
          <a:ln w="0">
            <a:solidFill>
              <a:srgbClr val="000000">
                <a:alpha val="0"/>
              </a:srgbClr>
            </a:solidFill>
            <a:prstDash val="solid"/>
          </a:ln>
        </p:spPr>
      </p:sp>
      <p:sp>
        <p:nvSpPr>
          <p:cNvPr id="9" name="Rectangles 8"/>
          <p:cNvSpPr>
            <a:spLocks noGrp="1"/>
          </p:cNvSpPr>
          <p:nvPr/>
        </p:nvSpPr>
        <p:spPr>
          <a:xfrm>
            <a:off x="723900" y="2486025"/>
            <a:ext cx="3238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01</a:t>
            </a:r>
            <a:endParaRPr sz="825" b="1">
              <a:solidFill>
                <a:srgbClr val="132A2F"/>
              </a:solidFill>
              <a:latin typeface="Avenir Next" panose="020B0803020202020204"/>
              <a:ea typeface="Avenir Next" panose="020B0803020202020204"/>
              <a:cs typeface="Avenir Next" panose="020B0803020202020204"/>
            </a:endParaRPr>
          </a:p>
        </p:txBody>
      </p:sp>
      <p:sp>
        <p:nvSpPr>
          <p:cNvPr id="10" name="Rectangles 9"/>
          <p:cNvSpPr>
            <a:spLocks noGrp="1"/>
          </p:cNvSpPr>
          <p:nvPr/>
        </p:nvSpPr>
        <p:spPr>
          <a:xfrm>
            <a:off x="723900" y="2895600"/>
            <a:ext cx="19431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132A2F"/>
                </a:solidFill>
                <a:latin typeface="New York"/>
                <a:ea typeface="New York"/>
                <a:cs typeface="New York"/>
              </a:defRPr>
            </a:pPr>
            <a:r>
              <a:rPr sz="1275" b="1">
                <a:solidFill>
                  <a:srgbClr val="132A2F"/>
                </a:solidFill>
                <a:latin typeface="New York"/>
                <a:ea typeface="New York"/>
                <a:cs typeface="New York"/>
              </a:rPr>
              <a:t>Problem &amp; questions</a:t>
            </a:r>
            <a:endParaRPr sz="1275" b="1">
              <a:solidFill>
                <a:srgbClr val="132A2F"/>
              </a:solidFill>
              <a:latin typeface="New York"/>
              <a:ea typeface="New York"/>
              <a:cs typeface="New York"/>
            </a:endParaRPr>
          </a:p>
        </p:txBody>
      </p:sp>
      <p:sp>
        <p:nvSpPr>
          <p:cNvPr id="11" name="Rectangles 10"/>
          <p:cNvSpPr>
            <a:spLocks noGrp="1"/>
          </p:cNvSpPr>
          <p:nvPr/>
        </p:nvSpPr>
        <p:spPr>
          <a:xfrm>
            <a:off x="723900" y="3276600"/>
            <a:ext cx="19431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5" b="0">
                <a:solidFill>
                  <a:srgbClr val="5F6D6D"/>
                </a:solidFill>
                <a:latin typeface="Avenir Next" panose="020B0803020202020204"/>
                <a:ea typeface="Avenir Next" panose="020B0803020202020204"/>
                <a:cs typeface="Avenir Next" panose="020B0803020202020204"/>
              </a:defRPr>
            </a:pPr>
            <a:r>
              <a:rPr sz="865" b="0">
                <a:solidFill>
                  <a:srgbClr val="5F6D6D"/>
                </a:solidFill>
                <a:latin typeface="Avenir Next" panose="020B0803020202020204"/>
                <a:ea typeface="Avenir Next" panose="020B0803020202020204"/>
                <a:cs typeface="Avenir Next" panose="020B0803020202020204"/>
              </a:rPr>
              <a:t>Motivation, research gap,</a:t>
            </a:r>
            <a:endParaRPr sz="865" b="0">
              <a:solidFill>
                <a:srgbClr val="5F6D6D"/>
              </a:solidFill>
              <a:latin typeface="Avenir Next" panose="020B0803020202020204"/>
              <a:ea typeface="Avenir Next" panose="020B0803020202020204"/>
              <a:cs typeface="Avenir Next" panose="020B0803020202020204"/>
            </a:endParaRPr>
          </a:p>
          <a:p>
            <a:pPr algn="l">
              <a:buNone/>
              <a:defRPr sz="865" b="0">
                <a:solidFill>
                  <a:srgbClr val="5F6D6D"/>
                </a:solidFill>
                <a:latin typeface="Avenir Next" panose="020B0803020202020204"/>
                <a:ea typeface="Avenir Next" panose="020B0803020202020204"/>
                <a:cs typeface="Avenir Next" panose="020B0803020202020204"/>
              </a:defRPr>
            </a:pPr>
            <a:r>
              <a:rPr sz="865" b="0">
                <a:solidFill>
                  <a:srgbClr val="5F6D6D"/>
                </a:solidFill>
                <a:latin typeface="Avenir Next" panose="020B0803020202020204"/>
                <a:ea typeface="Avenir Next" panose="020B0803020202020204"/>
                <a:cs typeface="Avenir Next" panose="020B0803020202020204"/>
              </a:rPr>
              <a:t>and research questions</a:t>
            </a:r>
            <a:endParaRPr sz="865" b="0">
              <a:solidFill>
                <a:srgbClr val="5F6D6D"/>
              </a:solidFill>
              <a:latin typeface="Avenir Next" panose="020B0803020202020204"/>
              <a:ea typeface="Avenir Next" panose="020B0803020202020204"/>
              <a:cs typeface="Avenir Next" panose="020B0803020202020204"/>
            </a:endParaRPr>
          </a:p>
        </p:txBody>
      </p:sp>
      <p:sp>
        <p:nvSpPr>
          <p:cNvPr id="12" name="Rectangles 11"/>
          <p:cNvSpPr>
            <a:spLocks noGrp="1"/>
          </p:cNvSpPr>
          <p:nvPr/>
        </p:nvSpPr>
        <p:spPr>
          <a:xfrm>
            <a:off x="723900" y="3781425"/>
            <a:ext cx="1943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1">
                <a:solidFill>
                  <a:srgbClr val="5F6D6D"/>
                </a:solidFill>
                <a:latin typeface="Avenir Next" panose="020B0803020202020204"/>
                <a:ea typeface="Avenir Next" panose="020B0803020202020204"/>
                <a:cs typeface="Avenir Next" panose="020B0803020202020204"/>
              </a:defRPr>
            </a:pPr>
            <a:r>
              <a:rPr sz="640" b="1">
                <a:solidFill>
                  <a:srgbClr val="5F6D6D"/>
                </a:solidFill>
                <a:latin typeface="Avenir Next" panose="020B0803020202020204"/>
                <a:ea typeface="Avenir Next" panose="020B0803020202020204"/>
                <a:cs typeface="Avenir Next" panose="020B0803020202020204"/>
              </a:rPr>
              <a:t>WHY THIS MATTERS</a:t>
            </a:r>
            <a:endParaRPr sz="640" b="1">
              <a:solidFill>
                <a:srgbClr val="5F6D6D"/>
              </a:solidFill>
              <a:latin typeface="Avenir Next" panose="020B0803020202020204"/>
              <a:ea typeface="Avenir Next" panose="020B0803020202020204"/>
              <a:cs typeface="Avenir Next" panose="020B0803020202020204"/>
            </a:endParaRPr>
          </a:p>
        </p:txBody>
      </p:sp>
      <p:sp>
        <p:nvSpPr>
          <p:cNvPr id="13" name="Rectangles 12"/>
          <p:cNvSpPr>
            <a:spLocks noGrp="1"/>
          </p:cNvSpPr>
          <p:nvPr/>
        </p:nvSpPr>
        <p:spPr>
          <a:xfrm>
            <a:off x="2838450" y="3143250"/>
            <a:ext cx="381000" cy="19050"/>
          </a:xfrm>
          <a:prstGeom prst="rect">
            <a:avLst/>
          </a:prstGeom>
          <a:solidFill>
            <a:srgbClr val="A9A093"/>
          </a:solidFill>
          <a:ln w="0">
            <a:solidFill>
              <a:srgbClr val="000000">
                <a:alpha val="0"/>
              </a:srgbClr>
            </a:solidFill>
            <a:prstDash val="solid"/>
          </a:ln>
        </p:spPr>
      </p:sp>
      <p:sp>
        <p:nvSpPr>
          <p:cNvPr id="14" name="Rectangles 13"/>
          <p:cNvSpPr>
            <a:spLocks noGrp="1"/>
          </p:cNvSpPr>
          <p:nvPr/>
        </p:nvSpPr>
        <p:spPr>
          <a:xfrm>
            <a:off x="3048000" y="2981325"/>
            <a:ext cx="19050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2100" b="1">
                <a:solidFill>
                  <a:srgbClr val="A9A093"/>
                </a:solidFill>
                <a:latin typeface="New York"/>
                <a:ea typeface="New York"/>
                <a:cs typeface="New York"/>
              </a:defRPr>
            </a:pPr>
            <a:r>
              <a:rPr sz="2100" b="1">
                <a:solidFill>
                  <a:srgbClr val="A9A093"/>
                </a:solidFill>
                <a:latin typeface="New York"/>
                <a:ea typeface="New York"/>
                <a:cs typeface="New York"/>
              </a:rPr>
              <a:t>›</a:t>
            </a:r>
            <a:endParaRPr sz="2100" b="1">
              <a:solidFill>
                <a:srgbClr val="A9A093"/>
              </a:solidFill>
              <a:latin typeface="New York"/>
              <a:ea typeface="New York"/>
              <a:cs typeface="New York"/>
            </a:endParaRPr>
          </a:p>
        </p:txBody>
      </p:sp>
      <p:sp>
        <p:nvSpPr>
          <p:cNvPr id="15" name="Rectangles 14"/>
          <p:cNvSpPr>
            <a:spLocks noGrp="1"/>
          </p:cNvSpPr>
          <p:nvPr/>
        </p:nvSpPr>
        <p:spPr>
          <a:xfrm>
            <a:off x="3219450" y="2238375"/>
            <a:ext cx="2286000" cy="1809750"/>
          </a:xfrm>
          <a:prstGeom prst="rect">
            <a:avLst/>
          </a:prstGeom>
          <a:solidFill>
            <a:srgbClr val="FBF8F2"/>
          </a:solidFill>
          <a:ln w="9525">
            <a:solidFill>
              <a:srgbClr val="D9D2C7"/>
            </a:solidFill>
            <a:prstDash val="solid"/>
          </a:ln>
        </p:spPr>
      </p:sp>
      <p:sp>
        <p:nvSpPr>
          <p:cNvPr id="16" name="Oval 15"/>
          <p:cNvSpPr>
            <a:spLocks noGrp="1"/>
          </p:cNvSpPr>
          <p:nvPr/>
        </p:nvSpPr>
        <p:spPr>
          <a:xfrm>
            <a:off x="3390900" y="2409825"/>
            <a:ext cx="323850" cy="323850"/>
          </a:xfrm>
          <a:prstGeom prst="ellipse">
            <a:avLst/>
          </a:prstGeom>
          <a:solidFill>
            <a:srgbClr val="D6A83A"/>
          </a:solidFill>
          <a:ln w="0">
            <a:solidFill>
              <a:srgbClr val="000000">
                <a:alpha val="0"/>
              </a:srgbClr>
            </a:solidFill>
            <a:prstDash val="solid"/>
          </a:ln>
        </p:spPr>
      </p:sp>
      <p:sp>
        <p:nvSpPr>
          <p:cNvPr id="17" name="Rectangles 16"/>
          <p:cNvSpPr>
            <a:spLocks noGrp="1"/>
          </p:cNvSpPr>
          <p:nvPr/>
        </p:nvSpPr>
        <p:spPr>
          <a:xfrm>
            <a:off x="3390900" y="2486025"/>
            <a:ext cx="3238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02</a:t>
            </a:r>
            <a:endParaRPr sz="825" b="1">
              <a:solidFill>
                <a:srgbClr val="132A2F"/>
              </a:solidFill>
              <a:latin typeface="Avenir Next" panose="020B0803020202020204"/>
              <a:ea typeface="Avenir Next" panose="020B0803020202020204"/>
              <a:cs typeface="Avenir Next" panose="020B0803020202020204"/>
            </a:endParaRPr>
          </a:p>
        </p:txBody>
      </p:sp>
      <p:sp>
        <p:nvSpPr>
          <p:cNvPr id="18" name="Rectangles 17"/>
          <p:cNvSpPr>
            <a:spLocks noGrp="1"/>
          </p:cNvSpPr>
          <p:nvPr/>
        </p:nvSpPr>
        <p:spPr>
          <a:xfrm>
            <a:off x="3390900" y="2895600"/>
            <a:ext cx="19431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132A2F"/>
                </a:solidFill>
                <a:latin typeface="New York"/>
                <a:ea typeface="New York"/>
                <a:cs typeface="New York"/>
              </a:defRPr>
            </a:pPr>
            <a:r>
              <a:rPr sz="1275" b="1">
                <a:solidFill>
                  <a:srgbClr val="132A2F"/>
                </a:solidFill>
                <a:latin typeface="New York"/>
                <a:ea typeface="New York"/>
                <a:cs typeface="New York"/>
              </a:rPr>
              <a:t>Audit design</a:t>
            </a:r>
            <a:endParaRPr sz="1275" b="1">
              <a:solidFill>
                <a:srgbClr val="132A2F"/>
              </a:solidFill>
              <a:latin typeface="New York"/>
              <a:ea typeface="New York"/>
              <a:cs typeface="New York"/>
            </a:endParaRPr>
          </a:p>
        </p:txBody>
      </p:sp>
      <p:sp>
        <p:nvSpPr>
          <p:cNvPr id="19" name="Rectangles 18"/>
          <p:cNvSpPr>
            <a:spLocks noGrp="1"/>
          </p:cNvSpPr>
          <p:nvPr/>
        </p:nvSpPr>
        <p:spPr>
          <a:xfrm>
            <a:off x="3390900" y="3276600"/>
            <a:ext cx="19431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5" b="0">
                <a:solidFill>
                  <a:srgbClr val="5F6D6D"/>
                </a:solidFill>
                <a:latin typeface="Avenir Next" panose="020B0803020202020204"/>
                <a:ea typeface="Avenir Next" panose="020B0803020202020204"/>
                <a:cs typeface="Avenir Next" panose="020B0803020202020204"/>
              </a:defRPr>
            </a:pPr>
            <a:r>
              <a:rPr sz="865" b="0">
                <a:solidFill>
                  <a:srgbClr val="5F6D6D"/>
                </a:solidFill>
                <a:latin typeface="Avenir Next" panose="020B0803020202020204"/>
                <a:ea typeface="Avenir Next" panose="020B0803020202020204"/>
                <a:cs typeface="Avenir Next" panose="020B0803020202020204"/>
              </a:rPr>
              <a:t>Data split, model, SHAP,</a:t>
            </a:r>
            <a:endParaRPr sz="865" b="0">
              <a:solidFill>
                <a:srgbClr val="5F6D6D"/>
              </a:solidFill>
              <a:latin typeface="Avenir Next" panose="020B0803020202020204"/>
              <a:ea typeface="Avenir Next" panose="020B0803020202020204"/>
              <a:cs typeface="Avenir Next" panose="020B0803020202020204"/>
            </a:endParaRPr>
          </a:p>
          <a:p>
            <a:pPr algn="l">
              <a:buNone/>
              <a:defRPr sz="865" b="0">
                <a:solidFill>
                  <a:srgbClr val="5F6D6D"/>
                </a:solidFill>
                <a:latin typeface="Avenir Next" panose="020B0803020202020204"/>
                <a:ea typeface="Avenir Next" panose="020B0803020202020204"/>
                <a:cs typeface="Avenir Next" panose="020B0803020202020204"/>
              </a:defRPr>
            </a:pPr>
            <a:r>
              <a:rPr sz="865" b="0">
                <a:solidFill>
                  <a:srgbClr val="5F6D6D"/>
                </a:solidFill>
                <a:latin typeface="Avenir Next" panose="020B0803020202020204"/>
                <a:ea typeface="Avenir Next" panose="020B0803020202020204"/>
                <a:cs typeface="Avenir Next" panose="020B0803020202020204"/>
              </a:rPr>
              <a:t>and counterfactual search</a:t>
            </a:r>
            <a:endParaRPr sz="865" b="0">
              <a:solidFill>
                <a:srgbClr val="5F6D6D"/>
              </a:solidFill>
              <a:latin typeface="Avenir Next" panose="020B0803020202020204"/>
              <a:ea typeface="Avenir Next" panose="020B0803020202020204"/>
              <a:cs typeface="Avenir Next" panose="020B0803020202020204"/>
            </a:endParaRPr>
          </a:p>
        </p:txBody>
      </p:sp>
      <p:sp>
        <p:nvSpPr>
          <p:cNvPr id="20" name="Rectangles 19"/>
          <p:cNvSpPr>
            <a:spLocks noGrp="1"/>
          </p:cNvSpPr>
          <p:nvPr/>
        </p:nvSpPr>
        <p:spPr>
          <a:xfrm>
            <a:off x="3390900" y="3781425"/>
            <a:ext cx="1943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1">
                <a:solidFill>
                  <a:srgbClr val="5F6D6D"/>
                </a:solidFill>
                <a:latin typeface="Avenir Next" panose="020B0803020202020204"/>
                <a:ea typeface="Avenir Next" panose="020B0803020202020204"/>
                <a:cs typeface="Avenir Next" panose="020B0803020202020204"/>
              </a:defRPr>
            </a:pPr>
            <a:r>
              <a:rPr sz="640" b="1">
                <a:solidFill>
                  <a:srgbClr val="5F6D6D"/>
                </a:solidFill>
                <a:latin typeface="Avenir Next" panose="020B0803020202020204"/>
                <a:ea typeface="Avenir Next" panose="020B0803020202020204"/>
                <a:cs typeface="Avenir Next" panose="020B0803020202020204"/>
              </a:rPr>
              <a:t>HOW IT WORKS</a:t>
            </a:r>
            <a:endParaRPr sz="640" b="1">
              <a:solidFill>
                <a:srgbClr val="5F6D6D"/>
              </a:solidFill>
              <a:latin typeface="Avenir Next" panose="020B0803020202020204"/>
              <a:ea typeface="Avenir Next" panose="020B0803020202020204"/>
              <a:cs typeface="Avenir Next" panose="020B0803020202020204"/>
            </a:endParaRPr>
          </a:p>
        </p:txBody>
      </p:sp>
      <p:sp>
        <p:nvSpPr>
          <p:cNvPr id="21" name="Rectangles 20"/>
          <p:cNvSpPr>
            <a:spLocks noGrp="1"/>
          </p:cNvSpPr>
          <p:nvPr/>
        </p:nvSpPr>
        <p:spPr>
          <a:xfrm>
            <a:off x="5505450" y="3143250"/>
            <a:ext cx="381000" cy="19050"/>
          </a:xfrm>
          <a:prstGeom prst="rect">
            <a:avLst/>
          </a:prstGeom>
          <a:solidFill>
            <a:srgbClr val="A9A093"/>
          </a:solidFill>
          <a:ln w="0">
            <a:solidFill>
              <a:srgbClr val="000000">
                <a:alpha val="0"/>
              </a:srgbClr>
            </a:solidFill>
            <a:prstDash val="solid"/>
          </a:ln>
        </p:spPr>
      </p:sp>
      <p:sp>
        <p:nvSpPr>
          <p:cNvPr id="22" name="Rectangles 21"/>
          <p:cNvSpPr>
            <a:spLocks noGrp="1"/>
          </p:cNvSpPr>
          <p:nvPr/>
        </p:nvSpPr>
        <p:spPr>
          <a:xfrm>
            <a:off x="5715000" y="2981325"/>
            <a:ext cx="19050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2100" b="1">
                <a:solidFill>
                  <a:srgbClr val="A9A093"/>
                </a:solidFill>
                <a:latin typeface="New York"/>
                <a:ea typeface="New York"/>
                <a:cs typeface="New York"/>
              </a:defRPr>
            </a:pPr>
            <a:r>
              <a:rPr sz="2100" b="1">
                <a:solidFill>
                  <a:srgbClr val="A9A093"/>
                </a:solidFill>
                <a:latin typeface="New York"/>
                <a:ea typeface="New York"/>
                <a:cs typeface="New York"/>
              </a:rPr>
              <a:t>›</a:t>
            </a:r>
            <a:endParaRPr sz="2100" b="1">
              <a:solidFill>
                <a:srgbClr val="A9A093"/>
              </a:solidFill>
              <a:latin typeface="New York"/>
              <a:ea typeface="New York"/>
              <a:cs typeface="New York"/>
            </a:endParaRPr>
          </a:p>
        </p:txBody>
      </p:sp>
      <p:sp>
        <p:nvSpPr>
          <p:cNvPr id="23" name="Rectangles 22"/>
          <p:cNvSpPr>
            <a:spLocks noGrp="1"/>
          </p:cNvSpPr>
          <p:nvPr/>
        </p:nvSpPr>
        <p:spPr>
          <a:xfrm>
            <a:off x="5886450" y="2238375"/>
            <a:ext cx="2286000" cy="1809750"/>
          </a:xfrm>
          <a:prstGeom prst="rect">
            <a:avLst/>
          </a:prstGeom>
          <a:solidFill>
            <a:srgbClr val="FBF8F2"/>
          </a:solidFill>
          <a:ln w="9525">
            <a:solidFill>
              <a:srgbClr val="D9D2C7"/>
            </a:solidFill>
            <a:prstDash val="solid"/>
          </a:ln>
        </p:spPr>
      </p:sp>
      <p:sp>
        <p:nvSpPr>
          <p:cNvPr id="24" name="Oval 23"/>
          <p:cNvSpPr>
            <a:spLocks noGrp="1"/>
          </p:cNvSpPr>
          <p:nvPr/>
        </p:nvSpPr>
        <p:spPr>
          <a:xfrm>
            <a:off x="6057900" y="2409825"/>
            <a:ext cx="323850" cy="323850"/>
          </a:xfrm>
          <a:prstGeom prst="ellipse">
            <a:avLst/>
          </a:prstGeom>
          <a:solidFill>
            <a:srgbClr val="D6A83A"/>
          </a:solidFill>
          <a:ln w="0">
            <a:solidFill>
              <a:srgbClr val="000000">
                <a:alpha val="0"/>
              </a:srgbClr>
            </a:solidFill>
            <a:prstDash val="solid"/>
          </a:ln>
        </p:spPr>
      </p:sp>
      <p:sp>
        <p:nvSpPr>
          <p:cNvPr id="25" name="Rectangles 24"/>
          <p:cNvSpPr>
            <a:spLocks noGrp="1"/>
          </p:cNvSpPr>
          <p:nvPr/>
        </p:nvSpPr>
        <p:spPr>
          <a:xfrm>
            <a:off x="6057900" y="2486025"/>
            <a:ext cx="3238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03</a:t>
            </a:r>
            <a:endParaRPr sz="825" b="1">
              <a:solidFill>
                <a:srgbClr val="132A2F"/>
              </a:solidFill>
              <a:latin typeface="Avenir Next" panose="020B0803020202020204"/>
              <a:ea typeface="Avenir Next" panose="020B0803020202020204"/>
              <a:cs typeface="Avenir Next" panose="020B0803020202020204"/>
            </a:endParaRPr>
          </a:p>
        </p:txBody>
      </p:sp>
      <p:sp>
        <p:nvSpPr>
          <p:cNvPr id="26" name="Rectangles 25"/>
          <p:cNvSpPr>
            <a:spLocks noGrp="1"/>
          </p:cNvSpPr>
          <p:nvPr/>
        </p:nvSpPr>
        <p:spPr>
          <a:xfrm>
            <a:off x="6057900" y="2895600"/>
            <a:ext cx="19431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132A2F"/>
                </a:solidFill>
                <a:latin typeface="New York"/>
                <a:ea typeface="New York"/>
                <a:cs typeface="New York"/>
              </a:defRPr>
            </a:pPr>
            <a:r>
              <a:rPr sz="1275" b="1">
                <a:solidFill>
                  <a:srgbClr val="132A2F"/>
                </a:solidFill>
                <a:latin typeface="New York"/>
                <a:ea typeface="New York"/>
                <a:cs typeface="New York"/>
              </a:rPr>
              <a:t>Evidence</a:t>
            </a:r>
            <a:endParaRPr sz="1275" b="1">
              <a:solidFill>
                <a:srgbClr val="132A2F"/>
              </a:solidFill>
              <a:latin typeface="New York"/>
              <a:ea typeface="New York"/>
              <a:cs typeface="New York"/>
            </a:endParaRPr>
          </a:p>
        </p:txBody>
      </p:sp>
      <p:sp>
        <p:nvSpPr>
          <p:cNvPr id="27" name="Rectangles 26"/>
          <p:cNvSpPr>
            <a:spLocks noGrp="1"/>
          </p:cNvSpPr>
          <p:nvPr/>
        </p:nvSpPr>
        <p:spPr>
          <a:xfrm>
            <a:off x="6057900" y="3276600"/>
            <a:ext cx="19431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5" b="0">
                <a:solidFill>
                  <a:srgbClr val="5F6D6D"/>
                </a:solidFill>
                <a:latin typeface="Avenir Next" panose="020B0803020202020204"/>
                <a:ea typeface="Avenir Next" panose="020B0803020202020204"/>
                <a:cs typeface="Avenir Next" panose="020B0803020202020204"/>
              </a:defRPr>
            </a:pPr>
            <a:r>
              <a:rPr sz="865" b="0">
                <a:solidFill>
                  <a:srgbClr val="5F6D6D"/>
                </a:solidFill>
                <a:latin typeface="Avenir Next" panose="020B0803020202020204"/>
                <a:ea typeface="Avenir Next" panose="020B0803020202020204"/>
                <a:cs typeface="Avenir Next" panose="020B0803020202020204"/>
              </a:rPr>
              <a:t>Performance, feasibility gap,</a:t>
            </a:r>
            <a:endParaRPr sz="865" b="0">
              <a:solidFill>
                <a:srgbClr val="5F6D6D"/>
              </a:solidFill>
              <a:latin typeface="Avenir Next" panose="020B0803020202020204"/>
              <a:ea typeface="Avenir Next" panose="020B0803020202020204"/>
              <a:cs typeface="Avenir Next" panose="020B0803020202020204"/>
            </a:endParaRPr>
          </a:p>
          <a:p>
            <a:pPr algn="l">
              <a:buNone/>
              <a:defRPr sz="865" b="0">
                <a:solidFill>
                  <a:srgbClr val="5F6D6D"/>
                </a:solidFill>
                <a:latin typeface="Avenir Next" panose="020B0803020202020204"/>
                <a:ea typeface="Avenir Next" panose="020B0803020202020204"/>
                <a:cs typeface="Avenir Next" panose="020B0803020202020204"/>
              </a:defRPr>
            </a:pPr>
            <a:r>
              <a:rPr sz="865" b="0">
                <a:solidFill>
                  <a:srgbClr val="5F6D6D"/>
                </a:solidFill>
                <a:latin typeface="Avenir Next" panose="020B0803020202020204"/>
                <a:ea typeface="Avenir Next" panose="020B0803020202020204"/>
                <a:cs typeface="Avenir Next" panose="020B0803020202020204"/>
              </a:rPr>
              <a:t>and lever composition</a:t>
            </a:r>
            <a:endParaRPr sz="865" b="0">
              <a:solidFill>
                <a:srgbClr val="5F6D6D"/>
              </a:solidFill>
              <a:latin typeface="Avenir Next" panose="020B0803020202020204"/>
              <a:ea typeface="Avenir Next" panose="020B0803020202020204"/>
              <a:cs typeface="Avenir Next" panose="020B0803020202020204"/>
            </a:endParaRPr>
          </a:p>
        </p:txBody>
      </p:sp>
      <p:sp>
        <p:nvSpPr>
          <p:cNvPr id="28" name="Rectangles 27"/>
          <p:cNvSpPr>
            <a:spLocks noGrp="1"/>
          </p:cNvSpPr>
          <p:nvPr/>
        </p:nvSpPr>
        <p:spPr>
          <a:xfrm>
            <a:off x="6057900" y="3781425"/>
            <a:ext cx="1943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1">
                <a:solidFill>
                  <a:srgbClr val="5F6D6D"/>
                </a:solidFill>
                <a:latin typeface="Avenir Next" panose="020B0803020202020204"/>
                <a:ea typeface="Avenir Next" panose="020B0803020202020204"/>
                <a:cs typeface="Avenir Next" panose="020B0803020202020204"/>
              </a:defRPr>
            </a:pPr>
            <a:r>
              <a:rPr sz="640" b="1">
                <a:solidFill>
                  <a:srgbClr val="5F6D6D"/>
                </a:solidFill>
                <a:latin typeface="Avenir Next" panose="020B0803020202020204"/>
                <a:ea typeface="Avenir Next" panose="020B0803020202020204"/>
                <a:cs typeface="Avenir Next" panose="020B0803020202020204"/>
              </a:rPr>
              <a:t>WHAT WE FOUND</a:t>
            </a:r>
            <a:endParaRPr sz="640" b="1">
              <a:solidFill>
                <a:srgbClr val="5F6D6D"/>
              </a:solidFill>
              <a:latin typeface="Avenir Next" panose="020B0803020202020204"/>
              <a:ea typeface="Avenir Next" panose="020B0803020202020204"/>
              <a:cs typeface="Avenir Next" panose="020B0803020202020204"/>
            </a:endParaRPr>
          </a:p>
        </p:txBody>
      </p:sp>
      <p:sp>
        <p:nvSpPr>
          <p:cNvPr id="29" name="Rectangles 28"/>
          <p:cNvSpPr>
            <a:spLocks noGrp="1"/>
          </p:cNvSpPr>
          <p:nvPr/>
        </p:nvSpPr>
        <p:spPr>
          <a:xfrm>
            <a:off x="8172450" y="3143250"/>
            <a:ext cx="381000" cy="19050"/>
          </a:xfrm>
          <a:prstGeom prst="rect">
            <a:avLst/>
          </a:prstGeom>
          <a:solidFill>
            <a:srgbClr val="E45B4F"/>
          </a:solidFill>
          <a:ln w="0">
            <a:solidFill>
              <a:srgbClr val="000000">
                <a:alpha val="0"/>
              </a:srgbClr>
            </a:solidFill>
            <a:prstDash val="solid"/>
          </a:ln>
        </p:spPr>
      </p:sp>
      <p:sp>
        <p:nvSpPr>
          <p:cNvPr id="30" name="Rectangles 29"/>
          <p:cNvSpPr>
            <a:spLocks noGrp="1"/>
          </p:cNvSpPr>
          <p:nvPr/>
        </p:nvSpPr>
        <p:spPr>
          <a:xfrm>
            <a:off x="8382000" y="2981325"/>
            <a:ext cx="19050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2100" b="1">
                <a:solidFill>
                  <a:srgbClr val="E45B4F"/>
                </a:solidFill>
                <a:latin typeface="New York"/>
                <a:ea typeface="New York"/>
                <a:cs typeface="New York"/>
              </a:defRPr>
            </a:pPr>
            <a:r>
              <a:rPr sz="2100" b="1">
                <a:solidFill>
                  <a:srgbClr val="E45B4F"/>
                </a:solidFill>
                <a:latin typeface="New York"/>
                <a:ea typeface="New York"/>
                <a:cs typeface="New York"/>
              </a:rPr>
              <a:t>›</a:t>
            </a:r>
            <a:endParaRPr sz="2100" b="1">
              <a:solidFill>
                <a:srgbClr val="E45B4F"/>
              </a:solidFill>
              <a:latin typeface="New York"/>
              <a:ea typeface="New York"/>
              <a:cs typeface="New York"/>
            </a:endParaRPr>
          </a:p>
        </p:txBody>
      </p:sp>
      <p:sp>
        <p:nvSpPr>
          <p:cNvPr id="31" name="Rectangles 30"/>
          <p:cNvSpPr>
            <a:spLocks noGrp="1"/>
          </p:cNvSpPr>
          <p:nvPr/>
        </p:nvSpPr>
        <p:spPr>
          <a:xfrm>
            <a:off x="8553450" y="2238375"/>
            <a:ext cx="2286000" cy="1809750"/>
          </a:xfrm>
          <a:prstGeom prst="rect">
            <a:avLst/>
          </a:prstGeom>
          <a:solidFill>
            <a:srgbClr val="132A2F"/>
          </a:solidFill>
          <a:ln w="9525">
            <a:solidFill>
              <a:srgbClr val="132A2F"/>
            </a:solidFill>
            <a:prstDash val="solid"/>
          </a:ln>
        </p:spPr>
      </p:sp>
      <p:sp>
        <p:nvSpPr>
          <p:cNvPr id="32" name="Oval 31"/>
          <p:cNvSpPr>
            <a:spLocks noGrp="1"/>
          </p:cNvSpPr>
          <p:nvPr/>
        </p:nvSpPr>
        <p:spPr>
          <a:xfrm>
            <a:off x="8724900" y="2409825"/>
            <a:ext cx="323850" cy="323850"/>
          </a:xfrm>
          <a:prstGeom prst="ellipse">
            <a:avLst/>
          </a:prstGeom>
          <a:solidFill>
            <a:srgbClr val="E45B4F"/>
          </a:solidFill>
          <a:ln w="0">
            <a:solidFill>
              <a:srgbClr val="000000">
                <a:alpha val="0"/>
              </a:srgbClr>
            </a:solidFill>
            <a:prstDash val="solid"/>
          </a:ln>
        </p:spPr>
      </p:sp>
      <p:sp>
        <p:nvSpPr>
          <p:cNvPr id="33" name="Rectangles 32"/>
          <p:cNvSpPr>
            <a:spLocks noGrp="1"/>
          </p:cNvSpPr>
          <p:nvPr/>
        </p:nvSpPr>
        <p:spPr>
          <a:xfrm>
            <a:off x="8724900" y="2486025"/>
            <a:ext cx="3238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F7F2E9"/>
                </a:solidFill>
                <a:latin typeface="Avenir Next" panose="020B0803020202020204"/>
                <a:ea typeface="Avenir Next" panose="020B0803020202020204"/>
                <a:cs typeface="Avenir Next" panose="020B0803020202020204"/>
              </a:defRPr>
            </a:pPr>
            <a:r>
              <a:rPr sz="825" b="1">
                <a:solidFill>
                  <a:srgbClr val="F7F2E9"/>
                </a:solidFill>
                <a:latin typeface="Avenir Next" panose="020B0803020202020204"/>
                <a:ea typeface="Avenir Next" panose="020B0803020202020204"/>
                <a:cs typeface="Avenir Next" panose="020B0803020202020204"/>
              </a:rPr>
              <a:t>04</a:t>
            </a:r>
            <a:endParaRPr sz="825" b="1">
              <a:solidFill>
                <a:srgbClr val="F7F2E9"/>
              </a:solidFill>
              <a:latin typeface="Avenir Next" panose="020B0803020202020204"/>
              <a:ea typeface="Avenir Next" panose="020B0803020202020204"/>
              <a:cs typeface="Avenir Next" panose="020B0803020202020204"/>
            </a:endParaRPr>
          </a:p>
        </p:txBody>
      </p:sp>
      <p:sp>
        <p:nvSpPr>
          <p:cNvPr id="34" name="Rectangles 33"/>
          <p:cNvSpPr>
            <a:spLocks noGrp="1"/>
          </p:cNvSpPr>
          <p:nvPr/>
        </p:nvSpPr>
        <p:spPr>
          <a:xfrm>
            <a:off x="8724900" y="2895600"/>
            <a:ext cx="19431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F7F2E9"/>
                </a:solidFill>
                <a:latin typeface="New York"/>
                <a:ea typeface="New York"/>
                <a:cs typeface="New York"/>
              </a:defRPr>
            </a:pPr>
            <a:r>
              <a:rPr sz="1275" b="1">
                <a:solidFill>
                  <a:srgbClr val="F7F2E9"/>
                </a:solidFill>
                <a:latin typeface="New York"/>
                <a:ea typeface="New York"/>
                <a:cs typeface="New York"/>
              </a:rPr>
              <a:t>Implications</a:t>
            </a:r>
            <a:endParaRPr sz="1275" b="1">
              <a:solidFill>
                <a:srgbClr val="F7F2E9"/>
              </a:solidFill>
              <a:latin typeface="New York"/>
              <a:ea typeface="New York"/>
              <a:cs typeface="New York"/>
            </a:endParaRPr>
          </a:p>
        </p:txBody>
      </p:sp>
      <p:sp>
        <p:nvSpPr>
          <p:cNvPr id="35" name="Rectangles 34"/>
          <p:cNvSpPr>
            <a:spLocks noGrp="1"/>
          </p:cNvSpPr>
          <p:nvPr/>
        </p:nvSpPr>
        <p:spPr>
          <a:xfrm>
            <a:off x="8724900" y="3276600"/>
            <a:ext cx="19431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5" b="0">
                <a:solidFill>
                  <a:srgbClr val="B9D7D1"/>
                </a:solidFill>
                <a:latin typeface="Avenir Next" panose="020B0803020202020204"/>
                <a:ea typeface="Avenir Next" panose="020B0803020202020204"/>
                <a:cs typeface="Avenir Next" panose="020B0803020202020204"/>
              </a:defRPr>
            </a:pPr>
            <a:r>
              <a:rPr sz="865" b="0">
                <a:solidFill>
                  <a:srgbClr val="B9D7D1"/>
                </a:solidFill>
                <a:latin typeface="Avenir Next" panose="020B0803020202020204"/>
                <a:ea typeface="Avenir Next" panose="020B0803020202020204"/>
                <a:cs typeface="Avenir Next" panose="020B0803020202020204"/>
              </a:rPr>
              <a:t>Sensitivity, limitations,</a:t>
            </a:r>
            <a:endParaRPr sz="865" b="0">
              <a:solidFill>
                <a:srgbClr val="B9D7D1"/>
              </a:solidFill>
              <a:latin typeface="Avenir Next" panose="020B0803020202020204"/>
              <a:ea typeface="Avenir Next" panose="020B0803020202020204"/>
              <a:cs typeface="Avenir Next" panose="020B0803020202020204"/>
            </a:endParaRPr>
          </a:p>
          <a:p>
            <a:pPr algn="l">
              <a:buNone/>
              <a:defRPr sz="865" b="0">
                <a:solidFill>
                  <a:srgbClr val="B9D7D1"/>
                </a:solidFill>
                <a:latin typeface="Avenir Next" panose="020B0803020202020204"/>
                <a:ea typeface="Avenir Next" panose="020B0803020202020204"/>
                <a:cs typeface="Avenir Next" panose="020B0803020202020204"/>
              </a:defRPr>
            </a:pPr>
            <a:r>
              <a:rPr sz="865" b="0">
                <a:solidFill>
                  <a:srgbClr val="B9D7D1"/>
                </a:solidFill>
                <a:latin typeface="Avenir Next" panose="020B0803020202020204"/>
                <a:ea typeface="Avenir Next" panose="020B0803020202020204"/>
                <a:cs typeface="Avenir Next" panose="020B0803020202020204"/>
              </a:rPr>
              <a:t>and responsible use</a:t>
            </a:r>
            <a:endParaRPr sz="865" b="0">
              <a:solidFill>
                <a:srgbClr val="B9D7D1"/>
              </a:solidFill>
              <a:latin typeface="Avenir Next" panose="020B0803020202020204"/>
              <a:ea typeface="Avenir Next" panose="020B0803020202020204"/>
              <a:cs typeface="Avenir Next" panose="020B0803020202020204"/>
            </a:endParaRPr>
          </a:p>
        </p:txBody>
      </p:sp>
      <p:sp>
        <p:nvSpPr>
          <p:cNvPr id="36" name="Rectangles 35"/>
          <p:cNvSpPr>
            <a:spLocks noGrp="1"/>
          </p:cNvSpPr>
          <p:nvPr/>
        </p:nvSpPr>
        <p:spPr>
          <a:xfrm>
            <a:off x="8724900" y="3781425"/>
            <a:ext cx="1943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1">
                <a:solidFill>
                  <a:srgbClr val="EAD9A8"/>
                </a:solidFill>
                <a:latin typeface="Avenir Next" panose="020B0803020202020204"/>
                <a:ea typeface="Avenir Next" panose="020B0803020202020204"/>
                <a:cs typeface="Avenir Next" panose="020B0803020202020204"/>
              </a:defRPr>
            </a:pPr>
            <a:r>
              <a:rPr sz="640" b="1">
                <a:solidFill>
                  <a:srgbClr val="EAD9A8"/>
                </a:solidFill>
                <a:latin typeface="Avenir Next" panose="020B0803020202020204"/>
                <a:ea typeface="Avenir Next" panose="020B0803020202020204"/>
                <a:cs typeface="Avenir Next" panose="020B0803020202020204"/>
              </a:rPr>
              <a:t>HOW TO INTERPRET</a:t>
            </a:r>
            <a:endParaRPr sz="640" b="1">
              <a:solidFill>
                <a:srgbClr val="EAD9A8"/>
              </a:solidFill>
              <a:latin typeface="Avenir Next" panose="020B0803020202020204"/>
              <a:ea typeface="Avenir Next" panose="020B0803020202020204"/>
              <a:cs typeface="Avenir Next" panose="020B0803020202020204"/>
            </a:endParaRPr>
          </a:p>
        </p:txBody>
      </p:sp>
      <p:sp>
        <p:nvSpPr>
          <p:cNvPr id="37" name="Rectangles 36"/>
          <p:cNvSpPr>
            <a:spLocks noGrp="1"/>
          </p:cNvSpPr>
          <p:nvPr/>
        </p:nvSpPr>
        <p:spPr>
          <a:xfrm>
            <a:off x="552450" y="4591050"/>
            <a:ext cx="10287000" cy="990600"/>
          </a:xfrm>
          <a:prstGeom prst="rect">
            <a:avLst/>
          </a:prstGeom>
          <a:solidFill>
            <a:srgbClr val="F4C1BB"/>
          </a:solidFill>
          <a:ln w="0">
            <a:solidFill>
              <a:srgbClr val="000000">
                <a:alpha val="0"/>
              </a:srgbClr>
            </a:solidFill>
            <a:prstDash val="solid"/>
          </a:ln>
        </p:spPr>
      </p:sp>
      <p:sp>
        <p:nvSpPr>
          <p:cNvPr id="38" name="Rectangles 37"/>
          <p:cNvSpPr>
            <a:spLocks noGrp="1"/>
          </p:cNvSpPr>
          <p:nvPr/>
        </p:nvSpPr>
        <p:spPr>
          <a:xfrm>
            <a:off x="552450" y="4591050"/>
            <a:ext cx="76200" cy="990600"/>
          </a:xfrm>
          <a:prstGeom prst="rect">
            <a:avLst/>
          </a:prstGeom>
          <a:solidFill>
            <a:srgbClr val="E45B4F"/>
          </a:solidFill>
          <a:ln w="0">
            <a:solidFill>
              <a:srgbClr val="000000">
                <a:alpha val="0"/>
              </a:srgbClr>
            </a:solidFill>
            <a:prstDash val="solid"/>
          </a:ln>
        </p:spPr>
      </p:sp>
      <p:sp>
        <p:nvSpPr>
          <p:cNvPr id="39" name="Rectangles 38"/>
          <p:cNvSpPr>
            <a:spLocks noGrp="1"/>
          </p:cNvSpPr>
          <p:nvPr/>
        </p:nvSpPr>
        <p:spPr>
          <a:xfrm>
            <a:off x="781050" y="4762500"/>
            <a:ext cx="2095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E45B4F"/>
                </a:solidFill>
                <a:latin typeface="Avenir Next" panose="020B0803020202020204"/>
                <a:ea typeface="Avenir Next" panose="020B0803020202020204"/>
                <a:cs typeface="Avenir Next" panose="020B0803020202020204"/>
              </a:defRPr>
            </a:pPr>
            <a:r>
              <a:rPr sz="750" b="1">
                <a:solidFill>
                  <a:srgbClr val="E45B4F"/>
                </a:solidFill>
                <a:latin typeface="Avenir Next" panose="020B0803020202020204"/>
                <a:ea typeface="Avenir Next" panose="020B0803020202020204"/>
                <a:cs typeface="Avenir Next" panose="020B0803020202020204"/>
              </a:rPr>
              <a:t>READING GUIDE</a:t>
            </a:r>
            <a:endParaRPr sz="750" b="1">
              <a:solidFill>
                <a:srgbClr val="E45B4F"/>
              </a:solidFill>
              <a:latin typeface="Avenir Next" panose="020B0803020202020204"/>
              <a:ea typeface="Avenir Next" panose="020B0803020202020204"/>
              <a:cs typeface="Avenir Next" panose="020B0803020202020204"/>
            </a:endParaRPr>
          </a:p>
        </p:txBody>
      </p:sp>
      <p:sp>
        <p:nvSpPr>
          <p:cNvPr id="40" name="Rectangles 39"/>
          <p:cNvSpPr>
            <a:spLocks noGrp="1"/>
          </p:cNvSpPr>
          <p:nvPr/>
        </p:nvSpPr>
        <p:spPr>
          <a:xfrm>
            <a:off x="781050" y="5076825"/>
            <a:ext cx="8858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132A2F"/>
                </a:solidFill>
                <a:latin typeface="New York"/>
                <a:ea typeface="New York"/>
                <a:cs typeface="New York"/>
              </a:defRPr>
            </a:pPr>
            <a:r>
              <a:rPr sz="1500" b="1">
                <a:solidFill>
                  <a:srgbClr val="132A2F"/>
                </a:solidFill>
                <a:latin typeface="New York"/>
                <a:ea typeface="New York"/>
                <a:cs typeface="New York"/>
              </a:rPr>
              <a:t>Can score-reducing counterfactuals survive explicit HR feasibility rules?</a:t>
            </a:r>
            <a:endParaRPr sz="1500" b="1">
              <a:solidFill>
                <a:srgbClr val="132A2F"/>
              </a:solidFill>
              <a:latin typeface="New York"/>
              <a:ea typeface="New York"/>
              <a:cs typeface="New York"/>
            </a:endParaRPr>
          </a:p>
        </p:txBody>
      </p:sp>
      <p:sp>
        <p:nvSpPr>
          <p:cNvPr id="41" name="Rectangles 40"/>
          <p:cNvSpPr>
            <a:spLocks noGrp="1"/>
          </p:cNvSpPr>
          <p:nvPr/>
        </p:nvSpPr>
        <p:spPr>
          <a:xfrm>
            <a:off x="8915400" y="5800725"/>
            <a:ext cx="23241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825" b="1">
                <a:solidFill>
                  <a:srgbClr val="E45B4F"/>
                </a:solidFill>
                <a:latin typeface="Avenir Next" panose="020B0803020202020204"/>
                <a:ea typeface="Avenir Next" panose="020B0803020202020204"/>
                <a:cs typeface="Avenir Next" panose="020B0803020202020204"/>
              </a:defRPr>
            </a:pPr>
            <a:r>
              <a:rPr sz="825" b="1">
                <a:solidFill>
                  <a:srgbClr val="E45B4F"/>
                </a:solidFill>
                <a:latin typeface="Avenir Next" panose="020B0803020202020204"/>
                <a:ea typeface="Avenir Next" panose="020B0803020202020204"/>
                <a:cs typeface="Avenir Next" panose="020B0803020202020204"/>
              </a:rPr>
              <a:t>From prediction to organizational feasibility</a:t>
            </a:r>
            <a:endParaRPr sz="825" b="1">
              <a:solidFill>
                <a:srgbClr val="E45B4F"/>
              </a:solidFill>
              <a:latin typeface="Avenir Next" panose="020B0803020202020204"/>
              <a:ea typeface="Avenir Next" panose="020B0803020202020204"/>
              <a:cs typeface="Avenir Next" panose="020B0803020202020204"/>
            </a:endParaRPr>
          </a:p>
        </p:txBody>
      </p:sp>
      <p:sp>
        <p:nvSpPr>
          <p:cNvPr id="42" name="Rectangles 41"/>
          <p:cNvSpPr>
            <a:spLocks noGrp="1"/>
          </p:cNvSpPr>
          <p:nvPr/>
        </p:nvSpPr>
        <p:spPr>
          <a:xfrm>
            <a:off x="552450" y="6486525"/>
            <a:ext cx="11087100" cy="9525"/>
          </a:xfrm>
          <a:prstGeom prst="rect">
            <a:avLst/>
          </a:prstGeom>
          <a:solidFill>
            <a:srgbClr val="D9D2C7"/>
          </a:solidFill>
          <a:ln w="0">
            <a:solidFill>
              <a:srgbClr val="000000">
                <a:alpha val="0"/>
              </a:srgbClr>
            </a:solidFill>
            <a:prstDash val="solid"/>
          </a:ln>
        </p:spPr>
      </p:sp>
      <p:sp>
        <p:nvSpPr>
          <p:cNvPr id="43" name="Rectangles 42"/>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Source: presentation structure derived from main.tex</a:t>
            </a:r>
            <a:endParaRPr sz="640" b="0">
              <a:solidFill>
                <a:srgbClr val="5F6D6D"/>
              </a:solidFill>
              <a:latin typeface="Avenir Next" panose="020B0803020202020204"/>
              <a:ea typeface="Avenir Next" panose="020B0803020202020204"/>
              <a:cs typeface="Avenir Next" panose="020B0803020202020204"/>
            </a:endParaRPr>
          </a:p>
        </p:txBody>
      </p:sp>
      <p:sp>
        <p:nvSpPr>
          <p:cNvPr id="44" name="Rectangles 43"/>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03</a:t>
            </a:r>
            <a:endParaRPr sz="675" b="1">
              <a:solidFill>
                <a:srgbClr val="5F6D6D"/>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4F0E8"/>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132A2F"/>
          </a:solidFill>
          <a:ln w="0">
            <a:solidFill>
              <a:srgbClr val="000000">
                <a:alpha val="0"/>
              </a:srgbClr>
            </a:solidFill>
            <a:prstDash val="solid"/>
          </a:ln>
        </p:spPr>
      </p:sp>
      <p:sp>
        <p:nvSpPr>
          <p:cNvPr id="4" name="kicker-02-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02-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RESEARCH GAP</a:t>
            </a:r>
            <a:endParaRPr sz="750" b="1">
              <a:solidFill>
                <a:srgbClr val="5F6D6D"/>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685800"/>
            <a:ext cx="1057275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132A2F"/>
                </a:solidFill>
                <a:latin typeface="New York"/>
                <a:ea typeface="New York"/>
                <a:cs typeface="New York"/>
              </a:defRPr>
            </a:pPr>
            <a:r>
              <a:rPr sz="2550" b="1">
                <a:solidFill>
                  <a:srgbClr val="132A2F"/>
                </a:solidFill>
                <a:latin typeface="New York"/>
                <a:ea typeface="New York"/>
                <a:cs typeface="New York"/>
              </a:rPr>
              <a:t>Prediction, explanation, and counterfactuals still leave an actionability gap.</a:t>
            </a:r>
            <a:endParaRPr sz="2550" b="1">
              <a:solidFill>
                <a:srgbClr val="132A2F"/>
              </a:solidFill>
              <a:latin typeface="New York"/>
              <a:ea typeface="New York"/>
              <a:cs typeface="New York"/>
            </a:endParaRPr>
          </a:p>
        </p:txBody>
      </p:sp>
      <p:sp>
        <p:nvSpPr>
          <p:cNvPr id="7" name="Rectangles 6"/>
          <p:cNvSpPr>
            <a:spLocks noGrp="1"/>
          </p:cNvSpPr>
          <p:nvPr/>
        </p:nvSpPr>
        <p:spPr>
          <a:xfrm>
            <a:off x="552450" y="2238375"/>
            <a:ext cx="2286000" cy="1809750"/>
          </a:xfrm>
          <a:prstGeom prst="rect">
            <a:avLst/>
          </a:prstGeom>
          <a:solidFill>
            <a:srgbClr val="FBF8F2"/>
          </a:solidFill>
          <a:ln w="9525">
            <a:solidFill>
              <a:srgbClr val="D9D2C7"/>
            </a:solidFill>
            <a:prstDash val="solid"/>
          </a:ln>
        </p:spPr>
      </p:sp>
      <p:sp>
        <p:nvSpPr>
          <p:cNvPr id="8" name="Oval 7"/>
          <p:cNvSpPr>
            <a:spLocks noGrp="1"/>
          </p:cNvSpPr>
          <p:nvPr/>
        </p:nvSpPr>
        <p:spPr>
          <a:xfrm>
            <a:off x="723900" y="2409825"/>
            <a:ext cx="323850" cy="323850"/>
          </a:xfrm>
          <a:prstGeom prst="ellipse">
            <a:avLst/>
          </a:prstGeom>
          <a:solidFill>
            <a:srgbClr val="D6A83A"/>
          </a:solidFill>
          <a:ln w="0">
            <a:solidFill>
              <a:srgbClr val="000000">
                <a:alpha val="0"/>
              </a:srgbClr>
            </a:solidFill>
            <a:prstDash val="solid"/>
          </a:ln>
        </p:spPr>
      </p:sp>
      <p:sp>
        <p:nvSpPr>
          <p:cNvPr id="9" name="Rectangles 8"/>
          <p:cNvSpPr>
            <a:spLocks noGrp="1"/>
          </p:cNvSpPr>
          <p:nvPr/>
        </p:nvSpPr>
        <p:spPr>
          <a:xfrm>
            <a:off x="723900" y="2486025"/>
            <a:ext cx="3238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01</a:t>
            </a:r>
            <a:endParaRPr sz="825" b="1">
              <a:solidFill>
                <a:srgbClr val="132A2F"/>
              </a:solidFill>
              <a:latin typeface="Avenir Next" panose="020B0803020202020204"/>
              <a:ea typeface="Avenir Next" panose="020B0803020202020204"/>
              <a:cs typeface="Avenir Next" panose="020B0803020202020204"/>
            </a:endParaRPr>
          </a:p>
        </p:txBody>
      </p:sp>
      <p:sp>
        <p:nvSpPr>
          <p:cNvPr id="10" name="Rectangles 9"/>
          <p:cNvSpPr>
            <a:spLocks noGrp="1"/>
          </p:cNvSpPr>
          <p:nvPr/>
        </p:nvSpPr>
        <p:spPr>
          <a:xfrm>
            <a:off x="723900" y="2895600"/>
            <a:ext cx="19431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132A2F"/>
                </a:solidFill>
                <a:latin typeface="New York"/>
                <a:ea typeface="New York"/>
                <a:cs typeface="New York"/>
              </a:defRPr>
            </a:pPr>
            <a:r>
              <a:rPr sz="1275" b="1">
                <a:solidFill>
                  <a:srgbClr val="132A2F"/>
                </a:solidFill>
                <a:latin typeface="New York"/>
                <a:ea typeface="New York"/>
                <a:cs typeface="New York"/>
              </a:rPr>
              <a:t>Predict risk</a:t>
            </a:r>
            <a:endParaRPr sz="1275" b="1">
              <a:solidFill>
                <a:srgbClr val="132A2F"/>
              </a:solidFill>
              <a:latin typeface="New York"/>
              <a:ea typeface="New York"/>
              <a:cs typeface="New York"/>
            </a:endParaRPr>
          </a:p>
        </p:txBody>
      </p:sp>
      <p:sp>
        <p:nvSpPr>
          <p:cNvPr id="11" name="Rectangles 10"/>
          <p:cNvSpPr>
            <a:spLocks noGrp="1"/>
          </p:cNvSpPr>
          <p:nvPr/>
        </p:nvSpPr>
        <p:spPr>
          <a:xfrm>
            <a:off x="723900" y="3276600"/>
            <a:ext cx="19431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5" b="0">
                <a:solidFill>
                  <a:srgbClr val="5F6D6D"/>
                </a:solidFill>
                <a:latin typeface="Avenir Next" panose="020B0803020202020204"/>
                <a:ea typeface="Avenir Next" panose="020B0803020202020204"/>
                <a:cs typeface="Avenir Next" panose="020B0803020202020204"/>
              </a:defRPr>
            </a:pPr>
            <a:r>
              <a:rPr sz="865" b="0">
                <a:solidFill>
                  <a:srgbClr val="5F6D6D"/>
                </a:solidFill>
                <a:latin typeface="Avenir Next" panose="020B0803020202020204"/>
                <a:ea typeface="Avenir Next" panose="020B0803020202020204"/>
                <a:cs typeface="Avenir Next" panose="020B0803020202020204"/>
              </a:rPr>
              <a:t>Who appears</a:t>
            </a:r>
            <a:endParaRPr sz="865" b="0">
              <a:solidFill>
                <a:srgbClr val="5F6D6D"/>
              </a:solidFill>
              <a:latin typeface="Avenir Next" panose="020B0803020202020204"/>
              <a:ea typeface="Avenir Next" panose="020B0803020202020204"/>
              <a:cs typeface="Avenir Next" panose="020B0803020202020204"/>
            </a:endParaRPr>
          </a:p>
          <a:p>
            <a:pPr algn="l">
              <a:buNone/>
              <a:defRPr sz="865" b="0">
                <a:solidFill>
                  <a:srgbClr val="5F6D6D"/>
                </a:solidFill>
                <a:latin typeface="Avenir Next" panose="020B0803020202020204"/>
                <a:ea typeface="Avenir Next" panose="020B0803020202020204"/>
                <a:cs typeface="Avenir Next" panose="020B0803020202020204"/>
              </a:defRPr>
            </a:pPr>
            <a:r>
              <a:rPr sz="865" b="0">
                <a:solidFill>
                  <a:srgbClr val="5F6D6D"/>
                </a:solidFill>
                <a:latin typeface="Avenir Next" panose="020B0803020202020204"/>
                <a:ea typeface="Avenir Next" panose="020B0803020202020204"/>
                <a:cs typeface="Avenir Next" panose="020B0803020202020204"/>
              </a:rPr>
              <a:t>high-risk?</a:t>
            </a:r>
            <a:endParaRPr sz="865" b="0">
              <a:solidFill>
                <a:srgbClr val="5F6D6D"/>
              </a:solidFill>
              <a:latin typeface="Avenir Next" panose="020B0803020202020204"/>
              <a:ea typeface="Avenir Next" panose="020B0803020202020204"/>
              <a:cs typeface="Avenir Next" panose="020B0803020202020204"/>
            </a:endParaRPr>
          </a:p>
        </p:txBody>
      </p:sp>
      <p:sp>
        <p:nvSpPr>
          <p:cNvPr id="12" name="Rectangles 11"/>
          <p:cNvSpPr>
            <a:spLocks noGrp="1"/>
          </p:cNvSpPr>
          <p:nvPr/>
        </p:nvSpPr>
        <p:spPr>
          <a:xfrm>
            <a:off x="723900" y="3781425"/>
            <a:ext cx="1943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1">
                <a:solidFill>
                  <a:srgbClr val="5F6D6D"/>
                </a:solidFill>
                <a:latin typeface="Avenir Next" panose="020B0803020202020204"/>
                <a:ea typeface="Avenir Next" panose="020B0803020202020204"/>
                <a:cs typeface="Avenir Next" panose="020B0803020202020204"/>
              </a:defRPr>
            </a:pPr>
            <a:r>
              <a:rPr sz="640" b="1">
                <a:solidFill>
                  <a:srgbClr val="5F6D6D"/>
                </a:solidFill>
                <a:latin typeface="Avenir Next" panose="020B0803020202020204"/>
                <a:ea typeface="Avenir Next" panose="020B0803020202020204"/>
                <a:cs typeface="Avenir Next" panose="020B0803020202020204"/>
              </a:rPr>
              <a:t>ATTRITION SCORE</a:t>
            </a:r>
            <a:endParaRPr sz="640" b="1">
              <a:solidFill>
                <a:srgbClr val="5F6D6D"/>
              </a:solidFill>
              <a:latin typeface="Avenir Next" panose="020B0803020202020204"/>
              <a:ea typeface="Avenir Next" panose="020B0803020202020204"/>
              <a:cs typeface="Avenir Next" panose="020B0803020202020204"/>
            </a:endParaRPr>
          </a:p>
        </p:txBody>
      </p:sp>
      <p:sp>
        <p:nvSpPr>
          <p:cNvPr id="13" name="Rectangles 12"/>
          <p:cNvSpPr>
            <a:spLocks noGrp="1"/>
          </p:cNvSpPr>
          <p:nvPr/>
        </p:nvSpPr>
        <p:spPr>
          <a:xfrm>
            <a:off x="2838450" y="3143250"/>
            <a:ext cx="381000" cy="19050"/>
          </a:xfrm>
          <a:prstGeom prst="rect">
            <a:avLst/>
          </a:prstGeom>
          <a:solidFill>
            <a:srgbClr val="A9A093"/>
          </a:solidFill>
          <a:ln w="0">
            <a:solidFill>
              <a:srgbClr val="000000">
                <a:alpha val="0"/>
              </a:srgbClr>
            </a:solidFill>
            <a:prstDash val="solid"/>
          </a:ln>
        </p:spPr>
      </p:sp>
      <p:sp>
        <p:nvSpPr>
          <p:cNvPr id="14" name="Rectangles 13"/>
          <p:cNvSpPr>
            <a:spLocks noGrp="1"/>
          </p:cNvSpPr>
          <p:nvPr/>
        </p:nvSpPr>
        <p:spPr>
          <a:xfrm>
            <a:off x="3048000" y="2981325"/>
            <a:ext cx="19050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2100" b="1">
                <a:solidFill>
                  <a:srgbClr val="A9A093"/>
                </a:solidFill>
                <a:latin typeface="New York"/>
                <a:ea typeface="New York"/>
                <a:cs typeface="New York"/>
              </a:defRPr>
            </a:pPr>
            <a:r>
              <a:rPr sz="2100" b="1">
                <a:solidFill>
                  <a:srgbClr val="A9A093"/>
                </a:solidFill>
                <a:latin typeface="New York"/>
                <a:ea typeface="New York"/>
                <a:cs typeface="New York"/>
              </a:rPr>
              <a:t>›</a:t>
            </a:r>
            <a:endParaRPr sz="2100" b="1">
              <a:solidFill>
                <a:srgbClr val="A9A093"/>
              </a:solidFill>
              <a:latin typeface="New York"/>
              <a:ea typeface="New York"/>
              <a:cs typeface="New York"/>
            </a:endParaRPr>
          </a:p>
        </p:txBody>
      </p:sp>
      <p:sp>
        <p:nvSpPr>
          <p:cNvPr id="15" name="Rectangles 14"/>
          <p:cNvSpPr>
            <a:spLocks noGrp="1"/>
          </p:cNvSpPr>
          <p:nvPr/>
        </p:nvSpPr>
        <p:spPr>
          <a:xfrm>
            <a:off x="3219450" y="2238375"/>
            <a:ext cx="2286000" cy="1809750"/>
          </a:xfrm>
          <a:prstGeom prst="rect">
            <a:avLst/>
          </a:prstGeom>
          <a:solidFill>
            <a:srgbClr val="FBF8F2"/>
          </a:solidFill>
          <a:ln w="9525">
            <a:solidFill>
              <a:srgbClr val="D9D2C7"/>
            </a:solidFill>
            <a:prstDash val="solid"/>
          </a:ln>
        </p:spPr>
      </p:sp>
      <p:sp>
        <p:nvSpPr>
          <p:cNvPr id="16" name="Oval 15"/>
          <p:cNvSpPr>
            <a:spLocks noGrp="1"/>
          </p:cNvSpPr>
          <p:nvPr/>
        </p:nvSpPr>
        <p:spPr>
          <a:xfrm>
            <a:off x="3390900" y="2409825"/>
            <a:ext cx="323850" cy="323850"/>
          </a:xfrm>
          <a:prstGeom prst="ellipse">
            <a:avLst/>
          </a:prstGeom>
          <a:solidFill>
            <a:srgbClr val="D6A83A"/>
          </a:solidFill>
          <a:ln w="0">
            <a:solidFill>
              <a:srgbClr val="000000">
                <a:alpha val="0"/>
              </a:srgbClr>
            </a:solidFill>
            <a:prstDash val="solid"/>
          </a:ln>
        </p:spPr>
      </p:sp>
      <p:sp>
        <p:nvSpPr>
          <p:cNvPr id="17" name="Rectangles 16"/>
          <p:cNvSpPr>
            <a:spLocks noGrp="1"/>
          </p:cNvSpPr>
          <p:nvPr/>
        </p:nvSpPr>
        <p:spPr>
          <a:xfrm>
            <a:off x="3390900" y="2486025"/>
            <a:ext cx="3238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02</a:t>
            </a:r>
            <a:endParaRPr sz="825" b="1">
              <a:solidFill>
                <a:srgbClr val="132A2F"/>
              </a:solidFill>
              <a:latin typeface="Avenir Next" panose="020B0803020202020204"/>
              <a:ea typeface="Avenir Next" panose="020B0803020202020204"/>
              <a:cs typeface="Avenir Next" panose="020B0803020202020204"/>
            </a:endParaRPr>
          </a:p>
        </p:txBody>
      </p:sp>
      <p:sp>
        <p:nvSpPr>
          <p:cNvPr id="18" name="Rectangles 17"/>
          <p:cNvSpPr>
            <a:spLocks noGrp="1"/>
          </p:cNvSpPr>
          <p:nvPr/>
        </p:nvSpPr>
        <p:spPr>
          <a:xfrm>
            <a:off x="3390900" y="2895600"/>
            <a:ext cx="19431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132A2F"/>
                </a:solidFill>
                <a:latin typeface="New York"/>
                <a:ea typeface="New York"/>
                <a:cs typeface="New York"/>
              </a:defRPr>
            </a:pPr>
            <a:r>
              <a:rPr sz="1275" b="1">
                <a:solidFill>
                  <a:srgbClr val="132A2F"/>
                </a:solidFill>
                <a:latin typeface="New York"/>
                <a:ea typeface="New York"/>
                <a:cs typeface="New York"/>
              </a:rPr>
              <a:t>Explain score</a:t>
            </a:r>
            <a:endParaRPr sz="1275" b="1">
              <a:solidFill>
                <a:srgbClr val="132A2F"/>
              </a:solidFill>
              <a:latin typeface="New York"/>
              <a:ea typeface="New York"/>
              <a:cs typeface="New York"/>
            </a:endParaRPr>
          </a:p>
        </p:txBody>
      </p:sp>
      <p:sp>
        <p:nvSpPr>
          <p:cNvPr id="19" name="Rectangles 18"/>
          <p:cNvSpPr>
            <a:spLocks noGrp="1"/>
          </p:cNvSpPr>
          <p:nvPr/>
        </p:nvSpPr>
        <p:spPr>
          <a:xfrm>
            <a:off x="3390900" y="3276600"/>
            <a:ext cx="19431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5" b="0">
                <a:solidFill>
                  <a:srgbClr val="5F6D6D"/>
                </a:solidFill>
                <a:latin typeface="Avenir Next" panose="020B0803020202020204"/>
                <a:ea typeface="Avenir Next" panose="020B0803020202020204"/>
                <a:cs typeface="Avenir Next" panose="020B0803020202020204"/>
              </a:defRPr>
            </a:pPr>
            <a:r>
              <a:rPr sz="865" b="0">
                <a:solidFill>
                  <a:srgbClr val="5F6D6D"/>
                </a:solidFill>
                <a:latin typeface="Avenir Next" panose="020B0803020202020204"/>
                <a:ea typeface="Avenir Next" panose="020B0803020202020204"/>
                <a:cs typeface="Avenir Next" panose="020B0803020202020204"/>
              </a:rPr>
              <a:t>Which features drive</a:t>
            </a:r>
            <a:endParaRPr sz="865" b="0">
              <a:solidFill>
                <a:srgbClr val="5F6D6D"/>
              </a:solidFill>
              <a:latin typeface="Avenir Next" panose="020B0803020202020204"/>
              <a:ea typeface="Avenir Next" panose="020B0803020202020204"/>
              <a:cs typeface="Avenir Next" panose="020B0803020202020204"/>
            </a:endParaRPr>
          </a:p>
          <a:p>
            <a:pPr algn="l">
              <a:buNone/>
              <a:defRPr sz="865" b="0">
                <a:solidFill>
                  <a:srgbClr val="5F6D6D"/>
                </a:solidFill>
                <a:latin typeface="Avenir Next" panose="020B0803020202020204"/>
                <a:ea typeface="Avenir Next" panose="020B0803020202020204"/>
                <a:cs typeface="Avenir Next" panose="020B0803020202020204"/>
              </a:defRPr>
            </a:pPr>
            <a:r>
              <a:rPr sz="865" b="0">
                <a:solidFill>
                  <a:srgbClr val="5F6D6D"/>
                </a:solidFill>
                <a:latin typeface="Avenir Next" panose="020B0803020202020204"/>
                <a:ea typeface="Avenir Next" panose="020B0803020202020204"/>
                <a:cs typeface="Avenir Next" panose="020B0803020202020204"/>
              </a:rPr>
              <a:t>model output?</a:t>
            </a:r>
            <a:endParaRPr sz="865" b="0">
              <a:solidFill>
                <a:srgbClr val="5F6D6D"/>
              </a:solidFill>
              <a:latin typeface="Avenir Next" panose="020B0803020202020204"/>
              <a:ea typeface="Avenir Next" panose="020B0803020202020204"/>
              <a:cs typeface="Avenir Next" panose="020B0803020202020204"/>
            </a:endParaRPr>
          </a:p>
        </p:txBody>
      </p:sp>
      <p:sp>
        <p:nvSpPr>
          <p:cNvPr id="20" name="Rectangles 19"/>
          <p:cNvSpPr>
            <a:spLocks noGrp="1"/>
          </p:cNvSpPr>
          <p:nvPr/>
        </p:nvSpPr>
        <p:spPr>
          <a:xfrm>
            <a:off x="3390900" y="3781425"/>
            <a:ext cx="1943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1">
                <a:solidFill>
                  <a:srgbClr val="5F6D6D"/>
                </a:solidFill>
                <a:latin typeface="Avenir Next" panose="020B0803020202020204"/>
                <a:ea typeface="Avenir Next" panose="020B0803020202020204"/>
                <a:cs typeface="Avenir Next" panose="020B0803020202020204"/>
              </a:defRPr>
            </a:pPr>
            <a:r>
              <a:rPr sz="640" b="1">
                <a:solidFill>
                  <a:srgbClr val="5F6D6D"/>
                </a:solidFill>
                <a:latin typeface="Avenir Next" panose="020B0803020202020204"/>
                <a:ea typeface="Avenir Next" panose="020B0803020202020204"/>
                <a:cs typeface="Avenir Next" panose="020B0803020202020204"/>
              </a:rPr>
              <a:t>SHAP ATTRIBUTION</a:t>
            </a:r>
            <a:endParaRPr sz="640" b="1">
              <a:solidFill>
                <a:srgbClr val="5F6D6D"/>
              </a:solidFill>
              <a:latin typeface="Avenir Next" panose="020B0803020202020204"/>
              <a:ea typeface="Avenir Next" panose="020B0803020202020204"/>
              <a:cs typeface="Avenir Next" panose="020B0803020202020204"/>
            </a:endParaRPr>
          </a:p>
        </p:txBody>
      </p:sp>
      <p:sp>
        <p:nvSpPr>
          <p:cNvPr id="21" name="Rectangles 20"/>
          <p:cNvSpPr>
            <a:spLocks noGrp="1"/>
          </p:cNvSpPr>
          <p:nvPr/>
        </p:nvSpPr>
        <p:spPr>
          <a:xfrm>
            <a:off x="5505450" y="3143250"/>
            <a:ext cx="381000" cy="19050"/>
          </a:xfrm>
          <a:prstGeom prst="rect">
            <a:avLst/>
          </a:prstGeom>
          <a:solidFill>
            <a:srgbClr val="A9A093"/>
          </a:solidFill>
          <a:ln w="0">
            <a:solidFill>
              <a:srgbClr val="000000">
                <a:alpha val="0"/>
              </a:srgbClr>
            </a:solidFill>
            <a:prstDash val="solid"/>
          </a:ln>
        </p:spPr>
      </p:sp>
      <p:sp>
        <p:nvSpPr>
          <p:cNvPr id="22" name="Rectangles 21"/>
          <p:cNvSpPr>
            <a:spLocks noGrp="1"/>
          </p:cNvSpPr>
          <p:nvPr/>
        </p:nvSpPr>
        <p:spPr>
          <a:xfrm>
            <a:off x="5715000" y="2981325"/>
            <a:ext cx="19050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2100" b="1">
                <a:solidFill>
                  <a:srgbClr val="A9A093"/>
                </a:solidFill>
                <a:latin typeface="New York"/>
                <a:ea typeface="New York"/>
                <a:cs typeface="New York"/>
              </a:defRPr>
            </a:pPr>
            <a:r>
              <a:rPr sz="2100" b="1">
                <a:solidFill>
                  <a:srgbClr val="A9A093"/>
                </a:solidFill>
                <a:latin typeface="New York"/>
                <a:ea typeface="New York"/>
                <a:cs typeface="New York"/>
              </a:rPr>
              <a:t>›</a:t>
            </a:r>
            <a:endParaRPr sz="2100" b="1">
              <a:solidFill>
                <a:srgbClr val="A9A093"/>
              </a:solidFill>
              <a:latin typeface="New York"/>
              <a:ea typeface="New York"/>
              <a:cs typeface="New York"/>
            </a:endParaRPr>
          </a:p>
        </p:txBody>
      </p:sp>
      <p:sp>
        <p:nvSpPr>
          <p:cNvPr id="23" name="Rectangles 22"/>
          <p:cNvSpPr>
            <a:spLocks noGrp="1"/>
          </p:cNvSpPr>
          <p:nvPr/>
        </p:nvSpPr>
        <p:spPr>
          <a:xfrm>
            <a:off x="5886450" y="2238375"/>
            <a:ext cx="2286000" cy="1809750"/>
          </a:xfrm>
          <a:prstGeom prst="rect">
            <a:avLst/>
          </a:prstGeom>
          <a:solidFill>
            <a:srgbClr val="FBF8F2"/>
          </a:solidFill>
          <a:ln w="9525">
            <a:solidFill>
              <a:srgbClr val="D9D2C7"/>
            </a:solidFill>
            <a:prstDash val="solid"/>
          </a:ln>
        </p:spPr>
      </p:sp>
      <p:sp>
        <p:nvSpPr>
          <p:cNvPr id="24" name="Oval 23"/>
          <p:cNvSpPr>
            <a:spLocks noGrp="1"/>
          </p:cNvSpPr>
          <p:nvPr/>
        </p:nvSpPr>
        <p:spPr>
          <a:xfrm>
            <a:off x="6057900" y="2409825"/>
            <a:ext cx="323850" cy="323850"/>
          </a:xfrm>
          <a:prstGeom prst="ellipse">
            <a:avLst/>
          </a:prstGeom>
          <a:solidFill>
            <a:srgbClr val="D6A83A"/>
          </a:solidFill>
          <a:ln w="0">
            <a:solidFill>
              <a:srgbClr val="000000">
                <a:alpha val="0"/>
              </a:srgbClr>
            </a:solidFill>
            <a:prstDash val="solid"/>
          </a:ln>
        </p:spPr>
      </p:sp>
      <p:sp>
        <p:nvSpPr>
          <p:cNvPr id="25" name="Rectangles 24"/>
          <p:cNvSpPr>
            <a:spLocks noGrp="1"/>
          </p:cNvSpPr>
          <p:nvPr/>
        </p:nvSpPr>
        <p:spPr>
          <a:xfrm>
            <a:off x="6057900" y="2486025"/>
            <a:ext cx="3238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03</a:t>
            </a:r>
            <a:endParaRPr sz="825" b="1">
              <a:solidFill>
                <a:srgbClr val="132A2F"/>
              </a:solidFill>
              <a:latin typeface="Avenir Next" panose="020B0803020202020204"/>
              <a:ea typeface="Avenir Next" panose="020B0803020202020204"/>
              <a:cs typeface="Avenir Next" panose="020B0803020202020204"/>
            </a:endParaRPr>
          </a:p>
        </p:txBody>
      </p:sp>
      <p:sp>
        <p:nvSpPr>
          <p:cNvPr id="26" name="Rectangles 25"/>
          <p:cNvSpPr>
            <a:spLocks noGrp="1"/>
          </p:cNvSpPr>
          <p:nvPr/>
        </p:nvSpPr>
        <p:spPr>
          <a:xfrm>
            <a:off x="6057900" y="2895600"/>
            <a:ext cx="19431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132A2F"/>
                </a:solidFill>
                <a:latin typeface="New York"/>
                <a:ea typeface="New York"/>
                <a:cs typeface="New York"/>
              </a:defRPr>
            </a:pPr>
            <a:r>
              <a:rPr sz="1275" b="1">
                <a:solidFill>
                  <a:srgbClr val="132A2F"/>
                </a:solidFill>
                <a:latin typeface="New York"/>
                <a:ea typeface="New York"/>
                <a:cs typeface="New York"/>
              </a:rPr>
              <a:t>Generate recourse</a:t>
            </a:r>
            <a:endParaRPr sz="1275" b="1">
              <a:solidFill>
                <a:srgbClr val="132A2F"/>
              </a:solidFill>
              <a:latin typeface="New York"/>
              <a:ea typeface="New York"/>
              <a:cs typeface="New York"/>
            </a:endParaRPr>
          </a:p>
        </p:txBody>
      </p:sp>
      <p:sp>
        <p:nvSpPr>
          <p:cNvPr id="27" name="Rectangles 26"/>
          <p:cNvSpPr>
            <a:spLocks noGrp="1"/>
          </p:cNvSpPr>
          <p:nvPr/>
        </p:nvSpPr>
        <p:spPr>
          <a:xfrm>
            <a:off x="6057900" y="3276600"/>
            <a:ext cx="19431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5" b="0">
                <a:solidFill>
                  <a:srgbClr val="5F6D6D"/>
                </a:solidFill>
                <a:latin typeface="Avenir Next" panose="020B0803020202020204"/>
                <a:ea typeface="Avenir Next" panose="020B0803020202020204"/>
                <a:cs typeface="Avenir Next" panose="020B0803020202020204"/>
              </a:defRPr>
            </a:pPr>
            <a:r>
              <a:rPr sz="865" b="0">
                <a:solidFill>
                  <a:srgbClr val="5F6D6D"/>
                </a:solidFill>
                <a:latin typeface="Avenir Next" panose="020B0803020202020204"/>
                <a:ea typeface="Avenir Next" panose="020B0803020202020204"/>
                <a:cs typeface="Avenir Next" panose="020B0803020202020204"/>
              </a:rPr>
              <a:t>What profile crosses</a:t>
            </a:r>
            <a:endParaRPr sz="865" b="0">
              <a:solidFill>
                <a:srgbClr val="5F6D6D"/>
              </a:solidFill>
              <a:latin typeface="Avenir Next" panose="020B0803020202020204"/>
              <a:ea typeface="Avenir Next" panose="020B0803020202020204"/>
              <a:cs typeface="Avenir Next" panose="020B0803020202020204"/>
            </a:endParaRPr>
          </a:p>
          <a:p>
            <a:pPr algn="l">
              <a:buNone/>
              <a:defRPr sz="865" b="0">
                <a:solidFill>
                  <a:srgbClr val="5F6D6D"/>
                </a:solidFill>
                <a:latin typeface="Avenir Next" panose="020B0803020202020204"/>
                <a:ea typeface="Avenir Next" panose="020B0803020202020204"/>
                <a:cs typeface="Avenir Next" panose="020B0803020202020204"/>
              </a:defRPr>
            </a:pPr>
            <a:r>
              <a:rPr sz="865" b="0">
                <a:solidFill>
                  <a:srgbClr val="5F6D6D"/>
                </a:solidFill>
                <a:latin typeface="Avenir Next" panose="020B0803020202020204"/>
                <a:ea typeface="Avenir Next" panose="020B0803020202020204"/>
                <a:cs typeface="Avenir Next" panose="020B0803020202020204"/>
              </a:rPr>
              <a:t>the threshold?</a:t>
            </a:r>
            <a:endParaRPr sz="865" b="0">
              <a:solidFill>
                <a:srgbClr val="5F6D6D"/>
              </a:solidFill>
              <a:latin typeface="Avenir Next" panose="020B0803020202020204"/>
              <a:ea typeface="Avenir Next" panose="020B0803020202020204"/>
              <a:cs typeface="Avenir Next" panose="020B0803020202020204"/>
            </a:endParaRPr>
          </a:p>
        </p:txBody>
      </p:sp>
      <p:sp>
        <p:nvSpPr>
          <p:cNvPr id="28" name="Rectangles 27"/>
          <p:cNvSpPr>
            <a:spLocks noGrp="1"/>
          </p:cNvSpPr>
          <p:nvPr/>
        </p:nvSpPr>
        <p:spPr>
          <a:xfrm>
            <a:off x="6057900" y="3781425"/>
            <a:ext cx="1943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1">
                <a:solidFill>
                  <a:srgbClr val="5F6D6D"/>
                </a:solidFill>
                <a:latin typeface="Avenir Next" panose="020B0803020202020204"/>
                <a:ea typeface="Avenir Next" panose="020B0803020202020204"/>
                <a:cs typeface="Avenir Next" panose="020B0803020202020204"/>
              </a:defRPr>
            </a:pPr>
            <a:r>
              <a:rPr sz="640" b="1">
                <a:solidFill>
                  <a:srgbClr val="5F6D6D"/>
                </a:solidFill>
                <a:latin typeface="Avenir Next" panose="020B0803020202020204"/>
                <a:ea typeface="Avenir Next" panose="020B0803020202020204"/>
                <a:cs typeface="Avenir Next" panose="020B0803020202020204"/>
              </a:rPr>
              <a:t>DICE / GRID SEARCH</a:t>
            </a:r>
            <a:endParaRPr sz="640" b="1">
              <a:solidFill>
                <a:srgbClr val="5F6D6D"/>
              </a:solidFill>
              <a:latin typeface="Avenir Next" panose="020B0803020202020204"/>
              <a:ea typeface="Avenir Next" panose="020B0803020202020204"/>
              <a:cs typeface="Avenir Next" panose="020B0803020202020204"/>
            </a:endParaRPr>
          </a:p>
        </p:txBody>
      </p:sp>
      <p:sp>
        <p:nvSpPr>
          <p:cNvPr id="29" name="Rectangles 28"/>
          <p:cNvSpPr>
            <a:spLocks noGrp="1"/>
          </p:cNvSpPr>
          <p:nvPr/>
        </p:nvSpPr>
        <p:spPr>
          <a:xfrm>
            <a:off x="8172450" y="3143250"/>
            <a:ext cx="381000" cy="19050"/>
          </a:xfrm>
          <a:prstGeom prst="rect">
            <a:avLst/>
          </a:prstGeom>
          <a:solidFill>
            <a:srgbClr val="E45B4F"/>
          </a:solidFill>
          <a:ln w="0">
            <a:solidFill>
              <a:srgbClr val="000000">
                <a:alpha val="0"/>
              </a:srgbClr>
            </a:solidFill>
            <a:prstDash val="solid"/>
          </a:ln>
        </p:spPr>
      </p:sp>
      <p:sp>
        <p:nvSpPr>
          <p:cNvPr id="30" name="Rectangles 29"/>
          <p:cNvSpPr>
            <a:spLocks noGrp="1"/>
          </p:cNvSpPr>
          <p:nvPr/>
        </p:nvSpPr>
        <p:spPr>
          <a:xfrm>
            <a:off x="8382000" y="2981325"/>
            <a:ext cx="190500" cy="32385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2100" b="1">
                <a:solidFill>
                  <a:srgbClr val="E45B4F"/>
                </a:solidFill>
                <a:latin typeface="New York"/>
                <a:ea typeface="New York"/>
                <a:cs typeface="New York"/>
              </a:defRPr>
            </a:pPr>
            <a:r>
              <a:rPr sz="2100" b="1">
                <a:solidFill>
                  <a:srgbClr val="E45B4F"/>
                </a:solidFill>
                <a:latin typeface="New York"/>
                <a:ea typeface="New York"/>
                <a:cs typeface="New York"/>
              </a:rPr>
              <a:t>›</a:t>
            </a:r>
            <a:endParaRPr sz="2100" b="1">
              <a:solidFill>
                <a:srgbClr val="E45B4F"/>
              </a:solidFill>
              <a:latin typeface="New York"/>
              <a:ea typeface="New York"/>
              <a:cs typeface="New York"/>
            </a:endParaRPr>
          </a:p>
        </p:txBody>
      </p:sp>
      <p:sp>
        <p:nvSpPr>
          <p:cNvPr id="31" name="Rectangles 30"/>
          <p:cNvSpPr>
            <a:spLocks noGrp="1"/>
          </p:cNvSpPr>
          <p:nvPr/>
        </p:nvSpPr>
        <p:spPr>
          <a:xfrm>
            <a:off x="8553450" y="2238375"/>
            <a:ext cx="2286000" cy="1809750"/>
          </a:xfrm>
          <a:prstGeom prst="rect">
            <a:avLst/>
          </a:prstGeom>
          <a:solidFill>
            <a:srgbClr val="132A2F"/>
          </a:solidFill>
          <a:ln w="9525">
            <a:solidFill>
              <a:srgbClr val="132A2F"/>
            </a:solidFill>
            <a:prstDash val="solid"/>
          </a:ln>
        </p:spPr>
      </p:sp>
      <p:sp>
        <p:nvSpPr>
          <p:cNvPr id="32" name="Oval 31"/>
          <p:cNvSpPr>
            <a:spLocks noGrp="1"/>
          </p:cNvSpPr>
          <p:nvPr/>
        </p:nvSpPr>
        <p:spPr>
          <a:xfrm>
            <a:off x="8724900" y="2409825"/>
            <a:ext cx="323850" cy="323850"/>
          </a:xfrm>
          <a:prstGeom prst="ellipse">
            <a:avLst/>
          </a:prstGeom>
          <a:solidFill>
            <a:srgbClr val="E45B4F"/>
          </a:solidFill>
          <a:ln w="0">
            <a:solidFill>
              <a:srgbClr val="000000">
                <a:alpha val="0"/>
              </a:srgbClr>
            </a:solidFill>
            <a:prstDash val="solid"/>
          </a:ln>
        </p:spPr>
      </p:sp>
      <p:sp>
        <p:nvSpPr>
          <p:cNvPr id="33" name="Rectangles 32"/>
          <p:cNvSpPr>
            <a:spLocks noGrp="1"/>
          </p:cNvSpPr>
          <p:nvPr/>
        </p:nvSpPr>
        <p:spPr>
          <a:xfrm>
            <a:off x="8724900" y="2486025"/>
            <a:ext cx="3238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F7F2E9"/>
                </a:solidFill>
                <a:latin typeface="Avenir Next" panose="020B0803020202020204"/>
                <a:ea typeface="Avenir Next" panose="020B0803020202020204"/>
                <a:cs typeface="Avenir Next" panose="020B0803020202020204"/>
              </a:defRPr>
            </a:pPr>
            <a:r>
              <a:rPr sz="825" b="1">
                <a:solidFill>
                  <a:srgbClr val="F7F2E9"/>
                </a:solidFill>
                <a:latin typeface="Avenir Next" panose="020B0803020202020204"/>
                <a:ea typeface="Avenir Next" panose="020B0803020202020204"/>
                <a:cs typeface="Avenir Next" panose="020B0803020202020204"/>
              </a:rPr>
              <a:t>04</a:t>
            </a:r>
            <a:endParaRPr sz="825" b="1">
              <a:solidFill>
                <a:srgbClr val="F7F2E9"/>
              </a:solidFill>
              <a:latin typeface="Avenir Next" panose="020B0803020202020204"/>
              <a:ea typeface="Avenir Next" panose="020B0803020202020204"/>
              <a:cs typeface="Avenir Next" panose="020B0803020202020204"/>
            </a:endParaRPr>
          </a:p>
        </p:txBody>
      </p:sp>
      <p:sp>
        <p:nvSpPr>
          <p:cNvPr id="34" name="Rectangles 33"/>
          <p:cNvSpPr>
            <a:spLocks noGrp="1"/>
          </p:cNvSpPr>
          <p:nvPr/>
        </p:nvSpPr>
        <p:spPr>
          <a:xfrm>
            <a:off x="8724900" y="2895600"/>
            <a:ext cx="19431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F7F2E9"/>
                </a:solidFill>
                <a:latin typeface="New York"/>
                <a:ea typeface="New York"/>
                <a:cs typeface="New York"/>
              </a:defRPr>
            </a:pPr>
            <a:r>
              <a:rPr sz="1275" b="1">
                <a:solidFill>
                  <a:srgbClr val="F7F2E9"/>
                </a:solidFill>
                <a:latin typeface="New York"/>
                <a:ea typeface="New York"/>
                <a:cs typeface="New York"/>
              </a:rPr>
              <a:t>Audit feasibility</a:t>
            </a:r>
            <a:endParaRPr sz="1275" b="1">
              <a:solidFill>
                <a:srgbClr val="F7F2E9"/>
              </a:solidFill>
              <a:latin typeface="New York"/>
              <a:ea typeface="New York"/>
              <a:cs typeface="New York"/>
            </a:endParaRPr>
          </a:p>
        </p:txBody>
      </p:sp>
      <p:sp>
        <p:nvSpPr>
          <p:cNvPr id="35" name="Rectangles 34"/>
          <p:cNvSpPr>
            <a:spLocks noGrp="1"/>
          </p:cNvSpPr>
          <p:nvPr/>
        </p:nvSpPr>
        <p:spPr>
          <a:xfrm>
            <a:off x="8724900" y="3276600"/>
            <a:ext cx="19431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5" b="0">
                <a:solidFill>
                  <a:srgbClr val="B9D7D1"/>
                </a:solidFill>
                <a:latin typeface="Avenir Next" panose="020B0803020202020204"/>
                <a:ea typeface="Avenir Next" panose="020B0803020202020204"/>
                <a:cs typeface="Avenir Next" panose="020B0803020202020204"/>
              </a:defRPr>
            </a:pPr>
            <a:r>
              <a:rPr sz="865" b="0">
                <a:solidFill>
                  <a:srgbClr val="B9D7D1"/>
                </a:solidFill>
                <a:latin typeface="Avenir Next" panose="020B0803020202020204"/>
                <a:ea typeface="Avenir Next" panose="020B0803020202020204"/>
                <a:cs typeface="Avenir Next" panose="020B0803020202020204"/>
              </a:rPr>
              <a:t>Is the change permitted,</a:t>
            </a:r>
            <a:endParaRPr sz="865" b="0">
              <a:solidFill>
                <a:srgbClr val="B9D7D1"/>
              </a:solidFill>
              <a:latin typeface="Avenir Next" panose="020B0803020202020204"/>
              <a:ea typeface="Avenir Next" panose="020B0803020202020204"/>
              <a:cs typeface="Avenir Next" panose="020B0803020202020204"/>
            </a:endParaRPr>
          </a:p>
          <a:p>
            <a:pPr algn="l">
              <a:buNone/>
              <a:defRPr sz="865" b="0">
                <a:solidFill>
                  <a:srgbClr val="B9D7D1"/>
                </a:solidFill>
                <a:latin typeface="Avenir Next" panose="020B0803020202020204"/>
                <a:ea typeface="Avenir Next" panose="020B0803020202020204"/>
                <a:cs typeface="Avenir Next" panose="020B0803020202020204"/>
              </a:defRPr>
            </a:pPr>
            <a:r>
              <a:rPr sz="865" b="0">
                <a:solidFill>
                  <a:srgbClr val="B9D7D1"/>
                </a:solidFill>
                <a:latin typeface="Avenir Next" panose="020B0803020202020204"/>
                <a:ea typeface="Avenir Next" panose="020B0803020202020204"/>
                <a:cs typeface="Avenir Next" panose="020B0803020202020204"/>
              </a:rPr>
              <a:t>directional, and consistent?</a:t>
            </a:r>
            <a:endParaRPr sz="865" b="0">
              <a:solidFill>
                <a:srgbClr val="B9D7D1"/>
              </a:solidFill>
              <a:latin typeface="Avenir Next" panose="020B0803020202020204"/>
              <a:ea typeface="Avenir Next" panose="020B0803020202020204"/>
              <a:cs typeface="Avenir Next" panose="020B0803020202020204"/>
            </a:endParaRPr>
          </a:p>
        </p:txBody>
      </p:sp>
      <p:sp>
        <p:nvSpPr>
          <p:cNvPr id="36" name="Rectangles 35"/>
          <p:cNvSpPr>
            <a:spLocks noGrp="1"/>
          </p:cNvSpPr>
          <p:nvPr/>
        </p:nvSpPr>
        <p:spPr>
          <a:xfrm>
            <a:off x="8724900" y="3781425"/>
            <a:ext cx="19431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1">
                <a:solidFill>
                  <a:srgbClr val="EAD9A8"/>
                </a:solidFill>
                <a:latin typeface="Avenir Next" panose="020B0803020202020204"/>
                <a:ea typeface="Avenir Next" panose="020B0803020202020204"/>
                <a:cs typeface="Avenir Next" panose="020B0803020202020204"/>
              </a:defRPr>
            </a:pPr>
            <a:r>
              <a:rPr sz="640" b="1">
                <a:solidFill>
                  <a:srgbClr val="EAD9A8"/>
                </a:solidFill>
                <a:latin typeface="Avenir Next" panose="020B0803020202020204"/>
                <a:ea typeface="Avenir Next" panose="020B0803020202020204"/>
                <a:cs typeface="Avenir Next" panose="020B0803020202020204"/>
              </a:rPr>
              <a:t>EMPLOYEE-LEVEL RULES</a:t>
            </a:r>
            <a:endParaRPr sz="640" b="1">
              <a:solidFill>
                <a:srgbClr val="EAD9A8"/>
              </a:solidFill>
              <a:latin typeface="Avenir Next" panose="020B0803020202020204"/>
              <a:ea typeface="Avenir Next" panose="020B0803020202020204"/>
              <a:cs typeface="Avenir Next" panose="020B0803020202020204"/>
            </a:endParaRPr>
          </a:p>
        </p:txBody>
      </p:sp>
      <p:sp>
        <p:nvSpPr>
          <p:cNvPr id="37" name="Rectangles 36"/>
          <p:cNvSpPr>
            <a:spLocks noGrp="1"/>
          </p:cNvSpPr>
          <p:nvPr/>
        </p:nvSpPr>
        <p:spPr>
          <a:xfrm>
            <a:off x="552450" y="4591050"/>
            <a:ext cx="10287000" cy="990600"/>
          </a:xfrm>
          <a:prstGeom prst="rect">
            <a:avLst/>
          </a:prstGeom>
          <a:solidFill>
            <a:srgbClr val="F4C1BB"/>
          </a:solidFill>
          <a:ln w="0">
            <a:solidFill>
              <a:srgbClr val="000000">
                <a:alpha val="0"/>
              </a:srgbClr>
            </a:solidFill>
            <a:prstDash val="solid"/>
          </a:ln>
        </p:spPr>
      </p:sp>
      <p:sp>
        <p:nvSpPr>
          <p:cNvPr id="38" name="Rectangles 37"/>
          <p:cNvSpPr>
            <a:spLocks noGrp="1"/>
          </p:cNvSpPr>
          <p:nvPr/>
        </p:nvSpPr>
        <p:spPr>
          <a:xfrm>
            <a:off x="552450" y="4591050"/>
            <a:ext cx="76200" cy="990600"/>
          </a:xfrm>
          <a:prstGeom prst="rect">
            <a:avLst/>
          </a:prstGeom>
          <a:solidFill>
            <a:srgbClr val="E45B4F"/>
          </a:solidFill>
          <a:ln w="0">
            <a:solidFill>
              <a:srgbClr val="000000">
                <a:alpha val="0"/>
              </a:srgbClr>
            </a:solidFill>
            <a:prstDash val="solid"/>
          </a:ln>
        </p:spPr>
      </p:sp>
      <p:sp>
        <p:nvSpPr>
          <p:cNvPr id="39" name="Rectangles 38"/>
          <p:cNvSpPr>
            <a:spLocks noGrp="1"/>
          </p:cNvSpPr>
          <p:nvPr/>
        </p:nvSpPr>
        <p:spPr>
          <a:xfrm>
            <a:off x="781050" y="4762500"/>
            <a:ext cx="2095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E45B4F"/>
                </a:solidFill>
                <a:latin typeface="Avenir Next" panose="020B0803020202020204"/>
                <a:ea typeface="Avenir Next" panose="020B0803020202020204"/>
                <a:cs typeface="Avenir Next" panose="020B0803020202020204"/>
              </a:defRPr>
            </a:pPr>
            <a:r>
              <a:rPr sz="750" b="1">
                <a:solidFill>
                  <a:srgbClr val="E45B4F"/>
                </a:solidFill>
                <a:latin typeface="Avenir Next" panose="020B0803020202020204"/>
                <a:ea typeface="Avenir Next" panose="020B0803020202020204"/>
                <a:cs typeface="Avenir Next" panose="020B0803020202020204"/>
              </a:rPr>
              <a:t>THE MISSING QUESTION</a:t>
            </a:r>
            <a:endParaRPr sz="750" b="1">
              <a:solidFill>
                <a:srgbClr val="E45B4F"/>
              </a:solidFill>
              <a:latin typeface="Avenir Next" panose="020B0803020202020204"/>
              <a:ea typeface="Avenir Next" panose="020B0803020202020204"/>
              <a:cs typeface="Avenir Next" panose="020B0803020202020204"/>
            </a:endParaRPr>
          </a:p>
        </p:txBody>
      </p:sp>
      <p:sp>
        <p:nvSpPr>
          <p:cNvPr id="40" name="Rectangles 39"/>
          <p:cNvSpPr>
            <a:spLocks noGrp="1"/>
          </p:cNvSpPr>
          <p:nvPr/>
        </p:nvSpPr>
        <p:spPr>
          <a:xfrm>
            <a:off x="781050" y="5076825"/>
            <a:ext cx="88582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132A2F"/>
                </a:solidFill>
                <a:latin typeface="New York"/>
                <a:ea typeface="New York"/>
                <a:cs typeface="New York"/>
              </a:defRPr>
            </a:pPr>
            <a:r>
              <a:rPr sz="1500" b="1">
                <a:solidFill>
                  <a:srgbClr val="132A2F"/>
                </a:solidFill>
                <a:latin typeface="New York"/>
                <a:ea typeface="New York"/>
                <a:cs typeface="New York"/>
              </a:rPr>
              <a:t>Does a score-changing profile map to an HR action that can reasonably be evaluated?</a:t>
            </a:r>
            <a:endParaRPr sz="1500" b="1">
              <a:solidFill>
                <a:srgbClr val="132A2F"/>
              </a:solidFill>
              <a:latin typeface="New York"/>
              <a:ea typeface="New York"/>
              <a:cs typeface="New York"/>
            </a:endParaRPr>
          </a:p>
        </p:txBody>
      </p:sp>
      <p:sp>
        <p:nvSpPr>
          <p:cNvPr id="41" name="Rectangles 40"/>
          <p:cNvSpPr>
            <a:spLocks noGrp="1"/>
          </p:cNvSpPr>
          <p:nvPr/>
        </p:nvSpPr>
        <p:spPr>
          <a:xfrm>
            <a:off x="8915400" y="5800725"/>
            <a:ext cx="23241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825" b="1">
                <a:solidFill>
                  <a:srgbClr val="E45B4F"/>
                </a:solidFill>
                <a:latin typeface="Avenir Next" panose="020B0803020202020204"/>
                <a:ea typeface="Avenir Next" panose="020B0803020202020204"/>
                <a:cs typeface="Avenir Next" panose="020B0803020202020204"/>
              </a:defRPr>
            </a:pPr>
            <a:r>
              <a:rPr sz="825" b="1">
                <a:solidFill>
                  <a:srgbClr val="E45B4F"/>
                </a:solidFill>
                <a:latin typeface="Avenir Next" panose="020B0803020202020204"/>
                <a:ea typeface="Avenir Next" panose="020B0803020202020204"/>
                <a:cs typeface="Avenir Next" panose="020B0803020202020204"/>
              </a:rPr>
              <a:t>Model validity ≠ organizational actionability</a:t>
            </a:r>
            <a:endParaRPr sz="825" b="1">
              <a:solidFill>
                <a:srgbClr val="E45B4F"/>
              </a:solidFill>
              <a:latin typeface="Avenir Next" panose="020B0803020202020204"/>
              <a:ea typeface="Avenir Next" panose="020B0803020202020204"/>
              <a:cs typeface="Avenir Next" panose="020B0803020202020204"/>
            </a:endParaRPr>
          </a:p>
        </p:txBody>
      </p:sp>
      <p:sp>
        <p:nvSpPr>
          <p:cNvPr id="42" name="Rectangles 41"/>
          <p:cNvSpPr>
            <a:spLocks noGrp="1"/>
          </p:cNvSpPr>
          <p:nvPr/>
        </p:nvSpPr>
        <p:spPr>
          <a:xfrm>
            <a:off x="552450" y="6486525"/>
            <a:ext cx="11087100" cy="9525"/>
          </a:xfrm>
          <a:prstGeom prst="rect">
            <a:avLst/>
          </a:prstGeom>
          <a:solidFill>
            <a:srgbClr val="D9D2C7"/>
          </a:solidFill>
          <a:ln w="0">
            <a:solidFill>
              <a:srgbClr val="000000">
                <a:alpha val="0"/>
              </a:srgbClr>
            </a:solidFill>
            <a:prstDash val="solid"/>
          </a:ln>
        </p:spPr>
      </p:sp>
      <p:sp>
        <p:nvSpPr>
          <p:cNvPr id="43" name="Rectangles 42"/>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Related foundations: Mothilal et al. (2020); Ustun et al. (2019); Poyiadzi et al. (2020); Karimi et al. (2022)</a:t>
            </a:r>
            <a:endParaRPr sz="640" b="0">
              <a:solidFill>
                <a:srgbClr val="5F6D6D"/>
              </a:solidFill>
              <a:latin typeface="Avenir Next" panose="020B0803020202020204"/>
              <a:ea typeface="Avenir Next" panose="020B0803020202020204"/>
              <a:cs typeface="Avenir Next" panose="020B0803020202020204"/>
            </a:endParaRPr>
          </a:p>
        </p:txBody>
      </p:sp>
      <p:sp>
        <p:nvSpPr>
          <p:cNvPr id="44" name="Rectangles 43"/>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04</a:t>
            </a:r>
            <a:endParaRPr sz="675" b="1">
              <a:solidFill>
                <a:srgbClr val="5F6D6D"/>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4F0E8"/>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132A2F"/>
          </a:solidFill>
          <a:ln w="0">
            <a:solidFill>
              <a:srgbClr val="000000">
                <a:alpha val="0"/>
              </a:srgbClr>
            </a:solidFill>
            <a:prstDash val="solid"/>
          </a:ln>
        </p:spPr>
      </p:sp>
      <p:sp>
        <p:nvSpPr>
          <p:cNvPr id="4" name="kicker-03-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03-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RESEARCH QUESTIONS &amp; CONTRIBUTION</a:t>
            </a:r>
            <a:endParaRPr sz="750" b="1">
              <a:solidFill>
                <a:srgbClr val="5F6D6D"/>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685800"/>
            <a:ext cx="104775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132A2F"/>
                </a:solidFill>
                <a:latin typeface="New York"/>
                <a:ea typeface="New York"/>
                <a:cs typeface="New York"/>
              </a:defRPr>
            </a:pPr>
            <a:r>
              <a:rPr sz="2550" b="1">
                <a:solidFill>
                  <a:srgbClr val="132A2F"/>
                </a:solidFill>
                <a:latin typeface="New York"/>
                <a:ea typeface="New York"/>
                <a:cs typeface="New York"/>
              </a:rPr>
              <a:t>The contribution is an employee-level coverage-loss audit—not a new algorithm.</a:t>
            </a:r>
            <a:endParaRPr sz="2550" b="1">
              <a:solidFill>
                <a:srgbClr val="132A2F"/>
              </a:solidFill>
              <a:latin typeface="New York"/>
              <a:ea typeface="New York"/>
              <a:cs typeface="New York"/>
            </a:endParaRPr>
          </a:p>
        </p:txBody>
      </p:sp>
      <p:sp>
        <p:nvSpPr>
          <p:cNvPr id="7" name="Rectangles 6"/>
          <p:cNvSpPr>
            <a:spLocks noGrp="1"/>
          </p:cNvSpPr>
          <p:nvPr/>
        </p:nvSpPr>
        <p:spPr>
          <a:xfrm>
            <a:off x="552450" y="1952625"/>
            <a:ext cx="3333750" cy="1476375"/>
          </a:xfrm>
          <a:prstGeom prst="rect">
            <a:avLst/>
          </a:prstGeom>
          <a:solidFill>
            <a:srgbClr val="EAD9A8"/>
          </a:solidFill>
          <a:ln w="0">
            <a:solidFill>
              <a:srgbClr val="000000">
                <a:alpha val="0"/>
              </a:srgbClr>
            </a:solidFill>
            <a:prstDash val="solid"/>
          </a:ln>
        </p:spPr>
      </p:sp>
      <p:sp>
        <p:nvSpPr>
          <p:cNvPr id="8" name="Rectangles 7"/>
          <p:cNvSpPr>
            <a:spLocks noGrp="1"/>
          </p:cNvSpPr>
          <p:nvPr/>
        </p:nvSpPr>
        <p:spPr>
          <a:xfrm>
            <a:off x="742950" y="2133600"/>
            <a:ext cx="6096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132A2F"/>
                </a:solidFill>
                <a:latin typeface="New York"/>
                <a:ea typeface="New York"/>
                <a:cs typeface="New York"/>
              </a:defRPr>
            </a:pPr>
            <a:r>
              <a:rPr sz="1500" b="1">
                <a:solidFill>
                  <a:srgbClr val="132A2F"/>
                </a:solidFill>
                <a:latin typeface="New York"/>
                <a:ea typeface="New York"/>
                <a:cs typeface="New York"/>
              </a:rPr>
              <a:t>RQ1</a:t>
            </a:r>
            <a:endParaRPr sz="1500" b="1">
              <a:solidFill>
                <a:srgbClr val="132A2F"/>
              </a:solidFill>
              <a:latin typeface="New York"/>
              <a:ea typeface="New York"/>
              <a:cs typeface="New York"/>
            </a:endParaRPr>
          </a:p>
        </p:txBody>
      </p:sp>
      <p:sp>
        <p:nvSpPr>
          <p:cNvPr id="9" name="Rectangles 8"/>
          <p:cNvSpPr>
            <a:spLocks noGrp="1"/>
          </p:cNvSpPr>
          <p:nvPr/>
        </p:nvSpPr>
        <p:spPr>
          <a:xfrm>
            <a:off x="1428750" y="219075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MODEL VALIDITY</a:t>
            </a:r>
            <a:endParaRPr sz="675" b="1">
              <a:solidFill>
                <a:srgbClr val="5F6D6D"/>
              </a:solidFill>
              <a:latin typeface="Avenir Next" panose="020B0803020202020204"/>
              <a:ea typeface="Avenir Next" panose="020B0803020202020204"/>
              <a:cs typeface="Avenir Next" panose="020B0803020202020204"/>
            </a:endParaRPr>
          </a:p>
        </p:txBody>
      </p:sp>
      <p:sp>
        <p:nvSpPr>
          <p:cNvPr id="10" name="Rectangles 9"/>
          <p:cNvSpPr>
            <a:spLocks noGrp="1"/>
          </p:cNvSpPr>
          <p:nvPr/>
        </p:nvSpPr>
        <p:spPr>
          <a:xfrm>
            <a:off x="742950" y="2505075"/>
            <a:ext cx="2952750" cy="9525"/>
          </a:xfrm>
          <a:prstGeom prst="rect">
            <a:avLst/>
          </a:prstGeom>
          <a:solidFill>
            <a:srgbClr val="F4F0E8"/>
          </a:solidFill>
          <a:ln w="0">
            <a:solidFill>
              <a:srgbClr val="000000">
                <a:alpha val="0"/>
              </a:srgbClr>
            </a:solidFill>
            <a:prstDash val="solid"/>
          </a:ln>
        </p:spPr>
      </p:sp>
      <p:sp>
        <p:nvSpPr>
          <p:cNvPr id="11" name="Rectangles 10"/>
          <p:cNvSpPr>
            <a:spLocks noGrp="1"/>
          </p:cNvSpPr>
          <p:nvPr/>
        </p:nvSpPr>
        <p:spPr>
          <a:xfrm>
            <a:off x="742950" y="2686050"/>
            <a:ext cx="29527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40" b="1">
                <a:solidFill>
                  <a:srgbClr val="132A2F"/>
                </a:solidFill>
                <a:latin typeface="Avenir Next" panose="020B0803020202020204"/>
                <a:ea typeface="Avenir Next" panose="020B0803020202020204"/>
                <a:cs typeface="Avenir Next" panose="020B0803020202020204"/>
              </a:defRPr>
            </a:pPr>
            <a:r>
              <a:rPr sz="940" b="1">
                <a:solidFill>
                  <a:srgbClr val="132A2F"/>
                </a:solidFill>
                <a:latin typeface="Avenir Next" panose="020B0803020202020204"/>
                <a:ea typeface="Avenir Next" panose="020B0803020202020204"/>
                <a:cs typeface="Avenir Next" panose="020B0803020202020204"/>
              </a:rPr>
              <a:t>Can model-valid recourse cross the operational threshold?</a:t>
            </a:r>
            <a:endParaRPr sz="940" b="1">
              <a:solidFill>
                <a:srgbClr val="132A2F"/>
              </a:solidFill>
              <a:latin typeface="Avenir Next" panose="020B0803020202020204"/>
              <a:ea typeface="Avenir Next" panose="020B0803020202020204"/>
              <a:cs typeface="Avenir Next" panose="020B0803020202020204"/>
            </a:endParaRPr>
          </a:p>
        </p:txBody>
      </p:sp>
      <p:sp>
        <p:nvSpPr>
          <p:cNvPr id="12" name="Rectangles 11"/>
          <p:cNvSpPr>
            <a:spLocks noGrp="1"/>
          </p:cNvSpPr>
          <p:nvPr/>
        </p:nvSpPr>
        <p:spPr>
          <a:xfrm>
            <a:off x="4286250" y="1952625"/>
            <a:ext cx="3333750" cy="1476375"/>
          </a:xfrm>
          <a:prstGeom prst="rect">
            <a:avLst/>
          </a:prstGeom>
          <a:solidFill>
            <a:srgbClr val="B9D7D1"/>
          </a:solidFill>
          <a:ln w="0">
            <a:solidFill>
              <a:srgbClr val="000000">
                <a:alpha val="0"/>
              </a:srgbClr>
            </a:solidFill>
            <a:prstDash val="solid"/>
          </a:ln>
        </p:spPr>
      </p:sp>
      <p:sp>
        <p:nvSpPr>
          <p:cNvPr id="13" name="Rectangles 12"/>
          <p:cNvSpPr>
            <a:spLocks noGrp="1"/>
          </p:cNvSpPr>
          <p:nvPr/>
        </p:nvSpPr>
        <p:spPr>
          <a:xfrm>
            <a:off x="4476750" y="2133600"/>
            <a:ext cx="6096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132A2F"/>
                </a:solidFill>
                <a:latin typeface="New York"/>
                <a:ea typeface="New York"/>
                <a:cs typeface="New York"/>
              </a:defRPr>
            </a:pPr>
            <a:r>
              <a:rPr sz="1500" b="1">
                <a:solidFill>
                  <a:srgbClr val="132A2F"/>
                </a:solidFill>
                <a:latin typeface="New York"/>
                <a:ea typeface="New York"/>
                <a:cs typeface="New York"/>
              </a:rPr>
              <a:t>RQ2</a:t>
            </a:r>
            <a:endParaRPr sz="1500" b="1">
              <a:solidFill>
                <a:srgbClr val="132A2F"/>
              </a:solidFill>
              <a:latin typeface="New York"/>
              <a:ea typeface="New York"/>
              <a:cs typeface="New York"/>
            </a:endParaRPr>
          </a:p>
        </p:txBody>
      </p:sp>
      <p:sp>
        <p:nvSpPr>
          <p:cNvPr id="14" name="Rectangles 13"/>
          <p:cNvSpPr>
            <a:spLocks noGrp="1"/>
          </p:cNvSpPr>
          <p:nvPr/>
        </p:nvSpPr>
        <p:spPr>
          <a:xfrm>
            <a:off x="5162550" y="219075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HR FEASIBILITY</a:t>
            </a:r>
            <a:endParaRPr sz="675" b="1">
              <a:solidFill>
                <a:srgbClr val="5F6D6D"/>
              </a:solidFill>
              <a:latin typeface="Avenir Next" panose="020B0803020202020204"/>
              <a:ea typeface="Avenir Next" panose="020B0803020202020204"/>
              <a:cs typeface="Avenir Next" panose="020B0803020202020204"/>
            </a:endParaRPr>
          </a:p>
        </p:txBody>
      </p:sp>
      <p:sp>
        <p:nvSpPr>
          <p:cNvPr id="15" name="Rectangles 14"/>
          <p:cNvSpPr>
            <a:spLocks noGrp="1"/>
          </p:cNvSpPr>
          <p:nvPr/>
        </p:nvSpPr>
        <p:spPr>
          <a:xfrm>
            <a:off x="4476750" y="2505075"/>
            <a:ext cx="2952750" cy="9525"/>
          </a:xfrm>
          <a:prstGeom prst="rect">
            <a:avLst/>
          </a:prstGeom>
          <a:solidFill>
            <a:srgbClr val="F4F0E8"/>
          </a:solidFill>
          <a:ln w="0">
            <a:solidFill>
              <a:srgbClr val="000000">
                <a:alpha val="0"/>
              </a:srgbClr>
            </a:solidFill>
            <a:prstDash val="solid"/>
          </a:ln>
        </p:spPr>
      </p:sp>
      <p:sp>
        <p:nvSpPr>
          <p:cNvPr id="16" name="Rectangles 15"/>
          <p:cNvSpPr>
            <a:spLocks noGrp="1"/>
          </p:cNvSpPr>
          <p:nvPr/>
        </p:nvSpPr>
        <p:spPr>
          <a:xfrm>
            <a:off x="4476750" y="2686050"/>
            <a:ext cx="29527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40" b="1">
                <a:solidFill>
                  <a:srgbClr val="132A2F"/>
                </a:solidFill>
                <a:latin typeface="Avenir Next" panose="020B0803020202020204"/>
                <a:ea typeface="Avenir Next" panose="020B0803020202020204"/>
                <a:cs typeface="Avenir Next" panose="020B0803020202020204"/>
              </a:defRPr>
            </a:pPr>
            <a:r>
              <a:rPr sz="940" b="1">
                <a:solidFill>
                  <a:srgbClr val="132A2F"/>
                </a:solidFill>
                <a:latin typeface="Avenir Next" panose="020B0803020202020204"/>
                <a:ea typeface="Avenir Next" panose="020B0803020202020204"/>
                <a:cs typeface="Avenir Next" panose="020B0803020202020204"/>
              </a:rPr>
              <a:t>Does the scenario use only permitted HR levers and satisfy the rules?</a:t>
            </a:r>
            <a:endParaRPr sz="940" b="1">
              <a:solidFill>
                <a:srgbClr val="132A2F"/>
              </a:solidFill>
              <a:latin typeface="Avenir Next" panose="020B0803020202020204"/>
              <a:ea typeface="Avenir Next" panose="020B0803020202020204"/>
              <a:cs typeface="Avenir Next" panose="020B0803020202020204"/>
            </a:endParaRPr>
          </a:p>
        </p:txBody>
      </p:sp>
      <p:sp>
        <p:nvSpPr>
          <p:cNvPr id="17" name="Rectangles 16"/>
          <p:cNvSpPr>
            <a:spLocks noGrp="1"/>
          </p:cNvSpPr>
          <p:nvPr/>
        </p:nvSpPr>
        <p:spPr>
          <a:xfrm>
            <a:off x="8020050" y="1952625"/>
            <a:ext cx="3333750" cy="1476375"/>
          </a:xfrm>
          <a:prstGeom prst="rect">
            <a:avLst/>
          </a:prstGeom>
          <a:solidFill>
            <a:srgbClr val="F4C1BB"/>
          </a:solidFill>
          <a:ln w="0">
            <a:solidFill>
              <a:srgbClr val="000000">
                <a:alpha val="0"/>
              </a:srgbClr>
            </a:solidFill>
            <a:prstDash val="solid"/>
          </a:ln>
        </p:spPr>
      </p:sp>
      <p:sp>
        <p:nvSpPr>
          <p:cNvPr id="18" name="Rectangles 17"/>
          <p:cNvSpPr>
            <a:spLocks noGrp="1"/>
          </p:cNvSpPr>
          <p:nvPr/>
        </p:nvSpPr>
        <p:spPr>
          <a:xfrm>
            <a:off x="8210550" y="2133600"/>
            <a:ext cx="6096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132A2F"/>
                </a:solidFill>
                <a:latin typeface="New York"/>
                <a:ea typeface="New York"/>
                <a:cs typeface="New York"/>
              </a:defRPr>
            </a:pPr>
            <a:r>
              <a:rPr sz="1500" b="1">
                <a:solidFill>
                  <a:srgbClr val="132A2F"/>
                </a:solidFill>
                <a:latin typeface="New York"/>
                <a:ea typeface="New York"/>
                <a:cs typeface="New York"/>
              </a:rPr>
              <a:t>RQ3</a:t>
            </a:r>
            <a:endParaRPr sz="1500" b="1">
              <a:solidFill>
                <a:srgbClr val="132A2F"/>
              </a:solidFill>
              <a:latin typeface="New York"/>
              <a:ea typeface="New York"/>
              <a:cs typeface="New York"/>
            </a:endParaRPr>
          </a:p>
        </p:txBody>
      </p:sp>
      <p:sp>
        <p:nvSpPr>
          <p:cNvPr id="19" name="Rectangles 18"/>
          <p:cNvSpPr>
            <a:spLocks noGrp="1"/>
          </p:cNvSpPr>
          <p:nvPr/>
        </p:nvSpPr>
        <p:spPr>
          <a:xfrm>
            <a:off x="8896350" y="2190750"/>
            <a:ext cx="2190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ROBUSTNESS</a:t>
            </a:r>
            <a:endParaRPr sz="675" b="1">
              <a:solidFill>
                <a:srgbClr val="5F6D6D"/>
              </a:solidFill>
              <a:latin typeface="Avenir Next" panose="020B0803020202020204"/>
              <a:ea typeface="Avenir Next" panose="020B0803020202020204"/>
              <a:cs typeface="Avenir Next" panose="020B0803020202020204"/>
            </a:endParaRPr>
          </a:p>
        </p:txBody>
      </p:sp>
      <p:sp>
        <p:nvSpPr>
          <p:cNvPr id="20" name="Rectangles 19"/>
          <p:cNvSpPr>
            <a:spLocks noGrp="1"/>
          </p:cNvSpPr>
          <p:nvPr/>
        </p:nvSpPr>
        <p:spPr>
          <a:xfrm>
            <a:off x="8210550" y="2505075"/>
            <a:ext cx="2952750" cy="9525"/>
          </a:xfrm>
          <a:prstGeom prst="rect">
            <a:avLst/>
          </a:prstGeom>
          <a:solidFill>
            <a:srgbClr val="F4F0E8"/>
          </a:solidFill>
          <a:ln w="0">
            <a:solidFill>
              <a:srgbClr val="000000">
                <a:alpha val="0"/>
              </a:srgbClr>
            </a:solidFill>
            <a:prstDash val="solid"/>
          </a:ln>
        </p:spPr>
      </p:sp>
      <p:sp>
        <p:nvSpPr>
          <p:cNvPr id="21" name="Rectangles 20"/>
          <p:cNvSpPr>
            <a:spLocks noGrp="1"/>
          </p:cNvSpPr>
          <p:nvPr/>
        </p:nvSpPr>
        <p:spPr>
          <a:xfrm>
            <a:off x="8210550" y="2686050"/>
            <a:ext cx="29527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40" b="1">
                <a:solidFill>
                  <a:srgbClr val="132A2F"/>
                </a:solidFill>
                <a:latin typeface="Avenir Next" panose="020B0803020202020204"/>
                <a:ea typeface="Avenir Next" panose="020B0803020202020204"/>
                <a:cs typeface="Avenir Next" panose="020B0803020202020204"/>
              </a:defRPr>
            </a:pPr>
            <a:r>
              <a:rPr sz="940" b="1">
                <a:solidFill>
                  <a:srgbClr val="132A2F"/>
                </a:solidFill>
                <a:latin typeface="Avenir Next" panose="020B0803020202020204"/>
                <a:ea typeface="Avenir Next" panose="020B0803020202020204"/>
                <a:cs typeface="Avenir Next" panose="020B0803020202020204"/>
              </a:rPr>
              <a:t>How sensitive is feasibility to split and operational assumptions?</a:t>
            </a:r>
            <a:endParaRPr sz="940" b="1">
              <a:solidFill>
                <a:srgbClr val="132A2F"/>
              </a:solidFill>
              <a:latin typeface="Avenir Next" panose="020B0803020202020204"/>
              <a:ea typeface="Avenir Next" panose="020B0803020202020204"/>
              <a:cs typeface="Avenir Next" panose="020B0803020202020204"/>
            </a:endParaRPr>
          </a:p>
        </p:txBody>
      </p:sp>
      <p:sp>
        <p:nvSpPr>
          <p:cNvPr id="22" name="Rectangles 21"/>
          <p:cNvSpPr>
            <a:spLocks noGrp="1"/>
          </p:cNvSpPr>
          <p:nvPr/>
        </p:nvSpPr>
        <p:spPr>
          <a:xfrm>
            <a:off x="552450" y="3876675"/>
            <a:ext cx="10801350" cy="1676400"/>
          </a:xfrm>
          <a:prstGeom prst="rect">
            <a:avLst/>
          </a:prstGeom>
          <a:solidFill>
            <a:srgbClr val="132A2F"/>
          </a:solidFill>
          <a:ln w="0">
            <a:solidFill>
              <a:srgbClr val="000000">
                <a:alpha val="0"/>
              </a:srgbClr>
            </a:solidFill>
            <a:prstDash val="solid"/>
          </a:ln>
        </p:spPr>
      </p:sp>
      <p:sp>
        <p:nvSpPr>
          <p:cNvPr id="23" name="Rectangles 22"/>
          <p:cNvSpPr>
            <a:spLocks noGrp="1"/>
          </p:cNvSpPr>
          <p:nvPr/>
        </p:nvSpPr>
        <p:spPr>
          <a:xfrm>
            <a:off x="781050" y="4076700"/>
            <a:ext cx="2095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EAD9A8"/>
                </a:solidFill>
                <a:latin typeface="Avenir Next" panose="020B0803020202020204"/>
                <a:ea typeface="Avenir Next" panose="020B0803020202020204"/>
                <a:cs typeface="Avenir Next" panose="020B0803020202020204"/>
              </a:defRPr>
            </a:pPr>
            <a:r>
              <a:rPr sz="750" b="1">
                <a:solidFill>
                  <a:srgbClr val="EAD9A8"/>
                </a:solidFill>
                <a:latin typeface="Avenir Next" panose="020B0803020202020204"/>
                <a:ea typeface="Avenir Next" panose="020B0803020202020204"/>
                <a:cs typeface="Avenir Next" panose="020B0803020202020204"/>
              </a:rPr>
              <a:t>NOVELTY BOUNDARY</a:t>
            </a:r>
            <a:endParaRPr sz="750" b="1">
              <a:solidFill>
                <a:srgbClr val="EAD9A8"/>
              </a:solidFill>
              <a:latin typeface="Avenir Next" panose="020B0803020202020204"/>
              <a:ea typeface="Avenir Next" panose="020B0803020202020204"/>
              <a:cs typeface="Avenir Next" panose="020B0803020202020204"/>
            </a:endParaRPr>
          </a:p>
        </p:txBody>
      </p:sp>
      <p:sp>
        <p:nvSpPr>
          <p:cNvPr id="24" name="Rectangles 23"/>
          <p:cNvSpPr>
            <a:spLocks noGrp="1"/>
          </p:cNvSpPr>
          <p:nvPr/>
        </p:nvSpPr>
        <p:spPr>
          <a:xfrm>
            <a:off x="781050" y="4448175"/>
            <a:ext cx="1714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F4C1BB"/>
                </a:solidFill>
                <a:latin typeface="New York"/>
                <a:ea typeface="New York"/>
                <a:cs typeface="New York"/>
              </a:defRPr>
            </a:pPr>
            <a:r>
              <a:rPr sz="1350" b="1">
                <a:solidFill>
                  <a:srgbClr val="F4C1BB"/>
                </a:solidFill>
                <a:latin typeface="New York"/>
                <a:ea typeface="New York"/>
                <a:cs typeface="New York"/>
              </a:rPr>
              <a:t>Not claimed</a:t>
            </a:r>
            <a:endParaRPr sz="1350" b="1">
              <a:solidFill>
                <a:srgbClr val="F4C1BB"/>
              </a:solidFill>
              <a:latin typeface="New York"/>
              <a:ea typeface="New York"/>
              <a:cs typeface="New York"/>
            </a:endParaRPr>
          </a:p>
        </p:txBody>
      </p:sp>
      <p:sp>
        <p:nvSpPr>
          <p:cNvPr id="25" name="Rectangles 24"/>
          <p:cNvSpPr>
            <a:spLocks noGrp="1"/>
          </p:cNvSpPr>
          <p:nvPr/>
        </p:nvSpPr>
        <p:spPr>
          <a:xfrm>
            <a:off x="781050" y="4791075"/>
            <a:ext cx="32385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5" b="0">
                <a:solidFill>
                  <a:srgbClr val="F7F2E9"/>
                </a:solidFill>
                <a:latin typeface="Avenir Next" panose="020B0803020202020204"/>
                <a:ea typeface="Avenir Next" panose="020B0803020202020204"/>
                <a:cs typeface="Avenir Next" panose="020B0803020202020204"/>
              </a:defRPr>
            </a:pPr>
            <a:r>
              <a:rPr sz="865" b="0">
                <a:solidFill>
                  <a:srgbClr val="F7F2E9"/>
                </a:solidFill>
                <a:latin typeface="Avenir Next" panose="020B0803020202020204"/>
                <a:ea typeface="Avenir Next" panose="020B0803020202020204"/>
                <a:cs typeface="Avenir Next" panose="020B0803020202020204"/>
              </a:rPr>
              <a:t>New classifier · New SHAP method</a:t>
            </a:r>
            <a:endParaRPr sz="865" b="0">
              <a:solidFill>
                <a:srgbClr val="F7F2E9"/>
              </a:solidFill>
              <a:latin typeface="Avenir Next" panose="020B0803020202020204"/>
              <a:ea typeface="Avenir Next" panose="020B0803020202020204"/>
              <a:cs typeface="Avenir Next" panose="020B0803020202020204"/>
            </a:endParaRPr>
          </a:p>
          <a:p>
            <a:pPr algn="l">
              <a:buNone/>
              <a:defRPr sz="865" b="0">
                <a:solidFill>
                  <a:srgbClr val="F7F2E9"/>
                </a:solidFill>
                <a:latin typeface="Avenir Next" panose="020B0803020202020204"/>
                <a:ea typeface="Avenir Next" panose="020B0803020202020204"/>
                <a:cs typeface="Avenir Next" panose="020B0803020202020204"/>
              </a:defRPr>
            </a:pPr>
            <a:r>
              <a:rPr sz="865" b="0">
                <a:solidFill>
                  <a:srgbClr val="F7F2E9"/>
                </a:solidFill>
                <a:latin typeface="Avenir Next" panose="020B0803020202020204"/>
                <a:ea typeface="Avenir Next" panose="020B0803020202020204"/>
                <a:cs typeface="Avenir Next" panose="020B0803020202020204"/>
              </a:rPr>
              <a:t>New counterfactual generator</a:t>
            </a:r>
            <a:endParaRPr sz="865" b="0">
              <a:solidFill>
                <a:srgbClr val="F7F2E9"/>
              </a:solidFill>
              <a:latin typeface="Avenir Next" panose="020B0803020202020204"/>
              <a:ea typeface="Avenir Next" panose="020B0803020202020204"/>
              <a:cs typeface="Avenir Next" panose="020B0803020202020204"/>
            </a:endParaRPr>
          </a:p>
        </p:txBody>
      </p:sp>
      <p:sp>
        <p:nvSpPr>
          <p:cNvPr id="26" name="Rectangles 25"/>
          <p:cNvSpPr>
            <a:spLocks noGrp="1"/>
          </p:cNvSpPr>
          <p:nvPr/>
        </p:nvSpPr>
        <p:spPr>
          <a:xfrm>
            <a:off x="4333875" y="4095750"/>
            <a:ext cx="19050" cy="1200150"/>
          </a:xfrm>
          <a:prstGeom prst="rect">
            <a:avLst/>
          </a:prstGeom>
          <a:solidFill>
            <a:srgbClr val="203D42"/>
          </a:solidFill>
          <a:ln w="0">
            <a:solidFill>
              <a:srgbClr val="000000">
                <a:alpha val="0"/>
              </a:srgbClr>
            </a:solidFill>
            <a:prstDash val="solid"/>
          </a:ln>
        </p:spPr>
      </p:sp>
      <p:sp>
        <p:nvSpPr>
          <p:cNvPr id="27" name="Rectangles 26"/>
          <p:cNvSpPr>
            <a:spLocks noGrp="1"/>
          </p:cNvSpPr>
          <p:nvPr/>
        </p:nvSpPr>
        <p:spPr>
          <a:xfrm>
            <a:off x="4686300" y="4448175"/>
            <a:ext cx="2190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B9D7D1"/>
                </a:solidFill>
                <a:latin typeface="New York"/>
                <a:ea typeface="New York"/>
                <a:cs typeface="New York"/>
              </a:defRPr>
            </a:pPr>
            <a:r>
              <a:rPr sz="1350" b="1">
                <a:solidFill>
                  <a:srgbClr val="B9D7D1"/>
                </a:solidFill>
                <a:latin typeface="New York"/>
                <a:ea typeface="New York"/>
                <a:cs typeface="New York"/>
              </a:rPr>
              <a:t>Claimed contribution</a:t>
            </a:r>
            <a:endParaRPr sz="1350" b="1">
              <a:solidFill>
                <a:srgbClr val="B9D7D1"/>
              </a:solidFill>
              <a:latin typeface="New York"/>
              <a:ea typeface="New York"/>
              <a:cs typeface="New York"/>
            </a:endParaRPr>
          </a:p>
        </p:txBody>
      </p:sp>
      <p:sp>
        <p:nvSpPr>
          <p:cNvPr id="28" name="Rectangles 27"/>
          <p:cNvSpPr>
            <a:spLocks noGrp="1"/>
          </p:cNvSpPr>
          <p:nvPr/>
        </p:nvSpPr>
        <p:spPr>
          <a:xfrm>
            <a:off x="4686300" y="4791075"/>
            <a:ext cx="619125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5" b="0">
                <a:solidFill>
                  <a:srgbClr val="F7F2E9"/>
                </a:solidFill>
                <a:latin typeface="Avenir Next" panose="020B0803020202020204"/>
                <a:ea typeface="Avenir Next" panose="020B0803020202020204"/>
                <a:cs typeface="Avenir Next" panose="020B0803020202020204"/>
              </a:defRPr>
            </a:pPr>
            <a:r>
              <a:rPr sz="865" b="0">
                <a:solidFill>
                  <a:srgbClr val="F7F2E9"/>
                </a:solidFill>
                <a:latin typeface="Avenir Next" panose="020B0803020202020204"/>
                <a:ea typeface="Avenir Next" panose="020B0803020202020204"/>
                <a:cs typeface="Avenir Next" panose="020B0803020202020204"/>
              </a:rPr>
              <a:t>A reproducible three-level audit that records coverage loss, rejection reasons, final employee groups, technical failures, ranking policy, and assumption sensitivity.</a:t>
            </a:r>
            <a:endParaRPr sz="865" b="0">
              <a:solidFill>
                <a:srgbClr val="F7F2E9"/>
              </a:solidFill>
              <a:latin typeface="Avenir Next" panose="020B0803020202020204"/>
              <a:ea typeface="Avenir Next" panose="020B0803020202020204"/>
              <a:cs typeface="Avenir Next" panose="020B0803020202020204"/>
            </a:endParaRPr>
          </a:p>
        </p:txBody>
      </p:sp>
      <p:sp>
        <p:nvSpPr>
          <p:cNvPr id="29" name="Rectangles 28"/>
          <p:cNvSpPr>
            <a:spLocks noGrp="1"/>
          </p:cNvSpPr>
          <p:nvPr/>
        </p:nvSpPr>
        <p:spPr>
          <a:xfrm>
            <a:off x="7600950" y="5838825"/>
            <a:ext cx="3752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825" b="1">
                <a:solidFill>
                  <a:srgbClr val="2A7F78"/>
                </a:solidFill>
                <a:latin typeface="Avenir Next" panose="020B0803020202020204"/>
                <a:ea typeface="Avenir Next" panose="020B0803020202020204"/>
                <a:cs typeface="Avenir Next" panose="020B0803020202020204"/>
              </a:defRPr>
            </a:pPr>
            <a:r>
              <a:rPr sz="825" b="1">
                <a:solidFill>
                  <a:srgbClr val="2A7F78"/>
                </a:solidFill>
                <a:latin typeface="Avenir Next" panose="020B0803020202020204"/>
                <a:ea typeface="Avenir Next" panose="020B0803020202020204"/>
                <a:cs typeface="Avenir Next" panose="020B0803020202020204"/>
              </a:rPr>
              <a:t>Integrated audit protocol + coverage-loss evidence</a:t>
            </a:r>
            <a:endParaRPr sz="825" b="1">
              <a:solidFill>
                <a:srgbClr val="2A7F78"/>
              </a:solidFill>
              <a:latin typeface="Avenir Next" panose="020B0803020202020204"/>
              <a:ea typeface="Avenir Next" panose="020B0803020202020204"/>
              <a:cs typeface="Avenir Next" panose="020B0803020202020204"/>
            </a:endParaRPr>
          </a:p>
        </p:txBody>
      </p:sp>
      <p:sp>
        <p:nvSpPr>
          <p:cNvPr id="30" name="Rectangles 29"/>
          <p:cNvSpPr>
            <a:spLocks noGrp="1"/>
          </p:cNvSpPr>
          <p:nvPr/>
        </p:nvSpPr>
        <p:spPr>
          <a:xfrm>
            <a:off x="552450" y="6486525"/>
            <a:ext cx="11087100" cy="9525"/>
          </a:xfrm>
          <a:prstGeom prst="rect">
            <a:avLst/>
          </a:prstGeom>
          <a:solidFill>
            <a:srgbClr val="D9D2C7"/>
          </a:solidFill>
          <a:ln w="0">
            <a:solidFill>
              <a:srgbClr val="000000">
                <a:alpha val="0"/>
              </a:srgbClr>
            </a:solidFill>
            <a:prstDash val="solid"/>
          </a:ln>
        </p:spPr>
      </p:sp>
      <p:sp>
        <p:nvSpPr>
          <p:cNvPr id="31" name="Rectangles 30"/>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Novelty is delimited against Artelt &amp; Gregoriades (2023) and adjacent actionable-recourse research</a:t>
            </a:r>
            <a:endParaRPr sz="640" b="0">
              <a:solidFill>
                <a:srgbClr val="5F6D6D"/>
              </a:solidFill>
              <a:latin typeface="Avenir Next" panose="020B0803020202020204"/>
              <a:ea typeface="Avenir Next" panose="020B0803020202020204"/>
              <a:cs typeface="Avenir Next" panose="020B0803020202020204"/>
            </a:endParaRPr>
          </a:p>
        </p:txBody>
      </p:sp>
      <p:sp>
        <p:nvSpPr>
          <p:cNvPr id="32" name="Rectangles 31"/>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05</a:t>
            </a:r>
            <a:endParaRPr sz="675" b="1">
              <a:solidFill>
                <a:srgbClr val="5F6D6D"/>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4F0E8"/>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132A2F"/>
          </a:solidFill>
          <a:ln w="0">
            <a:solidFill>
              <a:srgbClr val="000000">
                <a:alpha val="0"/>
              </a:srgbClr>
            </a:solidFill>
            <a:prstDash val="solid"/>
          </a:ln>
        </p:spPr>
      </p:sp>
      <p:sp>
        <p:nvSpPr>
          <p:cNvPr id="4" name="kicker-04-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04-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LEAKAGE-CONTROLLED DESIGN</a:t>
            </a:r>
            <a:endParaRPr sz="750" b="1">
              <a:solidFill>
                <a:srgbClr val="5F6D6D"/>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685800"/>
            <a:ext cx="1000125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132A2F"/>
                </a:solidFill>
                <a:latin typeface="New York"/>
                <a:ea typeface="New York"/>
                <a:cs typeface="New York"/>
              </a:defRPr>
            </a:pPr>
            <a:r>
              <a:rPr sz="2550" b="1">
                <a:solidFill>
                  <a:srgbClr val="132A2F"/>
                </a:solidFill>
                <a:latin typeface="New York"/>
                <a:ea typeface="New York"/>
                <a:cs typeface="New York"/>
              </a:rPr>
              <a:t>Validation choices stayed separate from the 294-person test audit.</a:t>
            </a:r>
            <a:endParaRPr sz="2550" b="1">
              <a:solidFill>
                <a:srgbClr val="132A2F"/>
              </a:solidFill>
              <a:latin typeface="New York"/>
              <a:ea typeface="New York"/>
              <a:cs typeface="New York"/>
            </a:endParaRPr>
          </a:p>
        </p:txBody>
      </p:sp>
      <p:sp>
        <p:nvSpPr>
          <p:cNvPr id="7" name="Rectangles 6"/>
          <p:cNvSpPr>
            <a:spLocks noGrp="1"/>
          </p:cNvSpPr>
          <p:nvPr/>
        </p:nvSpPr>
        <p:spPr>
          <a:xfrm>
            <a:off x="552450" y="1828800"/>
            <a:ext cx="6477000" cy="1000125"/>
          </a:xfrm>
          <a:prstGeom prst="rect">
            <a:avLst/>
          </a:prstGeom>
          <a:solidFill>
            <a:srgbClr val="132A2F"/>
          </a:solidFill>
          <a:ln w="0">
            <a:solidFill>
              <a:srgbClr val="000000">
                <a:alpha val="0"/>
              </a:srgbClr>
            </a:solidFill>
            <a:prstDash val="solid"/>
          </a:ln>
        </p:spPr>
      </p:sp>
      <p:sp>
        <p:nvSpPr>
          <p:cNvPr id="8" name="Rectangles 7"/>
          <p:cNvSpPr>
            <a:spLocks noGrp="1"/>
          </p:cNvSpPr>
          <p:nvPr/>
        </p:nvSpPr>
        <p:spPr>
          <a:xfrm>
            <a:off x="723900" y="1962150"/>
            <a:ext cx="61341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F7F2E9"/>
                </a:solidFill>
                <a:latin typeface="Avenir Next" panose="020B0803020202020204"/>
                <a:ea typeface="Avenir Next" panose="020B0803020202020204"/>
                <a:cs typeface="Avenir Next" panose="020B0803020202020204"/>
              </a:defRPr>
            </a:pPr>
            <a:r>
              <a:rPr sz="715" b="1">
                <a:solidFill>
                  <a:srgbClr val="F7F2E9"/>
                </a:solidFill>
                <a:latin typeface="Avenir Next" panose="020B0803020202020204"/>
                <a:ea typeface="Avenir Next" panose="020B0803020202020204"/>
                <a:cs typeface="Avenir Next" panose="020B0803020202020204"/>
              </a:rPr>
              <a:t>TRAIN</a:t>
            </a:r>
            <a:endParaRPr sz="715" b="1">
              <a:solidFill>
                <a:srgbClr val="F7F2E9"/>
              </a:solidFill>
              <a:latin typeface="Avenir Next" panose="020B0803020202020204"/>
              <a:ea typeface="Avenir Next" panose="020B0803020202020204"/>
              <a:cs typeface="Avenir Next" panose="020B0803020202020204"/>
            </a:endParaRPr>
          </a:p>
        </p:txBody>
      </p:sp>
      <p:sp>
        <p:nvSpPr>
          <p:cNvPr id="9" name="Rectangles 8"/>
          <p:cNvSpPr>
            <a:spLocks noGrp="1"/>
          </p:cNvSpPr>
          <p:nvPr/>
        </p:nvSpPr>
        <p:spPr>
          <a:xfrm>
            <a:off x="723900" y="2190750"/>
            <a:ext cx="6134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F7F2E9"/>
                </a:solidFill>
                <a:latin typeface="New York"/>
                <a:ea typeface="New York"/>
                <a:cs typeface="New York"/>
              </a:defRPr>
            </a:pPr>
            <a:r>
              <a:rPr sz="2100" b="1">
                <a:solidFill>
                  <a:srgbClr val="F7F2E9"/>
                </a:solidFill>
                <a:latin typeface="New York"/>
                <a:ea typeface="New York"/>
                <a:cs typeface="New York"/>
              </a:rPr>
              <a:t>882</a:t>
            </a:r>
            <a:endParaRPr sz="2100" b="1">
              <a:solidFill>
                <a:srgbClr val="F7F2E9"/>
              </a:solidFill>
              <a:latin typeface="New York"/>
              <a:ea typeface="New York"/>
              <a:cs typeface="New York"/>
            </a:endParaRPr>
          </a:p>
        </p:txBody>
      </p:sp>
      <p:sp>
        <p:nvSpPr>
          <p:cNvPr id="10" name="Rectangles 9"/>
          <p:cNvSpPr>
            <a:spLocks noGrp="1"/>
          </p:cNvSpPr>
          <p:nvPr/>
        </p:nvSpPr>
        <p:spPr>
          <a:xfrm>
            <a:off x="723900" y="2562225"/>
            <a:ext cx="61341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F7F2E9"/>
                </a:solidFill>
                <a:latin typeface="Avenir Next" panose="020B0803020202020204"/>
                <a:ea typeface="Avenir Next" panose="020B0803020202020204"/>
                <a:cs typeface="Avenir Next" panose="020B0803020202020204"/>
              </a:defRPr>
            </a:pPr>
            <a:r>
              <a:rPr sz="715" b="0">
                <a:solidFill>
                  <a:srgbClr val="F7F2E9"/>
                </a:solidFill>
                <a:latin typeface="Avenir Next" panose="020B0803020202020204"/>
                <a:ea typeface="Avenir Next" panose="020B0803020202020204"/>
                <a:cs typeface="Avenir Next" panose="020B0803020202020204"/>
              </a:rPr>
              <a:t>142 attrition cases · 16.10%</a:t>
            </a:r>
            <a:endParaRPr sz="715" b="0">
              <a:solidFill>
                <a:srgbClr val="F7F2E9"/>
              </a:solidFill>
              <a:latin typeface="Avenir Next" panose="020B0803020202020204"/>
              <a:ea typeface="Avenir Next" panose="020B0803020202020204"/>
              <a:cs typeface="Avenir Next" panose="020B0803020202020204"/>
            </a:endParaRPr>
          </a:p>
        </p:txBody>
      </p:sp>
      <p:sp>
        <p:nvSpPr>
          <p:cNvPr id="11" name="Rectangles 10"/>
          <p:cNvSpPr>
            <a:spLocks noGrp="1"/>
          </p:cNvSpPr>
          <p:nvPr/>
        </p:nvSpPr>
        <p:spPr>
          <a:xfrm>
            <a:off x="7029450" y="1828800"/>
            <a:ext cx="2162175" cy="1000125"/>
          </a:xfrm>
          <a:prstGeom prst="rect">
            <a:avLst/>
          </a:prstGeom>
          <a:solidFill>
            <a:srgbClr val="EAD9A8"/>
          </a:solidFill>
          <a:ln w="0">
            <a:solidFill>
              <a:srgbClr val="000000">
                <a:alpha val="0"/>
              </a:srgbClr>
            </a:solidFill>
            <a:prstDash val="solid"/>
          </a:ln>
        </p:spPr>
      </p:sp>
      <p:sp>
        <p:nvSpPr>
          <p:cNvPr id="12" name="Rectangles 11"/>
          <p:cNvSpPr>
            <a:spLocks noGrp="1"/>
          </p:cNvSpPr>
          <p:nvPr/>
        </p:nvSpPr>
        <p:spPr>
          <a:xfrm>
            <a:off x="7200900" y="1962150"/>
            <a:ext cx="1819275"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132A2F"/>
                </a:solidFill>
                <a:latin typeface="Avenir Next" panose="020B0803020202020204"/>
                <a:ea typeface="Avenir Next" panose="020B0803020202020204"/>
                <a:cs typeface="Avenir Next" panose="020B0803020202020204"/>
              </a:defRPr>
            </a:pPr>
            <a:r>
              <a:rPr sz="715" b="1">
                <a:solidFill>
                  <a:srgbClr val="132A2F"/>
                </a:solidFill>
                <a:latin typeface="Avenir Next" panose="020B0803020202020204"/>
                <a:ea typeface="Avenir Next" panose="020B0803020202020204"/>
                <a:cs typeface="Avenir Next" panose="020B0803020202020204"/>
              </a:rPr>
              <a:t>VALIDATION</a:t>
            </a:r>
            <a:endParaRPr sz="715" b="1">
              <a:solidFill>
                <a:srgbClr val="132A2F"/>
              </a:solidFill>
              <a:latin typeface="Avenir Next" panose="020B0803020202020204"/>
              <a:ea typeface="Avenir Next" panose="020B0803020202020204"/>
              <a:cs typeface="Avenir Next" panose="020B0803020202020204"/>
            </a:endParaRPr>
          </a:p>
        </p:txBody>
      </p:sp>
      <p:sp>
        <p:nvSpPr>
          <p:cNvPr id="13" name="Rectangles 12"/>
          <p:cNvSpPr>
            <a:spLocks noGrp="1"/>
          </p:cNvSpPr>
          <p:nvPr/>
        </p:nvSpPr>
        <p:spPr>
          <a:xfrm>
            <a:off x="7200900" y="2190750"/>
            <a:ext cx="181927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32A2F"/>
                </a:solidFill>
                <a:latin typeface="New York"/>
                <a:ea typeface="New York"/>
                <a:cs typeface="New York"/>
              </a:defRPr>
            </a:pPr>
            <a:r>
              <a:rPr sz="2100" b="1">
                <a:solidFill>
                  <a:srgbClr val="132A2F"/>
                </a:solidFill>
                <a:latin typeface="New York"/>
                <a:ea typeface="New York"/>
                <a:cs typeface="New York"/>
              </a:rPr>
              <a:t>294</a:t>
            </a:r>
            <a:endParaRPr sz="2100" b="1">
              <a:solidFill>
                <a:srgbClr val="132A2F"/>
              </a:solidFill>
              <a:latin typeface="New York"/>
              <a:ea typeface="New York"/>
              <a:cs typeface="New York"/>
            </a:endParaRPr>
          </a:p>
        </p:txBody>
      </p:sp>
      <p:sp>
        <p:nvSpPr>
          <p:cNvPr id="14" name="Rectangles 13"/>
          <p:cNvSpPr>
            <a:spLocks noGrp="1"/>
          </p:cNvSpPr>
          <p:nvPr/>
        </p:nvSpPr>
        <p:spPr>
          <a:xfrm>
            <a:off x="7200900" y="2562225"/>
            <a:ext cx="1819275"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132A2F"/>
                </a:solidFill>
                <a:latin typeface="Avenir Next" panose="020B0803020202020204"/>
                <a:ea typeface="Avenir Next" panose="020B0803020202020204"/>
                <a:cs typeface="Avenir Next" panose="020B0803020202020204"/>
              </a:defRPr>
            </a:pPr>
            <a:r>
              <a:rPr sz="715" b="0">
                <a:solidFill>
                  <a:srgbClr val="132A2F"/>
                </a:solidFill>
                <a:latin typeface="Avenir Next" panose="020B0803020202020204"/>
                <a:ea typeface="Avenir Next" panose="020B0803020202020204"/>
                <a:cs typeface="Avenir Next" panose="020B0803020202020204"/>
              </a:rPr>
              <a:t>48 attrition cases · 16.33%</a:t>
            </a:r>
            <a:endParaRPr sz="715" b="0">
              <a:solidFill>
                <a:srgbClr val="132A2F"/>
              </a:solidFill>
              <a:latin typeface="Avenir Next" panose="020B0803020202020204"/>
              <a:ea typeface="Avenir Next" panose="020B0803020202020204"/>
              <a:cs typeface="Avenir Next" panose="020B0803020202020204"/>
            </a:endParaRPr>
          </a:p>
        </p:txBody>
      </p:sp>
      <p:sp>
        <p:nvSpPr>
          <p:cNvPr id="15" name="Rectangles 14"/>
          <p:cNvSpPr>
            <a:spLocks noGrp="1"/>
          </p:cNvSpPr>
          <p:nvPr/>
        </p:nvSpPr>
        <p:spPr>
          <a:xfrm>
            <a:off x="9191625" y="1828800"/>
            <a:ext cx="2162175" cy="1000125"/>
          </a:xfrm>
          <a:prstGeom prst="rect">
            <a:avLst/>
          </a:prstGeom>
          <a:solidFill>
            <a:srgbClr val="2A7F78"/>
          </a:solidFill>
          <a:ln w="0">
            <a:solidFill>
              <a:srgbClr val="000000">
                <a:alpha val="0"/>
              </a:srgbClr>
            </a:solidFill>
            <a:prstDash val="solid"/>
          </a:ln>
        </p:spPr>
      </p:sp>
      <p:sp>
        <p:nvSpPr>
          <p:cNvPr id="16" name="Rectangles 15"/>
          <p:cNvSpPr>
            <a:spLocks noGrp="1"/>
          </p:cNvSpPr>
          <p:nvPr/>
        </p:nvSpPr>
        <p:spPr>
          <a:xfrm>
            <a:off x="9363075" y="1962150"/>
            <a:ext cx="1819275"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F7F2E9"/>
                </a:solidFill>
                <a:latin typeface="Avenir Next" panose="020B0803020202020204"/>
                <a:ea typeface="Avenir Next" panose="020B0803020202020204"/>
                <a:cs typeface="Avenir Next" panose="020B0803020202020204"/>
              </a:defRPr>
            </a:pPr>
            <a:r>
              <a:rPr sz="715" b="1">
                <a:solidFill>
                  <a:srgbClr val="F7F2E9"/>
                </a:solidFill>
                <a:latin typeface="Avenir Next" panose="020B0803020202020204"/>
                <a:ea typeface="Avenir Next" panose="020B0803020202020204"/>
                <a:cs typeface="Avenir Next" panose="020B0803020202020204"/>
              </a:rPr>
              <a:t>TEST</a:t>
            </a:r>
            <a:endParaRPr sz="715" b="1">
              <a:solidFill>
                <a:srgbClr val="F7F2E9"/>
              </a:solidFill>
              <a:latin typeface="Avenir Next" panose="020B0803020202020204"/>
              <a:ea typeface="Avenir Next" panose="020B0803020202020204"/>
              <a:cs typeface="Avenir Next" panose="020B0803020202020204"/>
            </a:endParaRPr>
          </a:p>
        </p:txBody>
      </p:sp>
      <p:sp>
        <p:nvSpPr>
          <p:cNvPr id="17" name="Rectangles 16"/>
          <p:cNvSpPr>
            <a:spLocks noGrp="1"/>
          </p:cNvSpPr>
          <p:nvPr/>
        </p:nvSpPr>
        <p:spPr>
          <a:xfrm>
            <a:off x="9363075" y="2190750"/>
            <a:ext cx="1819275"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F7F2E9"/>
                </a:solidFill>
                <a:latin typeface="New York"/>
                <a:ea typeface="New York"/>
                <a:cs typeface="New York"/>
              </a:defRPr>
            </a:pPr>
            <a:r>
              <a:rPr sz="2100" b="1">
                <a:solidFill>
                  <a:srgbClr val="F7F2E9"/>
                </a:solidFill>
                <a:latin typeface="New York"/>
                <a:ea typeface="New York"/>
                <a:cs typeface="New York"/>
              </a:rPr>
              <a:t>294</a:t>
            </a:r>
            <a:endParaRPr sz="2100" b="1">
              <a:solidFill>
                <a:srgbClr val="F7F2E9"/>
              </a:solidFill>
              <a:latin typeface="New York"/>
              <a:ea typeface="New York"/>
              <a:cs typeface="New York"/>
            </a:endParaRPr>
          </a:p>
        </p:txBody>
      </p:sp>
      <p:sp>
        <p:nvSpPr>
          <p:cNvPr id="18" name="Rectangles 17"/>
          <p:cNvSpPr>
            <a:spLocks noGrp="1"/>
          </p:cNvSpPr>
          <p:nvPr/>
        </p:nvSpPr>
        <p:spPr>
          <a:xfrm>
            <a:off x="9363075" y="2562225"/>
            <a:ext cx="1819275"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F7F2E9"/>
                </a:solidFill>
                <a:latin typeface="Avenir Next" panose="020B0803020202020204"/>
                <a:ea typeface="Avenir Next" panose="020B0803020202020204"/>
                <a:cs typeface="Avenir Next" panose="020B0803020202020204"/>
              </a:defRPr>
            </a:pPr>
            <a:r>
              <a:rPr sz="715" b="0">
                <a:solidFill>
                  <a:srgbClr val="F7F2E9"/>
                </a:solidFill>
                <a:latin typeface="Avenir Next" panose="020B0803020202020204"/>
                <a:ea typeface="Avenir Next" panose="020B0803020202020204"/>
                <a:cs typeface="Avenir Next" panose="020B0803020202020204"/>
              </a:rPr>
              <a:t>47 attrition cases · 15.99%</a:t>
            </a:r>
            <a:endParaRPr sz="715" b="0">
              <a:solidFill>
                <a:srgbClr val="F7F2E9"/>
              </a:solidFill>
              <a:latin typeface="Avenir Next" panose="020B0803020202020204"/>
              <a:ea typeface="Avenir Next" panose="020B0803020202020204"/>
              <a:cs typeface="Avenir Next" panose="020B0803020202020204"/>
            </a:endParaRPr>
          </a:p>
        </p:txBody>
      </p:sp>
      <p:sp>
        <p:nvSpPr>
          <p:cNvPr id="19" name="Rectangles 18"/>
          <p:cNvSpPr>
            <a:spLocks noGrp="1"/>
          </p:cNvSpPr>
          <p:nvPr/>
        </p:nvSpPr>
        <p:spPr>
          <a:xfrm>
            <a:off x="5962650" y="2905125"/>
            <a:ext cx="68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60%</a:t>
            </a:r>
            <a:endParaRPr sz="675" b="1">
              <a:solidFill>
                <a:srgbClr val="5F6D6D"/>
              </a:solidFill>
              <a:latin typeface="Avenir Next" panose="020B0803020202020204"/>
              <a:ea typeface="Avenir Next" panose="020B0803020202020204"/>
              <a:cs typeface="Avenir Next" panose="020B0803020202020204"/>
            </a:endParaRPr>
          </a:p>
        </p:txBody>
      </p:sp>
      <p:sp>
        <p:nvSpPr>
          <p:cNvPr id="20" name="Rectangles 19"/>
          <p:cNvSpPr>
            <a:spLocks noGrp="1"/>
          </p:cNvSpPr>
          <p:nvPr/>
        </p:nvSpPr>
        <p:spPr>
          <a:xfrm>
            <a:off x="8115300" y="2905125"/>
            <a:ext cx="68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20%</a:t>
            </a:r>
            <a:endParaRPr sz="675" b="1">
              <a:solidFill>
                <a:srgbClr val="5F6D6D"/>
              </a:solidFill>
              <a:latin typeface="Avenir Next" panose="020B0803020202020204"/>
              <a:ea typeface="Avenir Next" panose="020B0803020202020204"/>
              <a:cs typeface="Avenir Next" panose="020B0803020202020204"/>
            </a:endParaRPr>
          </a:p>
        </p:txBody>
      </p:sp>
      <p:sp>
        <p:nvSpPr>
          <p:cNvPr id="21" name="Rectangles 20"/>
          <p:cNvSpPr>
            <a:spLocks noGrp="1"/>
          </p:cNvSpPr>
          <p:nvPr/>
        </p:nvSpPr>
        <p:spPr>
          <a:xfrm>
            <a:off x="10287000" y="2905125"/>
            <a:ext cx="685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20%</a:t>
            </a:r>
            <a:endParaRPr sz="675" b="1">
              <a:solidFill>
                <a:srgbClr val="5F6D6D"/>
              </a:solidFill>
              <a:latin typeface="Avenir Next" panose="020B0803020202020204"/>
              <a:ea typeface="Avenir Next" panose="020B0803020202020204"/>
              <a:cs typeface="Avenir Next" panose="020B0803020202020204"/>
            </a:endParaRPr>
          </a:p>
        </p:txBody>
      </p:sp>
      <p:sp>
        <p:nvSpPr>
          <p:cNvPr id="22" name="Rectangles 21"/>
          <p:cNvSpPr>
            <a:spLocks noGrp="1"/>
          </p:cNvSpPr>
          <p:nvPr/>
        </p:nvSpPr>
        <p:spPr>
          <a:xfrm>
            <a:off x="552450" y="3352800"/>
            <a:ext cx="10801350" cy="9525"/>
          </a:xfrm>
          <a:prstGeom prst="rect">
            <a:avLst/>
          </a:prstGeom>
          <a:solidFill>
            <a:srgbClr val="D9D2C7"/>
          </a:solidFill>
          <a:ln w="0">
            <a:solidFill>
              <a:srgbClr val="000000">
                <a:alpha val="0"/>
              </a:srgbClr>
            </a:solidFill>
            <a:prstDash val="solid"/>
          </a:ln>
        </p:spPr>
      </p:sp>
      <p:sp>
        <p:nvSpPr>
          <p:cNvPr id="23" name="Rectangles 22"/>
          <p:cNvSpPr>
            <a:spLocks noGrp="1"/>
          </p:cNvSpPr>
          <p:nvPr/>
        </p:nvSpPr>
        <p:spPr>
          <a:xfrm>
            <a:off x="552450" y="3686175"/>
            <a:ext cx="38100" cy="1409700"/>
          </a:xfrm>
          <a:prstGeom prst="rect">
            <a:avLst/>
          </a:prstGeom>
          <a:solidFill>
            <a:srgbClr val="D6A83A"/>
          </a:solidFill>
          <a:ln w="0">
            <a:solidFill>
              <a:srgbClr val="000000">
                <a:alpha val="0"/>
              </a:srgbClr>
            </a:solidFill>
            <a:prstDash val="solid"/>
          </a:ln>
        </p:spPr>
      </p:sp>
      <p:sp>
        <p:nvSpPr>
          <p:cNvPr id="24" name="Rectangles 23"/>
          <p:cNvSpPr>
            <a:spLocks noGrp="1"/>
          </p:cNvSpPr>
          <p:nvPr/>
        </p:nvSpPr>
        <p:spPr>
          <a:xfrm>
            <a:off x="723900" y="3686175"/>
            <a:ext cx="3257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D6A83A"/>
                </a:solidFill>
                <a:latin typeface="Avenir Next" panose="020B0803020202020204"/>
                <a:ea typeface="Avenir Next" panose="020B0803020202020204"/>
                <a:cs typeface="Avenir Next" panose="020B0803020202020204"/>
              </a:defRPr>
            </a:pPr>
            <a:r>
              <a:rPr sz="675" b="1">
                <a:solidFill>
                  <a:srgbClr val="D6A83A"/>
                </a:solidFill>
                <a:latin typeface="Avenir Next" panose="020B0803020202020204"/>
                <a:ea typeface="Avenir Next" panose="020B0803020202020204"/>
                <a:cs typeface="Avenir Next" panose="020B0803020202020204"/>
              </a:rPr>
              <a:t>FIT</a:t>
            </a:r>
            <a:endParaRPr sz="675" b="1">
              <a:solidFill>
                <a:srgbClr val="D6A83A"/>
              </a:solidFill>
              <a:latin typeface="Avenir Next" panose="020B0803020202020204"/>
              <a:ea typeface="Avenir Next" panose="020B0803020202020204"/>
              <a:cs typeface="Avenir Next" panose="020B0803020202020204"/>
            </a:endParaRPr>
          </a:p>
        </p:txBody>
      </p:sp>
      <p:sp>
        <p:nvSpPr>
          <p:cNvPr id="25" name="Rectangles 24"/>
          <p:cNvSpPr>
            <a:spLocks noGrp="1"/>
          </p:cNvSpPr>
          <p:nvPr/>
        </p:nvSpPr>
        <p:spPr>
          <a:xfrm>
            <a:off x="723900" y="4029075"/>
            <a:ext cx="32575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132A2F"/>
                </a:solidFill>
                <a:latin typeface="New York"/>
                <a:ea typeface="New York"/>
                <a:cs typeface="New York"/>
              </a:defRPr>
            </a:pPr>
            <a:r>
              <a:rPr sz="1275" b="1">
                <a:solidFill>
                  <a:srgbClr val="132A2F"/>
                </a:solidFill>
                <a:latin typeface="New York"/>
                <a:ea typeface="New York"/>
                <a:cs typeface="New York"/>
              </a:rPr>
              <a:t>Learn from training only</a:t>
            </a:r>
            <a:endParaRPr sz="1275" b="1">
              <a:solidFill>
                <a:srgbClr val="132A2F"/>
              </a:solidFill>
              <a:latin typeface="New York"/>
              <a:ea typeface="New York"/>
              <a:cs typeface="New York"/>
            </a:endParaRPr>
          </a:p>
        </p:txBody>
      </p:sp>
      <p:sp>
        <p:nvSpPr>
          <p:cNvPr id="26" name="Rectangles 25"/>
          <p:cNvSpPr>
            <a:spLocks noGrp="1"/>
          </p:cNvSpPr>
          <p:nvPr/>
        </p:nvSpPr>
        <p:spPr>
          <a:xfrm>
            <a:off x="723900" y="4410075"/>
            <a:ext cx="325755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0">
                <a:solidFill>
                  <a:srgbClr val="5F6D6D"/>
                </a:solidFill>
                <a:latin typeface="Avenir Next" panose="020B0803020202020204"/>
                <a:ea typeface="Avenir Next" panose="020B0803020202020204"/>
                <a:cs typeface="Avenir Next" panose="020B0803020202020204"/>
              </a:defRPr>
            </a:pPr>
            <a:r>
              <a:rPr sz="825" b="0">
                <a:solidFill>
                  <a:srgbClr val="5F6D6D"/>
                </a:solidFill>
                <a:latin typeface="Avenir Next" panose="020B0803020202020204"/>
                <a:ea typeface="Avenir Next" panose="020B0803020202020204"/>
                <a:cs typeface="Avenir Next" panose="020B0803020202020204"/>
              </a:rPr>
              <a:t>Preprocessing · model parameters</a:t>
            </a:r>
            <a:endParaRPr sz="825" b="0">
              <a:solidFill>
                <a:srgbClr val="5F6D6D"/>
              </a:solidFill>
              <a:latin typeface="Avenir Next" panose="020B0803020202020204"/>
              <a:ea typeface="Avenir Next" panose="020B0803020202020204"/>
              <a:cs typeface="Avenir Next" panose="020B0803020202020204"/>
            </a:endParaRPr>
          </a:p>
          <a:p>
            <a:pPr algn="l">
              <a:buNone/>
              <a:defRPr sz="825" b="0">
                <a:solidFill>
                  <a:srgbClr val="5F6D6D"/>
                </a:solidFill>
                <a:latin typeface="Avenir Next" panose="020B0803020202020204"/>
                <a:ea typeface="Avenir Next" panose="020B0803020202020204"/>
                <a:cs typeface="Avenir Next" panose="020B0803020202020204"/>
              </a:defRPr>
            </a:pPr>
            <a:r>
              <a:rPr sz="825" b="0">
                <a:solidFill>
                  <a:srgbClr val="5F6D6D"/>
                </a:solidFill>
                <a:latin typeface="Avenir Next" panose="020B0803020202020204"/>
                <a:ea typeface="Avenir Next" panose="020B0803020202020204"/>
                <a:cs typeface="Avenir Next" panose="020B0803020202020204"/>
              </a:rPr>
              <a:t>feature domains · salary caps</a:t>
            </a:r>
            <a:endParaRPr sz="825" b="0">
              <a:solidFill>
                <a:srgbClr val="5F6D6D"/>
              </a:solidFill>
              <a:latin typeface="Avenir Next" panose="020B0803020202020204"/>
              <a:ea typeface="Avenir Next" panose="020B0803020202020204"/>
              <a:cs typeface="Avenir Next" panose="020B0803020202020204"/>
            </a:endParaRPr>
          </a:p>
        </p:txBody>
      </p:sp>
      <p:sp>
        <p:nvSpPr>
          <p:cNvPr id="27" name="Rectangles 26"/>
          <p:cNvSpPr>
            <a:spLocks noGrp="1"/>
          </p:cNvSpPr>
          <p:nvPr/>
        </p:nvSpPr>
        <p:spPr>
          <a:xfrm>
            <a:off x="4238625" y="3686175"/>
            <a:ext cx="38100" cy="1409700"/>
          </a:xfrm>
          <a:prstGeom prst="rect">
            <a:avLst/>
          </a:prstGeom>
          <a:solidFill>
            <a:srgbClr val="E45B4F"/>
          </a:solidFill>
          <a:ln w="0">
            <a:solidFill>
              <a:srgbClr val="000000">
                <a:alpha val="0"/>
              </a:srgbClr>
            </a:solidFill>
            <a:prstDash val="solid"/>
          </a:ln>
        </p:spPr>
      </p:sp>
      <p:sp>
        <p:nvSpPr>
          <p:cNvPr id="28" name="Rectangles 27"/>
          <p:cNvSpPr>
            <a:spLocks noGrp="1"/>
          </p:cNvSpPr>
          <p:nvPr/>
        </p:nvSpPr>
        <p:spPr>
          <a:xfrm>
            <a:off x="4410075" y="3686175"/>
            <a:ext cx="2971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E45B4F"/>
                </a:solidFill>
                <a:latin typeface="Avenir Next" panose="020B0803020202020204"/>
                <a:ea typeface="Avenir Next" panose="020B0803020202020204"/>
                <a:cs typeface="Avenir Next" panose="020B0803020202020204"/>
              </a:defRPr>
            </a:pPr>
            <a:r>
              <a:rPr sz="675" b="1">
                <a:solidFill>
                  <a:srgbClr val="E45B4F"/>
                </a:solidFill>
                <a:latin typeface="Avenir Next" panose="020B0803020202020204"/>
                <a:ea typeface="Avenir Next" panose="020B0803020202020204"/>
                <a:cs typeface="Avenir Next" panose="020B0803020202020204"/>
              </a:rPr>
              <a:t>SELECT</a:t>
            </a:r>
            <a:endParaRPr sz="675" b="1">
              <a:solidFill>
                <a:srgbClr val="E45B4F"/>
              </a:solidFill>
              <a:latin typeface="Avenir Next" panose="020B0803020202020204"/>
              <a:ea typeface="Avenir Next" panose="020B0803020202020204"/>
              <a:cs typeface="Avenir Next" panose="020B0803020202020204"/>
            </a:endParaRPr>
          </a:p>
        </p:txBody>
      </p:sp>
      <p:sp>
        <p:nvSpPr>
          <p:cNvPr id="29" name="Rectangles 28"/>
          <p:cNvSpPr>
            <a:spLocks noGrp="1"/>
          </p:cNvSpPr>
          <p:nvPr/>
        </p:nvSpPr>
        <p:spPr>
          <a:xfrm>
            <a:off x="4410075" y="4029075"/>
            <a:ext cx="29718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132A2F"/>
                </a:solidFill>
                <a:latin typeface="New York"/>
                <a:ea typeface="New York"/>
                <a:cs typeface="New York"/>
              </a:defRPr>
            </a:pPr>
            <a:r>
              <a:rPr sz="1275" b="1">
                <a:solidFill>
                  <a:srgbClr val="132A2F"/>
                </a:solidFill>
                <a:latin typeface="New York"/>
                <a:ea typeface="New York"/>
                <a:cs typeface="New York"/>
              </a:rPr>
              <a:t>Choose on validation</a:t>
            </a:r>
            <a:endParaRPr sz="1275" b="1">
              <a:solidFill>
                <a:srgbClr val="132A2F"/>
              </a:solidFill>
              <a:latin typeface="New York"/>
              <a:ea typeface="New York"/>
              <a:cs typeface="New York"/>
            </a:endParaRPr>
          </a:p>
        </p:txBody>
      </p:sp>
      <p:sp>
        <p:nvSpPr>
          <p:cNvPr id="30" name="Rectangles 29"/>
          <p:cNvSpPr>
            <a:spLocks noGrp="1"/>
          </p:cNvSpPr>
          <p:nvPr/>
        </p:nvSpPr>
        <p:spPr>
          <a:xfrm>
            <a:off x="4410075" y="4410075"/>
            <a:ext cx="29718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0">
                <a:solidFill>
                  <a:srgbClr val="5F6D6D"/>
                </a:solidFill>
                <a:latin typeface="Avenir Next" panose="020B0803020202020204"/>
                <a:ea typeface="Avenir Next" panose="020B0803020202020204"/>
                <a:cs typeface="Avenir Next" panose="020B0803020202020204"/>
              </a:defRPr>
            </a:pPr>
            <a:r>
              <a:rPr sz="825" b="0">
                <a:solidFill>
                  <a:srgbClr val="5F6D6D"/>
                </a:solidFill>
                <a:latin typeface="Avenir Next" panose="020B0803020202020204"/>
                <a:ea typeface="Avenir Next" panose="020B0803020202020204"/>
                <a:cs typeface="Avenir Next" panose="020B0803020202020204"/>
              </a:rPr>
              <a:t>Highest validation AP</a:t>
            </a:r>
            <a:endParaRPr sz="825" b="0">
              <a:solidFill>
                <a:srgbClr val="5F6D6D"/>
              </a:solidFill>
              <a:latin typeface="Avenir Next" panose="020B0803020202020204"/>
              <a:ea typeface="Avenir Next" panose="020B0803020202020204"/>
              <a:cs typeface="Avenir Next" panose="020B0803020202020204"/>
            </a:endParaRPr>
          </a:p>
          <a:p>
            <a:pPr algn="l">
              <a:buNone/>
              <a:defRPr sz="825" b="0">
                <a:solidFill>
                  <a:srgbClr val="5F6D6D"/>
                </a:solidFill>
                <a:latin typeface="Avenir Next" panose="020B0803020202020204"/>
                <a:ea typeface="Avenir Next" panose="020B0803020202020204"/>
                <a:cs typeface="Avenir Next" panose="020B0803020202020204"/>
              </a:defRPr>
            </a:pPr>
            <a:r>
              <a:rPr sz="825" b="0">
                <a:solidFill>
                  <a:srgbClr val="5F6D6D"/>
                </a:solidFill>
                <a:latin typeface="Avenir Next" panose="020B0803020202020204"/>
                <a:ea typeface="Avenir Next" panose="020B0803020202020204"/>
                <a:cs typeface="Avenir Next" panose="020B0803020202020204"/>
              </a:rPr>
              <a:t>F2-optimal threshold = 0.37</a:t>
            </a:r>
            <a:endParaRPr sz="825" b="0">
              <a:solidFill>
                <a:srgbClr val="5F6D6D"/>
              </a:solidFill>
              <a:latin typeface="Avenir Next" panose="020B0803020202020204"/>
              <a:ea typeface="Avenir Next" panose="020B0803020202020204"/>
              <a:cs typeface="Avenir Next" panose="020B0803020202020204"/>
            </a:endParaRPr>
          </a:p>
        </p:txBody>
      </p:sp>
      <p:sp>
        <p:nvSpPr>
          <p:cNvPr id="31" name="Rectangles 30"/>
          <p:cNvSpPr>
            <a:spLocks noGrp="1"/>
          </p:cNvSpPr>
          <p:nvPr/>
        </p:nvSpPr>
        <p:spPr>
          <a:xfrm>
            <a:off x="7639050" y="3686175"/>
            <a:ext cx="38100" cy="1409700"/>
          </a:xfrm>
          <a:prstGeom prst="rect">
            <a:avLst/>
          </a:prstGeom>
          <a:solidFill>
            <a:srgbClr val="2A7F78"/>
          </a:solidFill>
          <a:ln w="0">
            <a:solidFill>
              <a:srgbClr val="000000">
                <a:alpha val="0"/>
              </a:srgbClr>
            </a:solidFill>
            <a:prstDash val="solid"/>
          </a:ln>
        </p:spPr>
      </p:sp>
      <p:sp>
        <p:nvSpPr>
          <p:cNvPr id="32" name="Rectangles 31"/>
          <p:cNvSpPr>
            <a:spLocks noGrp="1"/>
          </p:cNvSpPr>
          <p:nvPr/>
        </p:nvSpPr>
        <p:spPr>
          <a:xfrm>
            <a:off x="7810500" y="3686175"/>
            <a:ext cx="35433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2A7F78"/>
                </a:solidFill>
                <a:latin typeface="Avenir Next" panose="020B0803020202020204"/>
                <a:ea typeface="Avenir Next" panose="020B0803020202020204"/>
                <a:cs typeface="Avenir Next" panose="020B0803020202020204"/>
              </a:defRPr>
            </a:pPr>
            <a:r>
              <a:rPr sz="675" b="1">
                <a:solidFill>
                  <a:srgbClr val="2A7F78"/>
                </a:solidFill>
                <a:latin typeface="Avenir Next" panose="020B0803020202020204"/>
                <a:ea typeface="Avenir Next" panose="020B0803020202020204"/>
                <a:cs typeface="Avenir Next" panose="020B0803020202020204"/>
              </a:rPr>
              <a:t>AUDIT</a:t>
            </a:r>
            <a:endParaRPr sz="675" b="1">
              <a:solidFill>
                <a:srgbClr val="2A7F78"/>
              </a:solidFill>
              <a:latin typeface="Avenir Next" panose="020B0803020202020204"/>
              <a:ea typeface="Avenir Next" panose="020B0803020202020204"/>
              <a:cs typeface="Avenir Next" panose="020B0803020202020204"/>
            </a:endParaRPr>
          </a:p>
        </p:txBody>
      </p:sp>
      <p:sp>
        <p:nvSpPr>
          <p:cNvPr id="33" name="Rectangles 32"/>
          <p:cNvSpPr>
            <a:spLocks noGrp="1"/>
          </p:cNvSpPr>
          <p:nvPr/>
        </p:nvSpPr>
        <p:spPr>
          <a:xfrm>
            <a:off x="7810500" y="4029075"/>
            <a:ext cx="35433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132A2F"/>
                </a:solidFill>
                <a:latin typeface="New York"/>
                <a:ea typeface="New York"/>
                <a:cs typeface="New York"/>
              </a:defRPr>
            </a:pPr>
            <a:r>
              <a:rPr sz="1275" b="1">
                <a:solidFill>
                  <a:srgbClr val="132A2F"/>
                </a:solidFill>
                <a:latin typeface="New York"/>
                <a:ea typeface="New York"/>
                <a:cs typeface="New York"/>
              </a:rPr>
              <a:t>Evaluate once on test</a:t>
            </a:r>
            <a:endParaRPr sz="1275" b="1">
              <a:solidFill>
                <a:srgbClr val="132A2F"/>
              </a:solidFill>
              <a:latin typeface="New York"/>
              <a:ea typeface="New York"/>
              <a:cs typeface="New York"/>
            </a:endParaRPr>
          </a:p>
        </p:txBody>
      </p:sp>
      <p:sp>
        <p:nvSpPr>
          <p:cNvPr id="34" name="Rectangles 33"/>
          <p:cNvSpPr>
            <a:spLocks noGrp="1"/>
          </p:cNvSpPr>
          <p:nvPr/>
        </p:nvSpPr>
        <p:spPr>
          <a:xfrm>
            <a:off x="7810500" y="4410075"/>
            <a:ext cx="3543300" cy="514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0">
                <a:solidFill>
                  <a:srgbClr val="5F6D6D"/>
                </a:solidFill>
                <a:latin typeface="Avenir Next" panose="020B0803020202020204"/>
                <a:ea typeface="Avenir Next" panose="020B0803020202020204"/>
                <a:cs typeface="Avenir Next" panose="020B0803020202020204"/>
              </a:defRPr>
            </a:pPr>
            <a:r>
              <a:rPr sz="825" b="0">
                <a:solidFill>
                  <a:srgbClr val="5F6D6D"/>
                </a:solidFill>
                <a:latin typeface="Avenir Next" panose="020B0803020202020204"/>
                <a:ea typeface="Avenir Next" panose="020B0803020202020204"/>
                <a:cs typeface="Avenir Next" panose="020B0803020202020204"/>
              </a:rPr>
              <a:t>Performance · SHAP · high-risk cohort</a:t>
            </a:r>
            <a:endParaRPr sz="825" b="0">
              <a:solidFill>
                <a:srgbClr val="5F6D6D"/>
              </a:solidFill>
              <a:latin typeface="Avenir Next" panose="020B0803020202020204"/>
              <a:ea typeface="Avenir Next" panose="020B0803020202020204"/>
              <a:cs typeface="Avenir Next" panose="020B0803020202020204"/>
            </a:endParaRPr>
          </a:p>
          <a:p>
            <a:pPr algn="l">
              <a:buNone/>
              <a:defRPr sz="825" b="0">
                <a:solidFill>
                  <a:srgbClr val="5F6D6D"/>
                </a:solidFill>
                <a:latin typeface="Avenir Next" panose="020B0803020202020204"/>
                <a:ea typeface="Avenir Next" panose="020B0803020202020204"/>
                <a:cs typeface="Avenir Next" panose="020B0803020202020204"/>
              </a:defRPr>
            </a:pPr>
            <a:r>
              <a:rPr sz="825" b="0">
                <a:solidFill>
                  <a:srgbClr val="5F6D6D"/>
                </a:solidFill>
                <a:latin typeface="Avenir Next" panose="020B0803020202020204"/>
                <a:ea typeface="Avenir Next" panose="020B0803020202020204"/>
                <a:cs typeface="Avenir Next" panose="020B0803020202020204"/>
              </a:rPr>
              <a:t>counterfactual feasibility</a:t>
            </a:r>
            <a:endParaRPr sz="825" b="0">
              <a:solidFill>
                <a:srgbClr val="5F6D6D"/>
              </a:solidFill>
              <a:latin typeface="Avenir Next" panose="020B0803020202020204"/>
              <a:ea typeface="Avenir Next" panose="020B0803020202020204"/>
              <a:cs typeface="Avenir Next" panose="020B0803020202020204"/>
            </a:endParaRPr>
          </a:p>
        </p:txBody>
      </p:sp>
      <p:sp>
        <p:nvSpPr>
          <p:cNvPr id="35" name="Rectangles 34"/>
          <p:cNvSpPr>
            <a:spLocks noGrp="1"/>
          </p:cNvSpPr>
          <p:nvPr/>
        </p:nvSpPr>
        <p:spPr>
          <a:xfrm>
            <a:off x="552450" y="5429250"/>
            <a:ext cx="10801350" cy="514350"/>
          </a:xfrm>
          <a:prstGeom prst="rect">
            <a:avLst/>
          </a:prstGeom>
          <a:solidFill>
            <a:srgbClr val="FBF8F2"/>
          </a:solidFill>
          <a:ln w="9525">
            <a:solidFill>
              <a:srgbClr val="D9D2C7"/>
            </a:solidFill>
            <a:prstDash val="solid"/>
          </a:ln>
        </p:spPr>
      </p:sp>
      <p:sp>
        <p:nvSpPr>
          <p:cNvPr id="36" name="Rectangles 35"/>
          <p:cNvSpPr>
            <a:spLocks noGrp="1"/>
          </p:cNvSpPr>
          <p:nvPr/>
        </p:nvSpPr>
        <p:spPr>
          <a:xfrm>
            <a:off x="742950" y="5600700"/>
            <a:ext cx="1238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DATA QUALITY</a:t>
            </a:r>
            <a:endParaRPr sz="675" b="1">
              <a:solidFill>
                <a:srgbClr val="5F6D6D"/>
              </a:solidFill>
              <a:latin typeface="Avenir Next" panose="020B0803020202020204"/>
              <a:ea typeface="Avenir Next" panose="020B0803020202020204"/>
              <a:cs typeface="Avenir Next" panose="020B0803020202020204"/>
            </a:endParaRPr>
          </a:p>
        </p:txBody>
      </p:sp>
      <p:sp>
        <p:nvSpPr>
          <p:cNvPr id="37" name="Rectangles 36"/>
          <p:cNvSpPr>
            <a:spLocks noGrp="1"/>
          </p:cNvSpPr>
          <p:nvPr/>
        </p:nvSpPr>
        <p:spPr>
          <a:xfrm>
            <a:off x="2076450" y="5562600"/>
            <a:ext cx="88773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1,470 synthetic records · 35 columns · no missing cells · no duplicates · no encoded tenure violations</a:t>
            </a:r>
            <a:endParaRPr sz="825" b="1">
              <a:solidFill>
                <a:srgbClr val="132A2F"/>
              </a:solidFill>
              <a:latin typeface="Avenir Next" panose="020B0803020202020204"/>
              <a:ea typeface="Avenir Next" panose="020B0803020202020204"/>
              <a:cs typeface="Avenir Next" panose="020B0803020202020204"/>
            </a:endParaRPr>
          </a:p>
        </p:txBody>
      </p:sp>
      <p:sp>
        <p:nvSpPr>
          <p:cNvPr id="38" name="Rectangles 37"/>
          <p:cNvSpPr>
            <a:spLocks noGrp="1"/>
          </p:cNvSpPr>
          <p:nvPr/>
        </p:nvSpPr>
        <p:spPr>
          <a:xfrm>
            <a:off x="552450" y="6486525"/>
            <a:ext cx="11087100" cy="9525"/>
          </a:xfrm>
          <a:prstGeom prst="rect">
            <a:avLst/>
          </a:prstGeom>
          <a:solidFill>
            <a:srgbClr val="D9D2C7"/>
          </a:solidFill>
          <a:ln w="0">
            <a:solidFill>
              <a:srgbClr val="000000">
                <a:alpha val="0"/>
              </a:srgbClr>
            </a:solidFill>
            <a:prstDash val="solid"/>
          </a:ln>
        </p:spPr>
      </p:sp>
      <p:sp>
        <p:nvSpPr>
          <p:cNvPr id="39" name="Rectangles 38"/>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Source: split_summary.csv and manuscript Methods; stratified seed 42</a:t>
            </a:r>
            <a:endParaRPr sz="640" b="0">
              <a:solidFill>
                <a:srgbClr val="5F6D6D"/>
              </a:solidFill>
              <a:latin typeface="Avenir Next" panose="020B0803020202020204"/>
              <a:ea typeface="Avenir Next" panose="020B0803020202020204"/>
              <a:cs typeface="Avenir Next" panose="020B0803020202020204"/>
            </a:endParaRPr>
          </a:p>
        </p:txBody>
      </p:sp>
      <p:sp>
        <p:nvSpPr>
          <p:cNvPr id="40" name="Rectangles 39"/>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06</a:t>
            </a:r>
            <a:endParaRPr sz="675" b="1">
              <a:solidFill>
                <a:srgbClr val="5F6D6D"/>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4F0E8"/>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132A2F"/>
          </a:solidFill>
          <a:ln w="0">
            <a:solidFill>
              <a:srgbClr val="000000">
                <a:alpha val="0"/>
              </a:srgbClr>
            </a:solidFill>
            <a:prstDash val="solid"/>
          </a:ln>
        </p:spPr>
      </p:sp>
      <p:sp>
        <p:nvSpPr>
          <p:cNvPr id="4" name="kicker-05-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05-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PREDICTIVE EVIDENCE</a:t>
            </a:r>
            <a:endParaRPr sz="750" b="1">
              <a:solidFill>
                <a:srgbClr val="5F6D6D"/>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685800"/>
            <a:ext cx="10668000" cy="914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132A2F"/>
                </a:solidFill>
                <a:latin typeface="New York"/>
                <a:ea typeface="New York"/>
                <a:cs typeface="New York"/>
              </a:defRPr>
            </a:pPr>
            <a:r>
              <a:rPr sz="2550" b="1">
                <a:solidFill>
                  <a:srgbClr val="132A2F"/>
                </a:solidFill>
                <a:latin typeface="New York"/>
                <a:ea typeface="New York"/>
                <a:cs typeface="New York"/>
              </a:rPr>
              <a:t>Logistic regression captured 79% of observed leavers—but most flags were false positives.</a:t>
            </a:r>
            <a:endParaRPr sz="2550" b="1">
              <a:solidFill>
                <a:srgbClr val="132A2F"/>
              </a:solidFill>
              <a:latin typeface="New York"/>
              <a:ea typeface="New York"/>
              <a:cs typeface="New York"/>
            </a:endParaRPr>
          </a:p>
        </p:txBody>
      </p:sp>
      <p:sp>
        <p:nvSpPr>
          <p:cNvPr id="7" name="Rectangles 6"/>
          <p:cNvSpPr>
            <a:spLocks noGrp="1"/>
          </p:cNvSpPr>
          <p:nvPr/>
        </p:nvSpPr>
        <p:spPr>
          <a:xfrm>
            <a:off x="552450" y="1828800"/>
            <a:ext cx="4000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VALIDATION AVERAGE PRECISION</a:t>
            </a:r>
            <a:endParaRPr sz="750" b="1">
              <a:solidFill>
                <a:srgbClr val="5F6D6D"/>
              </a:solidFill>
              <a:latin typeface="Avenir Next" panose="020B0803020202020204"/>
              <a:ea typeface="Avenir Next" panose="020B0803020202020204"/>
              <a:cs typeface="Avenir Next" panose="020B0803020202020204"/>
            </a:endParaRPr>
          </a:p>
        </p:txBody>
      </p:sp>
      <p:sp>
        <p:nvSpPr>
          <p:cNvPr id="8" name="Rectangles 7"/>
          <p:cNvSpPr>
            <a:spLocks noGrp="1"/>
          </p:cNvSpPr>
          <p:nvPr/>
        </p:nvSpPr>
        <p:spPr>
          <a:xfrm>
            <a:off x="552450" y="2238375"/>
            <a:ext cx="143827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Logistic regression</a:t>
            </a:r>
            <a:endParaRPr sz="825" b="1">
              <a:solidFill>
                <a:srgbClr val="132A2F"/>
              </a:solidFill>
              <a:latin typeface="Avenir Next" panose="020B0803020202020204"/>
              <a:ea typeface="Avenir Next" panose="020B0803020202020204"/>
              <a:cs typeface="Avenir Next" panose="020B0803020202020204"/>
            </a:endParaRPr>
          </a:p>
        </p:txBody>
      </p:sp>
      <p:sp>
        <p:nvSpPr>
          <p:cNvPr id="9" name="Rectangles 8"/>
          <p:cNvSpPr>
            <a:spLocks noGrp="1"/>
          </p:cNvSpPr>
          <p:nvPr/>
        </p:nvSpPr>
        <p:spPr>
          <a:xfrm>
            <a:off x="2124075" y="2276475"/>
            <a:ext cx="3429000" cy="133350"/>
          </a:xfrm>
          <a:prstGeom prst="rect">
            <a:avLst/>
          </a:prstGeom>
          <a:solidFill>
            <a:srgbClr val="D9D2C7"/>
          </a:solidFill>
          <a:ln w="0">
            <a:solidFill>
              <a:srgbClr val="000000">
                <a:alpha val="0"/>
              </a:srgbClr>
            </a:solidFill>
            <a:prstDash val="solid"/>
          </a:ln>
        </p:spPr>
      </p:sp>
      <p:sp>
        <p:nvSpPr>
          <p:cNvPr id="10" name="Rectangles 9"/>
          <p:cNvSpPr>
            <a:spLocks noGrp="1"/>
          </p:cNvSpPr>
          <p:nvPr/>
        </p:nvSpPr>
        <p:spPr>
          <a:xfrm>
            <a:off x="2124075" y="2276475"/>
            <a:ext cx="3022795" cy="133350"/>
          </a:xfrm>
          <a:prstGeom prst="rect">
            <a:avLst/>
          </a:prstGeom>
          <a:solidFill>
            <a:srgbClr val="2A7F78"/>
          </a:solidFill>
          <a:ln w="0">
            <a:solidFill>
              <a:srgbClr val="000000">
                <a:alpha val="0"/>
              </a:srgbClr>
            </a:solidFill>
            <a:prstDash val="solid"/>
          </a:ln>
        </p:spPr>
      </p:sp>
      <p:sp>
        <p:nvSpPr>
          <p:cNvPr id="11" name="Rectangles 10"/>
          <p:cNvSpPr>
            <a:spLocks noGrp="1"/>
          </p:cNvSpPr>
          <p:nvPr/>
        </p:nvSpPr>
        <p:spPr>
          <a:xfrm>
            <a:off x="5667375" y="2228850"/>
            <a:ext cx="5905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0.573</a:t>
            </a:r>
            <a:endParaRPr sz="825" b="1">
              <a:solidFill>
                <a:srgbClr val="132A2F"/>
              </a:solidFill>
              <a:latin typeface="Avenir Next" panose="020B0803020202020204"/>
              <a:ea typeface="Avenir Next" panose="020B0803020202020204"/>
              <a:cs typeface="Avenir Next" panose="020B0803020202020204"/>
            </a:endParaRPr>
          </a:p>
        </p:txBody>
      </p:sp>
      <p:sp>
        <p:nvSpPr>
          <p:cNvPr id="12" name="Rectangles 11"/>
          <p:cNvSpPr>
            <a:spLocks noGrp="1"/>
          </p:cNvSpPr>
          <p:nvPr/>
        </p:nvSpPr>
        <p:spPr>
          <a:xfrm>
            <a:off x="552450" y="2762250"/>
            <a:ext cx="143827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0">
                <a:solidFill>
                  <a:srgbClr val="132A2F"/>
                </a:solidFill>
                <a:latin typeface="Avenir Next" panose="020B0803020202020204"/>
                <a:ea typeface="Avenir Next" panose="020B0803020202020204"/>
                <a:cs typeface="Avenir Next" panose="020B0803020202020204"/>
              </a:defRPr>
            </a:pPr>
            <a:r>
              <a:rPr sz="825" b="0">
                <a:solidFill>
                  <a:srgbClr val="132A2F"/>
                </a:solidFill>
                <a:latin typeface="Avenir Next" panose="020B0803020202020204"/>
                <a:ea typeface="Avenir Next" panose="020B0803020202020204"/>
                <a:cs typeface="Avenir Next" panose="020B0803020202020204"/>
              </a:rPr>
              <a:t>XGBoost</a:t>
            </a:r>
            <a:endParaRPr sz="825" b="0">
              <a:solidFill>
                <a:srgbClr val="132A2F"/>
              </a:solidFill>
              <a:latin typeface="Avenir Next" panose="020B0803020202020204"/>
              <a:ea typeface="Avenir Next" panose="020B0803020202020204"/>
              <a:cs typeface="Avenir Next" panose="020B0803020202020204"/>
            </a:endParaRPr>
          </a:p>
        </p:txBody>
      </p:sp>
      <p:sp>
        <p:nvSpPr>
          <p:cNvPr id="13" name="Rectangles 12"/>
          <p:cNvSpPr>
            <a:spLocks noGrp="1"/>
          </p:cNvSpPr>
          <p:nvPr/>
        </p:nvSpPr>
        <p:spPr>
          <a:xfrm>
            <a:off x="2124075" y="2800350"/>
            <a:ext cx="3429000" cy="133350"/>
          </a:xfrm>
          <a:prstGeom prst="rect">
            <a:avLst/>
          </a:prstGeom>
          <a:solidFill>
            <a:srgbClr val="D9D2C7"/>
          </a:solidFill>
          <a:ln w="0">
            <a:solidFill>
              <a:srgbClr val="000000">
                <a:alpha val="0"/>
              </a:srgbClr>
            </a:solidFill>
            <a:prstDash val="solid"/>
          </a:ln>
        </p:spPr>
      </p:sp>
      <p:sp>
        <p:nvSpPr>
          <p:cNvPr id="14" name="Rectangles 13"/>
          <p:cNvSpPr>
            <a:spLocks noGrp="1"/>
          </p:cNvSpPr>
          <p:nvPr/>
        </p:nvSpPr>
        <p:spPr>
          <a:xfrm>
            <a:off x="2124075" y="2800350"/>
            <a:ext cx="2959491" cy="133350"/>
          </a:xfrm>
          <a:prstGeom prst="rect">
            <a:avLst/>
          </a:prstGeom>
          <a:solidFill>
            <a:srgbClr val="D6A83A"/>
          </a:solidFill>
          <a:ln w="0">
            <a:solidFill>
              <a:srgbClr val="000000">
                <a:alpha val="0"/>
              </a:srgbClr>
            </a:solidFill>
            <a:prstDash val="solid"/>
          </a:ln>
        </p:spPr>
      </p:sp>
      <p:sp>
        <p:nvSpPr>
          <p:cNvPr id="15" name="Rectangles 14"/>
          <p:cNvSpPr>
            <a:spLocks noGrp="1"/>
          </p:cNvSpPr>
          <p:nvPr/>
        </p:nvSpPr>
        <p:spPr>
          <a:xfrm>
            <a:off x="5667375" y="2752725"/>
            <a:ext cx="5905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0.561</a:t>
            </a:r>
            <a:endParaRPr sz="825" b="1">
              <a:solidFill>
                <a:srgbClr val="132A2F"/>
              </a:solidFill>
              <a:latin typeface="Avenir Next" panose="020B0803020202020204"/>
              <a:ea typeface="Avenir Next" panose="020B0803020202020204"/>
              <a:cs typeface="Avenir Next" panose="020B0803020202020204"/>
            </a:endParaRPr>
          </a:p>
        </p:txBody>
      </p:sp>
      <p:sp>
        <p:nvSpPr>
          <p:cNvPr id="16" name="Rectangles 15"/>
          <p:cNvSpPr>
            <a:spLocks noGrp="1"/>
          </p:cNvSpPr>
          <p:nvPr/>
        </p:nvSpPr>
        <p:spPr>
          <a:xfrm>
            <a:off x="552450" y="3286125"/>
            <a:ext cx="143827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0">
                <a:solidFill>
                  <a:srgbClr val="132A2F"/>
                </a:solidFill>
                <a:latin typeface="Avenir Next" panose="020B0803020202020204"/>
                <a:ea typeface="Avenir Next" panose="020B0803020202020204"/>
                <a:cs typeface="Avenir Next" panose="020B0803020202020204"/>
              </a:defRPr>
            </a:pPr>
            <a:r>
              <a:rPr sz="825" b="0">
                <a:solidFill>
                  <a:srgbClr val="132A2F"/>
                </a:solidFill>
                <a:latin typeface="Avenir Next" panose="020B0803020202020204"/>
                <a:ea typeface="Avenir Next" panose="020B0803020202020204"/>
                <a:cs typeface="Avenir Next" panose="020B0803020202020204"/>
              </a:rPr>
              <a:t>Random forest</a:t>
            </a:r>
            <a:endParaRPr sz="825" b="0">
              <a:solidFill>
                <a:srgbClr val="132A2F"/>
              </a:solidFill>
              <a:latin typeface="Avenir Next" panose="020B0803020202020204"/>
              <a:ea typeface="Avenir Next" panose="020B0803020202020204"/>
              <a:cs typeface="Avenir Next" panose="020B0803020202020204"/>
            </a:endParaRPr>
          </a:p>
        </p:txBody>
      </p:sp>
      <p:sp>
        <p:nvSpPr>
          <p:cNvPr id="17" name="Rectangles 16"/>
          <p:cNvSpPr>
            <a:spLocks noGrp="1"/>
          </p:cNvSpPr>
          <p:nvPr/>
        </p:nvSpPr>
        <p:spPr>
          <a:xfrm>
            <a:off x="2124075" y="3324225"/>
            <a:ext cx="3429000" cy="133350"/>
          </a:xfrm>
          <a:prstGeom prst="rect">
            <a:avLst/>
          </a:prstGeom>
          <a:solidFill>
            <a:srgbClr val="D9D2C7"/>
          </a:solidFill>
          <a:ln w="0">
            <a:solidFill>
              <a:srgbClr val="000000">
                <a:alpha val="0"/>
              </a:srgbClr>
            </a:solidFill>
            <a:prstDash val="solid"/>
          </a:ln>
        </p:spPr>
      </p:sp>
      <p:sp>
        <p:nvSpPr>
          <p:cNvPr id="18" name="Rectangles 17"/>
          <p:cNvSpPr>
            <a:spLocks noGrp="1"/>
          </p:cNvSpPr>
          <p:nvPr/>
        </p:nvSpPr>
        <p:spPr>
          <a:xfrm>
            <a:off x="2124075" y="3324225"/>
            <a:ext cx="2537460" cy="133350"/>
          </a:xfrm>
          <a:prstGeom prst="rect">
            <a:avLst/>
          </a:prstGeom>
          <a:solidFill>
            <a:srgbClr val="A9A093"/>
          </a:solidFill>
          <a:ln w="0">
            <a:solidFill>
              <a:srgbClr val="000000">
                <a:alpha val="0"/>
              </a:srgbClr>
            </a:solidFill>
            <a:prstDash val="solid"/>
          </a:ln>
        </p:spPr>
      </p:sp>
      <p:sp>
        <p:nvSpPr>
          <p:cNvPr id="19" name="Rectangles 18"/>
          <p:cNvSpPr>
            <a:spLocks noGrp="1"/>
          </p:cNvSpPr>
          <p:nvPr/>
        </p:nvSpPr>
        <p:spPr>
          <a:xfrm>
            <a:off x="5667375" y="3276600"/>
            <a:ext cx="5905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0.481</a:t>
            </a:r>
            <a:endParaRPr sz="825" b="1">
              <a:solidFill>
                <a:srgbClr val="132A2F"/>
              </a:solidFill>
              <a:latin typeface="Avenir Next" panose="020B0803020202020204"/>
              <a:ea typeface="Avenir Next" panose="020B0803020202020204"/>
              <a:cs typeface="Avenir Next" panose="020B0803020202020204"/>
            </a:endParaRPr>
          </a:p>
        </p:txBody>
      </p:sp>
      <p:sp>
        <p:nvSpPr>
          <p:cNvPr id="20" name="Rectangles 19"/>
          <p:cNvSpPr>
            <a:spLocks noGrp="1"/>
          </p:cNvSpPr>
          <p:nvPr/>
        </p:nvSpPr>
        <p:spPr>
          <a:xfrm>
            <a:off x="2124075" y="3819525"/>
            <a:ext cx="34099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15" b="1">
                <a:solidFill>
                  <a:srgbClr val="2A7F78"/>
                </a:solidFill>
                <a:latin typeface="Avenir Next" panose="020B0803020202020204"/>
                <a:ea typeface="Avenir Next" panose="020B0803020202020204"/>
                <a:cs typeface="Avenir Next" panose="020B0803020202020204"/>
              </a:defRPr>
            </a:pPr>
            <a:r>
              <a:rPr sz="715" b="1">
                <a:solidFill>
                  <a:srgbClr val="2A7F78"/>
                </a:solidFill>
                <a:latin typeface="Avenir Next" panose="020B0803020202020204"/>
                <a:ea typeface="Avenir Next" panose="020B0803020202020204"/>
                <a:cs typeface="Avenir Next" panose="020B0803020202020204"/>
              </a:rPr>
              <a:t>Selected before test evaluation</a:t>
            </a:r>
            <a:endParaRPr sz="715" b="1">
              <a:solidFill>
                <a:srgbClr val="2A7F78"/>
              </a:solidFill>
              <a:latin typeface="Avenir Next" panose="020B0803020202020204"/>
              <a:ea typeface="Avenir Next" panose="020B0803020202020204"/>
              <a:cs typeface="Avenir Next" panose="020B0803020202020204"/>
            </a:endParaRPr>
          </a:p>
        </p:txBody>
      </p:sp>
      <p:sp>
        <p:nvSpPr>
          <p:cNvPr id="21" name="Rectangles 20"/>
          <p:cNvSpPr>
            <a:spLocks noGrp="1"/>
          </p:cNvSpPr>
          <p:nvPr/>
        </p:nvSpPr>
        <p:spPr>
          <a:xfrm>
            <a:off x="6496050" y="1752600"/>
            <a:ext cx="4857750" cy="2619375"/>
          </a:xfrm>
          <a:prstGeom prst="rect">
            <a:avLst/>
          </a:prstGeom>
          <a:solidFill>
            <a:srgbClr val="FBF8F2"/>
          </a:solidFill>
          <a:ln w="9525">
            <a:solidFill>
              <a:srgbClr val="D9D2C7"/>
            </a:solidFill>
            <a:prstDash val="solid"/>
          </a:ln>
        </p:spPr>
      </p:sp>
      <p:sp>
        <p:nvSpPr>
          <p:cNvPr id="22" name="Rectangles 21"/>
          <p:cNvSpPr>
            <a:spLocks noGrp="1"/>
          </p:cNvSpPr>
          <p:nvPr/>
        </p:nvSpPr>
        <p:spPr>
          <a:xfrm>
            <a:off x="6705600" y="1924050"/>
            <a:ext cx="44005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TEST CONFUSION MATRIX · THRESHOLD 0.37</a:t>
            </a:r>
            <a:endParaRPr sz="750" b="1">
              <a:solidFill>
                <a:srgbClr val="5F6D6D"/>
              </a:solidFill>
              <a:latin typeface="Avenir Next" panose="020B0803020202020204"/>
              <a:ea typeface="Avenir Next" panose="020B0803020202020204"/>
              <a:cs typeface="Avenir Next" panose="020B0803020202020204"/>
            </a:endParaRPr>
          </a:p>
        </p:txBody>
      </p:sp>
      <p:sp>
        <p:nvSpPr>
          <p:cNvPr id="23" name="Rectangles 22"/>
          <p:cNvSpPr>
            <a:spLocks noGrp="1"/>
          </p:cNvSpPr>
          <p:nvPr/>
        </p:nvSpPr>
        <p:spPr>
          <a:xfrm>
            <a:off x="7667625" y="2228850"/>
            <a:ext cx="1381125"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Predicted stayed</a:t>
            </a:r>
            <a:endParaRPr sz="675" b="1">
              <a:solidFill>
                <a:srgbClr val="5F6D6D"/>
              </a:solidFill>
              <a:latin typeface="Avenir Next" panose="020B0803020202020204"/>
              <a:ea typeface="Avenir Next" panose="020B0803020202020204"/>
              <a:cs typeface="Avenir Next" panose="020B0803020202020204"/>
            </a:endParaRPr>
          </a:p>
        </p:txBody>
      </p:sp>
      <p:sp>
        <p:nvSpPr>
          <p:cNvPr id="24" name="Rectangles 23"/>
          <p:cNvSpPr>
            <a:spLocks noGrp="1"/>
          </p:cNvSpPr>
          <p:nvPr/>
        </p:nvSpPr>
        <p:spPr>
          <a:xfrm>
            <a:off x="9267825" y="2228850"/>
            <a:ext cx="1381125"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Predicted left</a:t>
            </a:r>
            <a:endParaRPr sz="675" b="1">
              <a:solidFill>
                <a:srgbClr val="5F6D6D"/>
              </a:solidFill>
              <a:latin typeface="Avenir Next" panose="020B0803020202020204"/>
              <a:ea typeface="Avenir Next" panose="020B0803020202020204"/>
              <a:cs typeface="Avenir Next" panose="020B0803020202020204"/>
            </a:endParaRPr>
          </a:p>
        </p:txBody>
      </p:sp>
      <p:sp>
        <p:nvSpPr>
          <p:cNvPr id="25" name="Rectangles 24"/>
          <p:cNvSpPr>
            <a:spLocks noGrp="1"/>
          </p:cNvSpPr>
          <p:nvPr/>
        </p:nvSpPr>
        <p:spPr>
          <a:xfrm>
            <a:off x="6724650" y="2733675"/>
            <a:ext cx="723900" cy="4381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15" b="1">
                <a:solidFill>
                  <a:srgbClr val="5F6D6D"/>
                </a:solidFill>
                <a:latin typeface="Avenir Next" panose="020B0803020202020204"/>
                <a:ea typeface="Avenir Next" panose="020B0803020202020204"/>
                <a:cs typeface="Avenir Next" panose="020B0803020202020204"/>
              </a:defRPr>
            </a:pPr>
            <a:r>
              <a:rPr sz="715" b="1">
                <a:solidFill>
                  <a:srgbClr val="5F6D6D"/>
                </a:solidFill>
                <a:latin typeface="Avenir Next" panose="020B0803020202020204"/>
                <a:ea typeface="Avenir Next" panose="020B0803020202020204"/>
                <a:cs typeface="Avenir Next" panose="020B0803020202020204"/>
              </a:rPr>
              <a:t>Actually</a:t>
            </a:r>
            <a:endParaRPr sz="715" b="1">
              <a:solidFill>
                <a:srgbClr val="5F6D6D"/>
              </a:solidFill>
              <a:latin typeface="Avenir Next" panose="020B0803020202020204"/>
              <a:ea typeface="Avenir Next" panose="020B0803020202020204"/>
              <a:cs typeface="Avenir Next" panose="020B0803020202020204"/>
            </a:endParaRPr>
          </a:p>
          <a:p>
            <a:pPr algn="r">
              <a:buNone/>
              <a:defRPr sz="715" b="1">
                <a:solidFill>
                  <a:srgbClr val="5F6D6D"/>
                </a:solidFill>
                <a:latin typeface="Avenir Next" panose="020B0803020202020204"/>
                <a:ea typeface="Avenir Next" panose="020B0803020202020204"/>
                <a:cs typeface="Avenir Next" panose="020B0803020202020204"/>
              </a:defRPr>
            </a:pPr>
            <a:r>
              <a:rPr sz="715" b="1">
                <a:solidFill>
                  <a:srgbClr val="5F6D6D"/>
                </a:solidFill>
                <a:latin typeface="Avenir Next" panose="020B0803020202020204"/>
                <a:ea typeface="Avenir Next" panose="020B0803020202020204"/>
                <a:cs typeface="Avenir Next" panose="020B0803020202020204"/>
              </a:rPr>
              <a:t>stayed</a:t>
            </a:r>
            <a:endParaRPr sz="715" b="1">
              <a:solidFill>
                <a:srgbClr val="5F6D6D"/>
              </a:solidFill>
              <a:latin typeface="Avenir Next" panose="020B0803020202020204"/>
              <a:ea typeface="Avenir Next" panose="020B0803020202020204"/>
              <a:cs typeface="Avenir Next" panose="020B0803020202020204"/>
            </a:endParaRPr>
          </a:p>
        </p:txBody>
      </p:sp>
      <p:sp>
        <p:nvSpPr>
          <p:cNvPr id="26" name="Rectangles 25"/>
          <p:cNvSpPr>
            <a:spLocks noGrp="1"/>
          </p:cNvSpPr>
          <p:nvPr/>
        </p:nvSpPr>
        <p:spPr>
          <a:xfrm>
            <a:off x="6724650" y="3609975"/>
            <a:ext cx="723900" cy="4000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15" b="1">
                <a:solidFill>
                  <a:srgbClr val="5F6D6D"/>
                </a:solidFill>
                <a:latin typeface="Avenir Next" panose="020B0803020202020204"/>
                <a:ea typeface="Avenir Next" panose="020B0803020202020204"/>
                <a:cs typeface="Avenir Next" panose="020B0803020202020204"/>
              </a:defRPr>
            </a:pPr>
            <a:r>
              <a:rPr sz="715" b="1">
                <a:solidFill>
                  <a:srgbClr val="5F6D6D"/>
                </a:solidFill>
                <a:latin typeface="Avenir Next" panose="020B0803020202020204"/>
                <a:ea typeface="Avenir Next" panose="020B0803020202020204"/>
                <a:cs typeface="Avenir Next" panose="020B0803020202020204"/>
              </a:rPr>
              <a:t>Actually</a:t>
            </a:r>
            <a:endParaRPr sz="715" b="1">
              <a:solidFill>
                <a:srgbClr val="5F6D6D"/>
              </a:solidFill>
              <a:latin typeface="Avenir Next" panose="020B0803020202020204"/>
              <a:ea typeface="Avenir Next" panose="020B0803020202020204"/>
              <a:cs typeface="Avenir Next" panose="020B0803020202020204"/>
            </a:endParaRPr>
          </a:p>
          <a:p>
            <a:pPr algn="r">
              <a:buNone/>
              <a:defRPr sz="715" b="1">
                <a:solidFill>
                  <a:srgbClr val="5F6D6D"/>
                </a:solidFill>
                <a:latin typeface="Avenir Next" panose="020B0803020202020204"/>
                <a:ea typeface="Avenir Next" panose="020B0803020202020204"/>
                <a:cs typeface="Avenir Next" panose="020B0803020202020204"/>
              </a:defRPr>
            </a:pPr>
            <a:r>
              <a:rPr sz="715" b="1">
                <a:solidFill>
                  <a:srgbClr val="5F6D6D"/>
                </a:solidFill>
                <a:latin typeface="Avenir Next" panose="020B0803020202020204"/>
                <a:ea typeface="Avenir Next" panose="020B0803020202020204"/>
                <a:cs typeface="Avenir Next" panose="020B0803020202020204"/>
              </a:rPr>
              <a:t>left</a:t>
            </a:r>
            <a:endParaRPr sz="715" b="1">
              <a:solidFill>
                <a:srgbClr val="5F6D6D"/>
              </a:solidFill>
              <a:latin typeface="Avenir Next" panose="020B0803020202020204"/>
              <a:ea typeface="Avenir Next" panose="020B0803020202020204"/>
              <a:cs typeface="Avenir Next" panose="020B0803020202020204"/>
            </a:endParaRPr>
          </a:p>
        </p:txBody>
      </p:sp>
      <p:sp>
        <p:nvSpPr>
          <p:cNvPr id="27" name="Rectangles 26"/>
          <p:cNvSpPr>
            <a:spLocks noGrp="1"/>
          </p:cNvSpPr>
          <p:nvPr/>
        </p:nvSpPr>
        <p:spPr>
          <a:xfrm>
            <a:off x="7667625" y="2543175"/>
            <a:ext cx="1381125" cy="742950"/>
          </a:xfrm>
          <a:prstGeom prst="rect">
            <a:avLst/>
          </a:prstGeom>
          <a:solidFill>
            <a:srgbClr val="B9D7D1"/>
          </a:solidFill>
          <a:ln w="0">
            <a:solidFill>
              <a:srgbClr val="000000">
                <a:alpha val="0"/>
              </a:srgbClr>
            </a:solidFill>
            <a:prstDash val="solid"/>
          </a:ln>
        </p:spPr>
      </p:sp>
      <p:sp>
        <p:nvSpPr>
          <p:cNvPr id="28" name="Rectangles 27"/>
          <p:cNvSpPr>
            <a:spLocks noGrp="1"/>
          </p:cNvSpPr>
          <p:nvPr/>
        </p:nvSpPr>
        <p:spPr>
          <a:xfrm>
            <a:off x="7667625" y="2638425"/>
            <a:ext cx="1381125"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025" b="1">
                <a:solidFill>
                  <a:srgbClr val="132A2F"/>
                </a:solidFill>
                <a:latin typeface="New York"/>
                <a:ea typeface="New York"/>
                <a:cs typeface="New York"/>
              </a:defRPr>
            </a:pPr>
            <a:r>
              <a:rPr sz="2025" b="1">
                <a:solidFill>
                  <a:srgbClr val="132A2F"/>
                </a:solidFill>
                <a:latin typeface="New York"/>
                <a:ea typeface="New York"/>
                <a:cs typeface="New York"/>
              </a:rPr>
              <a:t>167</a:t>
            </a:r>
            <a:endParaRPr sz="2025" b="1">
              <a:solidFill>
                <a:srgbClr val="132A2F"/>
              </a:solidFill>
              <a:latin typeface="New York"/>
              <a:ea typeface="New York"/>
              <a:cs typeface="New York"/>
            </a:endParaRPr>
          </a:p>
        </p:txBody>
      </p:sp>
      <p:sp>
        <p:nvSpPr>
          <p:cNvPr id="29" name="Rectangles 28"/>
          <p:cNvSpPr>
            <a:spLocks noGrp="1"/>
          </p:cNvSpPr>
          <p:nvPr/>
        </p:nvSpPr>
        <p:spPr>
          <a:xfrm>
            <a:off x="7667625" y="3028950"/>
            <a:ext cx="138112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40" b="0">
                <a:solidFill>
                  <a:srgbClr val="132A2F"/>
                </a:solidFill>
                <a:latin typeface="Avenir Next" panose="020B0803020202020204"/>
                <a:ea typeface="Avenir Next" panose="020B0803020202020204"/>
                <a:cs typeface="Avenir Next" panose="020B0803020202020204"/>
              </a:defRPr>
            </a:pPr>
            <a:r>
              <a:rPr sz="640" b="0">
                <a:solidFill>
                  <a:srgbClr val="132A2F"/>
                </a:solidFill>
                <a:latin typeface="Avenir Next" panose="020B0803020202020204"/>
                <a:ea typeface="Avenir Next" panose="020B0803020202020204"/>
                <a:cs typeface="Avenir Next" panose="020B0803020202020204"/>
              </a:rPr>
              <a:t>true negative</a:t>
            </a:r>
            <a:endParaRPr sz="640" b="0">
              <a:solidFill>
                <a:srgbClr val="132A2F"/>
              </a:solidFill>
              <a:latin typeface="Avenir Next" panose="020B0803020202020204"/>
              <a:ea typeface="Avenir Next" panose="020B0803020202020204"/>
              <a:cs typeface="Avenir Next" panose="020B0803020202020204"/>
            </a:endParaRPr>
          </a:p>
        </p:txBody>
      </p:sp>
      <p:sp>
        <p:nvSpPr>
          <p:cNvPr id="30" name="Rectangles 29"/>
          <p:cNvSpPr>
            <a:spLocks noGrp="1"/>
          </p:cNvSpPr>
          <p:nvPr/>
        </p:nvSpPr>
        <p:spPr>
          <a:xfrm>
            <a:off x="9267825" y="2543175"/>
            <a:ext cx="1381125" cy="742950"/>
          </a:xfrm>
          <a:prstGeom prst="rect">
            <a:avLst/>
          </a:prstGeom>
          <a:solidFill>
            <a:srgbClr val="F4C1BB"/>
          </a:solidFill>
          <a:ln w="0">
            <a:solidFill>
              <a:srgbClr val="000000">
                <a:alpha val="0"/>
              </a:srgbClr>
            </a:solidFill>
            <a:prstDash val="solid"/>
          </a:ln>
        </p:spPr>
      </p:sp>
      <p:sp>
        <p:nvSpPr>
          <p:cNvPr id="31" name="Rectangles 30"/>
          <p:cNvSpPr>
            <a:spLocks noGrp="1"/>
          </p:cNvSpPr>
          <p:nvPr/>
        </p:nvSpPr>
        <p:spPr>
          <a:xfrm>
            <a:off x="9267825" y="2638425"/>
            <a:ext cx="1381125"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025" b="1">
                <a:solidFill>
                  <a:srgbClr val="132A2F"/>
                </a:solidFill>
                <a:latin typeface="New York"/>
                <a:ea typeface="New York"/>
                <a:cs typeface="New York"/>
              </a:defRPr>
            </a:pPr>
            <a:r>
              <a:rPr sz="2025" b="1">
                <a:solidFill>
                  <a:srgbClr val="132A2F"/>
                </a:solidFill>
                <a:latin typeface="New York"/>
                <a:ea typeface="New York"/>
                <a:cs typeface="New York"/>
              </a:rPr>
              <a:t>80</a:t>
            </a:r>
            <a:endParaRPr sz="2025" b="1">
              <a:solidFill>
                <a:srgbClr val="132A2F"/>
              </a:solidFill>
              <a:latin typeface="New York"/>
              <a:ea typeface="New York"/>
              <a:cs typeface="New York"/>
            </a:endParaRPr>
          </a:p>
        </p:txBody>
      </p:sp>
      <p:sp>
        <p:nvSpPr>
          <p:cNvPr id="32" name="Rectangles 31"/>
          <p:cNvSpPr>
            <a:spLocks noGrp="1"/>
          </p:cNvSpPr>
          <p:nvPr/>
        </p:nvSpPr>
        <p:spPr>
          <a:xfrm>
            <a:off x="9267825" y="3028950"/>
            <a:ext cx="138112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40" b="0">
                <a:solidFill>
                  <a:srgbClr val="132A2F"/>
                </a:solidFill>
                <a:latin typeface="Avenir Next" panose="020B0803020202020204"/>
                <a:ea typeface="Avenir Next" panose="020B0803020202020204"/>
                <a:cs typeface="Avenir Next" panose="020B0803020202020204"/>
              </a:defRPr>
            </a:pPr>
            <a:r>
              <a:rPr sz="640" b="0">
                <a:solidFill>
                  <a:srgbClr val="132A2F"/>
                </a:solidFill>
                <a:latin typeface="Avenir Next" panose="020B0803020202020204"/>
                <a:ea typeface="Avenir Next" panose="020B0803020202020204"/>
                <a:cs typeface="Avenir Next" panose="020B0803020202020204"/>
              </a:rPr>
              <a:t>false positive</a:t>
            </a:r>
            <a:endParaRPr sz="640" b="0">
              <a:solidFill>
                <a:srgbClr val="132A2F"/>
              </a:solidFill>
              <a:latin typeface="Avenir Next" panose="020B0803020202020204"/>
              <a:ea typeface="Avenir Next" panose="020B0803020202020204"/>
              <a:cs typeface="Avenir Next" panose="020B0803020202020204"/>
            </a:endParaRPr>
          </a:p>
        </p:txBody>
      </p:sp>
      <p:sp>
        <p:nvSpPr>
          <p:cNvPr id="33" name="Rectangles 32"/>
          <p:cNvSpPr>
            <a:spLocks noGrp="1"/>
          </p:cNvSpPr>
          <p:nvPr/>
        </p:nvSpPr>
        <p:spPr>
          <a:xfrm>
            <a:off x="7667625" y="3419475"/>
            <a:ext cx="1381125" cy="742950"/>
          </a:xfrm>
          <a:prstGeom prst="rect">
            <a:avLst/>
          </a:prstGeom>
          <a:solidFill>
            <a:srgbClr val="EAD9A8"/>
          </a:solidFill>
          <a:ln w="0">
            <a:solidFill>
              <a:srgbClr val="000000">
                <a:alpha val="0"/>
              </a:srgbClr>
            </a:solidFill>
            <a:prstDash val="solid"/>
          </a:ln>
        </p:spPr>
      </p:sp>
      <p:sp>
        <p:nvSpPr>
          <p:cNvPr id="34" name="Rectangles 33"/>
          <p:cNvSpPr>
            <a:spLocks noGrp="1"/>
          </p:cNvSpPr>
          <p:nvPr/>
        </p:nvSpPr>
        <p:spPr>
          <a:xfrm>
            <a:off x="7667625" y="3514725"/>
            <a:ext cx="1381125"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025" b="1">
                <a:solidFill>
                  <a:srgbClr val="132A2F"/>
                </a:solidFill>
                <a:latin typeface="New York"/>
                <a:ea typeface="New York"/>
                <a:cs typeface="New York"/>
              </a:defRPr>
            </a:pPr>
            <a:r>
              <a:rPr sz="2025" b="1">
                <a:solidFill>
                  <a:srgbClr val="132A2F"/>
                </a:solidFill>
                <a:latin typeface="New York"/>
                <a:ea typeface="New York"/>
                <a:cs typeface="New York"/>
              </a:rPr>
              <a:t>10</a:t>
            </a:r>
            <a:endParaRPr sz="2025" b="1">
              <a:solidFill>
                <a:srgbClr val="132A2F"/>
              </a:solidFill>
              <a:latin typeface="New York"/>
              <a:ea typeface="New York"/>
              <a:cs typeface="New York"/>
            </a:endParaRPr>
          </a:p>
        </p:txBody>
      </p:sp>
      <p:sp>
        <p:nvSpPr>
          <p:cNvPr id="35" name="Rectangles 34"/>
          <p:cNvSpPr>
            <a:spLocks noGrp="1"/>
          </p:cNvSpPr>
          <p:nvPr/>
        </p:nvSpPr>
        <p:spPr>
          <a:xfrm>
            <a:off x="7667625" y="3905250"/>
            <a:ext cx="138112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40" b="0">
                <a:solidFill>
                  <a:srgbClr val="132A2F"/>
                </a:solidFill>
                <a:latin typeface="Avenir Next" panose="020B0803020202020204"/>
                <a:ea typeface="Avenir Next" panose="020B0803020202020204"/>
                <a:cs typeface="Avenir Next" panose="020B0803020202020204"/>
              </a:defRPr>
            </a:pPr>
            <a:r>
              <a:rPr sz="640" b="0">
                <a:solidFill>
                  <a:srgbClr val="132A2F"/>
                </a:solidFill>
                <a:latin typeface="Avenir Next" panose="020B0803020202020204"/>
                <a:ea typeface="Avenir Next" panose="020B0803020202020204"/>
                <a:cs typeface="Avenir Next" panose="020B0803020202020204"/>
              </a:rPr>
              <a:t>false negative</a:t>
            </a:r>
            <a:endParaRPr sz="640" b="0">
              <a:solidFill>
                <a:srgbClr val="132A2F"/>
              </a:solidFill>
              <a:latin typeface="Avenir Next" panose="020B0803020202020204"/>
              <a:ea typeface="Avenir Next" panose="020B0803020202020204"/>
              <a:cs typeface="Avenir Next" panose="020B0803020202020204"/>
            </a:endParaRPr>
          </a:p>
        </p:txBody>
      </p:sp>
      <p:sp>
        <p:nvSpPr>
          <p:cNvPr id="36" name="Rectangles 35"/>
          <p:cNvSpPr>
            <a:spLocks noGrp="1"/>
          </p:cNvSpPr>
          <p:nvPr/>
        </p:nvSpPr>
        <p:spPr>
          <a:xfrm>
            <a:off x="9267825" y="3419475"/>
            <a:ext cx="1381125" cy="742950"/>
          </a:xfrm>
          <a:prstGeom prst="rect">
            <a:avLst/>
          </a:prstGeom>
          <a:solidFill>
            <a:srgbClr val="2A7F78"/>
          </a:solidFill>
          <a:ln w="0">
            <a:solidFill>
              <a:srgbClr val="000000">
                <a:alpha val="0"/>
              </a:srgbClr>
            </a:solidFill>
            <a:prstDash val="solid"/>
          </a:ln>
        </p:spPr>
      </p:sp>
      <p:sp>
        <p:nvSpPr>
          <p:cNvPr id="37" name="Rectangles 36"/>
          <p:cNvSpPr>
            <a:spLocks noGrp="1"/>
          </p:cNvSpPr>
          <p:nvPr/>
        </p:nvSpPr>
        <p:spPr>
          <a:xfrm>
            <a:off x="9267825" y="3514725"/>
            <a:ext cx="1381125"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025" b="1">
                <a:solidFill>
                  <a:srgbClr val="F7F2E9"/>
                </a:solidFill>
                <a:latin typeface="New York"/>
                <a:ea typeface="New York"/>
                <a:cs typeface="New York"/>
              </a:defRPr>
            </a:pPr>
            <a:r>
              <a:rPr sz="2025" b="1">
                <a:solidFill>
                  <a:srgbClr val="F7F2E9"/>
                </a:solidFill>
                <a:latin typeface="New York"/>
                <a:ea typeface="New York"/>
                <a:cs typeface="New York"/>
              </a:rPr>
              <a:t>37</a:t>
            </a:r>
            <a:endParaRPr sz="2025" b="1">
              <a:solidFill>
                <a:srgbClr val="F7F2E9"/>
              </a:solidFill>
              <a:latin typeface="New York"/>
              <a:ea typeface="New York"/>
              <a:cs typeface="New York"/>
            </a:endParaRPr>
          </a:p>
        </p:txBody>
      </p:sp>
      <p:sp>
        <p:nvSpPr>
          <p:cNvPr id="38" name="Rectangles 37"/>
          <p:cNvSpPr>
            <a:spLocks noGrp="1"/>
          </p:cNvSpPr>
          <p:nvPr/>
        </p:nvSpPr>
        <p:spPr>
          <a:xfrm>
            <a:off x="9267825" y="3905250"/>
            <a:ext cx="138112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40" b="0">
                <a:solidFill>
                  <a:srgbClr val="F7F2E9"/>
                </a:solidFill>
                <a:latin typeface="Avenir Next" panose="020B0803020202020204"/>
                <a:ea typeface="Avenir Next" panose="020B0803020202020204"/>
                <a:cs typeface="Avenir Next" panose="020B0803020202020204"/>
              </a:defRPr>
            </a:pPr>
            <a:r>
              <a:rPr sz="640" b="0">
                <a:solidFill>
                  <a:srgbClr val="F7F2E9"/>
                </a:solidFill>
                <a:latin typeface="Avenir Next" panose="020B0803020202020204"/>
                <a:ea typeface="Avenir Next" panose="020B0803020202020204"/>
                <a:cs typeface="Avenir Next" panose="020B0803020202020204"/>
              </a:rPr>
              <a:t>true positive</a:t>
            </a:r>
            <a:endParaRPr sz="640" b="0">
              <a:solidFill>
                <a:srgbClr val="F7F2E9"/>
              </a:solidFill>
              <a:latin typeface="Avenir Next" panose="020B0803020202020204"/>
              <a:ea typeface="Avenir Next" panose="020B0803020202020204"/>
              <a:cs typeface="Avenir Next" panose="020B0803020202020204"/>
            </a:endParaRPr>
          </a:p>
        </p:txBody>
      </p:sp>
      <p:sp>
        <p:nvSpPr>
          <p:cNvPr id="39" name="Rectangles 38"/>
          <p:cNvSpPr>
            <a:spLocks noGrp="1"/>
          </p:cNvSpPr>
          <p:nvPr/>
        </p:nvSpPr>
        <p:spPr>
          <a:xfrm>
            <a:off x="552450" y="4705350"/>
            <a:ext cx="10801350" cy="9525"/>
          </a:xfrm>
          <a:prstGeom prst="rect">
            <a:avLst/>
          </a:prstGeom>
          <a:solidFill>
            <a:srgbClr val="D9D2C7"/>
          </a:solidFill>
          <a:ln w="0">
            <a:solidFill>
              <a:srgbClr val="000000">
                <a:alpha val="0"/>
              </a:srgbClr>
            </a:solidFill>
            <a:prstDash val="solid"/>
          </a:ln>
        </p:spPr>
      </p:sp>
      <p:sp>
        <p:nvSpPr>
          <p:cNvPr id="40" name="Rectangles 39"/>
          <p:cNvSpPr>
            <a:spLocks noGrp="1"/>
          </p:cNvSpPr>
          <p:nvPr/>
        </p:nvSpPr>
        <p:spPr>
          <a:xfrm>
            <a:off x="552450" y="4991100"/>
            <a:ext cx="28575" cy="647700"/>
          </a:xfrm>
          <a:prstGeom prst="rect">
            <a:avLst/>
          </a:prstGeom>
          <a:solidFill>
            <a:srgbClr val="D6A83A"/>
          </a:solidFill>
          <a:ln w="0">
            <a:solidFill>
              <a:srgbClr val="000000">
                <a:alpha val="0"/>
              </a:srgbClr>
            </a:solidFill>
            <a:prstDash val="solid"/>
          </a:ln>
        </p:spPr>
      </p:sp>
      <p:sp>
        <p:nvSpPr>
          <p:cNvPr id="41" name="Rectangles 40"/>
          <p:cNvSpPr>
            <a:spLocks noGrp="1"/>
          </p:cNvSpPr>
          <p:nvPr/>
        </p:nvSpPr>
        <p:spPr>
          <a:xfrm>
            <a:off x="704850" y="4972050"/>
            <a:ext cx="1619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32A2F"/>
                </a:solidFill>
                <a:latin typeface="New York"/>
                <a:ea typeface="New York"/>
                <a:cs typeface="New York"/>
              </a:defRPr>
            </a:pPr>
            <a:r>
              <a:rPr sz="2100" b="1">
                <a:solidFill>
                  <a:srgbClr val="132A2F"/>
                </a:solidFill>
                <a:latin typeface="New York"/>
                <a:ea typeface="New York"/>
                <a:cs typeface="New York"/>
              </a:rPr>
              <a:t>0.587</a:t>
            </a:r>
            <a:endParaRPr sz="2100" b="1">
              <a:solidFill>
                <a:srgbClr val="132A2F"/>
              </a:solidFill>
              <a:latin typeface="New York"/>
              <a:ea typeface="New York"/>
              <a:cs typeface="New York"/>
            </a:endParaRPr>
          </a:p>
        </p:txBody>
      </p:sp>
      <p:sp>
        <p:nvSpPr>
          <p:cNvPr id="42" name="Rectangles 41"/>
          <p:cNvSpPr>
            <a:spLocks noGrp="1"/>
          </p:cNvSpPr>
          <p:nvPr/>
        </p:nvSpPr>
        <p:spPr>
          <a:xfrm>
            <a:off x="704850" y="5353050"/>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5F6D6D"/>
                </a:solidFill>
                <a:latin typeface="Avenir Next" panose="020B0803020202020204"/>
                <a:ea typeface="Avenir Next" panose="020B0803020202020204"/>
                <a:cs typeface="Avenir Next" panose="020B0803020202020204"/>
              </a:defRPr>
            </a:pPr>
            <a:r>
              <a:rPr sz="715" b="1">
                <a:solidFill>
                  <a:srgbClr val="5F6D6D"/>
                </a:solidFill>
                <a:latin typeface="Avenir Next" panose="020B0803020202020204"/>
                <a:ea typeface="Avenir Next" panose="020B0803020202020204"/>
                <a:cs typeface="Avenir Next" panose="020B0803020202020204"/>
              </a:rPr>
              <a:t>TEST AP</a:t>
            </a:r>
            <a:endParaRPr sz="715" b="1">
              <a:solidFill>
                <a:srgbClr val="5F6D6D"/>
              </a:solidFill>
              <a:latin typeface="Avenir Next" panose="020B0803020202020204"/>
              <a:ea typeface="Avenir Next" panose="020B0803020202020204"/>
              <a:cs typeface="Avenir Next" panose="020B0803020202020204"/>
            </a:endParaRPr>
          </a:p>
        </p:txBody>
      </p:sp>
      <p:sp>
        <p:nvSpPr>
          <p:cNvPr id="43" name="Rectangles 42"/>
          <p:cNvSpPr>
            <a:spLocks noGrp="1"/>
          </p:cNvSpPr>
          <p:nvPr/>
        </p:nvSpPr>
        <p:spPr>
          <a:xfrm>
            <a:off x="704850" y="5524500"/>
            <a:ext cx="1619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held-out test set</a:t>
            </a:r>
            <a:endParaRPr sz="640" b="0">
              <a:solidFill>
                <a:srgbClr val="5F6D6D"/>
              </a:solidFill>
              <a:latin typeface="Avenir Next" panose="020B0803020202020204"/>
              <a:ea typeface="Avenir Next" panose="020B0803020202020204"/>
              <a:cs typeface="Avenir Next" panose="020B0803020202020204"/>
            </a:endParaRPr>
          </a:p>
        </p:txBody>
      </p:sp>
      <p:sp>
        <p:nvSpPr>
          <p:cNvPr id="44" name="Rectangles 43"/>
          <p:cNvSpPr>
            <a:spLocks noGrp="1"/>
          </p:cNvSpPr>
          <p:nvPr/>
        </p:nvSpPr>
        <p:spPr>
          <a:xfrm>
            <a:off x="3143250" y="4991100"/>
            <a:ext cx="28575" cy="647700"/>
          </a:xfrm>
          <a:prstGeom prst="rect">
            <a:avLst/>
          </a:prstGeom>
          <a:solidFill>
            <a:srgbClr val="E45B4F"/>
          </a:solidFill>
          <a:ln w="0">
            <a:solidFill>
              <a:srgbClr val="000000">
                <a:alpha val="0"/>
              </a:srgbClr>
            </a:solidFill>
            <a:prstDash val="solid"/>
          </a:ln>
        </p:spPr>
      </p:sp>
      <p:sp>
        <p:nvSpPr>
          <p:cNvPr id="45" name="Rectangles 44"/>
          <p:cNvSpPr>
            <a:spLocks noGrp="1"/>
          </p:cNvSpPr>
          <p:nvPr/>
        </p:nvSpPr>
        <p:spPr>
          <a:xfrm>
            <a:off x="3295650" y="4972050"/>
            <a:ext cx="18097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32A2F"/>
                </a:solidFill>
                <a:latin typeface="New York"/>
                <a:ea typeface="New York"/>
                <a:cs typeface="New York"/>
              </a:defRPr>
            </a:pPr>
            <a:r>
              <a:rPr sz="2100" b="1">
                <a:solidFill>
                  <a:srgbClr val="132A2F"/>
                </a:solidFill>
                <a:latin typeface="New York"/>
                <a:ea typeface="New York"/>
                <a:cs typeface="New York"/>
              </a:rPr>
              <a:t>31.6%</a:t>
            </a:r>
            <a:endParaRPr sz="2100" b="1">
              <a:solidFill>
                <a:srgbClr val="132A2F"/>
              </a:solidFill>
              <a:latin typeface="New York"/>
              <a:ea typeface="New York"/>
              <a:cs typeface="New York"/>
            </a:endParaRPr>
          </a:p>
        </p:txBody>
      </p:sp>
      <p:sp>
        <p:nvSpPr>
          <p:cNvPr id="46" name="Rectangles 45"/>
          <p:cNvSpPr>
            <a:spLocks noGrp="1"/>
          </p:cNvSpPr>
          <p:nvPr/>
        </p:nvSpPr>
        <p:spPr>
          <a:xfrm>
            <a:off x="3295650" y="535305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5F6D6D"/>
                </a:solidFill>
                <a:latin typeface="Avenir Next" panose="020B0803020202020204"/>
                <a:ea typeface="Avenir Next" panose="020B0803020202020204"/>
                <a:cs typeface="Avenir Next" panose="020B0803020202020204"/>
              </a:defRPr>
            </a:pPr>
            <a:r>
              <a:rPr sz="715" b="1">
                <a:solidFill>
                  <a:srgbClr val="5F6D6D"/>
                </a:solidFill>
                <a:latin typeface="Avenir Next" panose="020B0803020202020204"/>
                <a:ea typeface="Avenir Next" panose="020B0803020202020204"/>
                <a:cs typeface="Avenir Next" panose="020B0803020202020204"/>
              </a:rPr>
              <a:t>PRECISION</a:t>
            </a:r>
            <a:endParaRPr sz="715" b="1">
              <a:solidFill>
                <a:srgbClr val="5F6D6D"/>
              </a:solidFill>
              <a:latin typeface="Avenir Next" panose="020B0803020202020204"/>
              <a:ea typeface="Avenir Next" panose="020B0803020202020204"/>
              <a:cs typeface="Avenir Next" panose="020B0803020202020204"/>
            </a:endParaRPr>
          </a:p>
        </p:txBody>
      </p:sp>
      <p:sp>
        <p:nvSpPr>
          <p:cNvPr id="47" name="Rectangles 46"/>
          <p:cNvSpPr>
            <a:spLocks noGrp="1"/>
          </p:cNvSpPr>
          <p:nvPr/>
        </p:nvSpPr>
        <p:spPr>
          <a:xfrm>
            <a:off x="3295650" y="5524500"/>
            <a:ext cx="1809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37 of 117 flags left</a:t>
            </a:r>
            <a:endParaRPr sz="640" b="0">
              <a:solidFill>
                <a:srgbClr val="5F6D6D"/>
              </a:solidFill>
              <a:latin typeface="Avenir Next" panose="020B0803020202020204"/>
              <a:ea typeface="Avenir Next" panose="020B0803020202020204"/>
              <a:cs typeface="Avenir Next" panose="020B0803020202020204"/>
            </a:endParaRPr>
          </a:p>
        </p:txBody>
      </p:sp>
      <p:sp>
        <p:nvSpPr>
          <p:cNvPr id="48" name="Rectangles 47"/>
          <p:cNvSpPr>
            <a:spLocks noGrp="1"/>
          </p:cNvSpPr>
          <p:nvPr/>
        </p:nvSpPr>
        <p:spPr>
          <a:xfrm>
            <a:off x="6096000" y="4991100"/>
            <a:ext cx="28575" cy="647700"/>
          </a:xfrm>
          <a:prstGeom prst="rect">
            <a:avLst/>
          </a:prstGeom>
          <a:solidFill>
            <a:srgbClr val="2A7F78"/>
          </a:solidFill>
          <a:ln w="0">
            <a:solidFill>
              <a:srgbClr val="000000">
                <a:alpha val="0"/>
              </a:srgbClr>
            </a:solidFill>
            <a:prstDash val="solid"/>
          </a:ln>
        </p:spPr>
      </p:sp>
      <p:sp>
        <p:nvSpPr>
          <p:cNvPr id="49" name="Rectangles 48"/>
          <p:cNvSpPr>
            <a:spLocks noGrp="1"/>
          </p:cNvSpPr>
          <p:nvPr/>
        </p:nvSpPr>
        <p:spPr>
          <a:xfrm>
            <a:off x="6248400" y="4972050"/>
            <a:ext cx="20002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32A2F"/>
                </a:solidFill>
                <a:latin typeface="New York"/>
                <a:ea typeface="New York"/>
                <a:cs typeface="New York"/>
              </a:defRPr>
            </a:pPr>
            <a:r>
              <a:rPr sz="2100" b="1">
                <a:solidFill>
                  <a:srgbClr val="132A2F"/>
                </a:solidFill>
                <a:latin typeface="New York"/>
                <a:ea typeface="New York"/>
                <a:cs typeface="New York"/>
              </a:rPr>
              <a:t>78.7%</a:t>
            </a:r>
            <a:endParaRPr sz="2100" b="1">
              <a:solidFill>
                <a:srgbClr val="132A2F"/>
              </a:solidFill>
              <a:latin typeface="New York"/>
              <a:ea typeface="New York"/>
              <a:cs typeface="New York"/>
            </a:endParaRPr>
          </a:p>
        </p:txBody>
      </p:sp>
      <p:sp>
        <p:nvSpPr>
          <p:cNvPr id="50" name="Rectangles 49"/>
          <p:cNvSpPr>
            <a:spLocks noGrp="1"/>
          </p:cNvSpPr>
          <p:nvPr/>
        </p:nvSpPr>
        <p:spPr>
          <a:xfrm>
            <a:off x="6248400" y="5353050"/>
            <a:ext cx="2000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5F6D6D"/>
                </a:solidFill>
                <a:latin typeface="Avenir Next" panose="020B0803020202020204"/>
                <a:ea typeface="Avenir Next" panose="020B0803020202020204"/>
                <a:cs typeface="Avenir Next" panose="020B0803020202020204"/>
              </a:defRPr>
            </a:pPr>
            <a:r>
              <a:rPr sz="715" b="1">
                <a:solidFill>
                  <a:srgbClr val="5F6D6D"/>
                </a:solidFill>
                <a:latin typeface="Avenir Next" panose="020B0803020202020204"/>
                <a:ea typeface="Avenir Next" panose="020B0803020202020204"/>
                <a:cs typeface="Avenir Next" panose="020B0803020202020204"/>
              </a:rPr>
              <a:t>RECALL</a:t>
            </a:r>
            <a:endParaRPr sz="715" b="1">
              <a:solidFill>
                <a:srgbClr val="5F6D6D"/>
              </a:solidFill>
              <a:latin typeface="Avenir Next" panose="020B0803020202020204"/>
              <a:ea typeface="Avenir Next" panose="020B0803020202020204"/>
              <a:cs typeface="Avenir Next" panose="020B0803020202020204"/>
            </a:endParaRPr>
          </a:p>
        </p:txBody>
      </p:sp>
      <p:sp>
        <p:nvSpPr>
          <p:cNvPr id="51" name="Rectangles 50"/>
          <p:cNvSpPr>
            <a:spLocks noGrp="1"/>
          </p:cNvSpPr>
          <p:nvPr/>
        </p:nvSpPr>
        <p:spPr>
          <a:xfrm>
            <a:off x="6248400" y="5524500"/>
            <a:ext cx="2000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37 of 47 leavers captured</a:t>
            </a:r>
            <a:endParaRPr sz="640" b="0">
              <a:solidFill>
                <a:srgbClr val="5F6D6D"/>
              </a:solidFill>
              <a:latin typeface="Avenir Next" panose="020B0803020202020204"/>
              <a:ea typeface="Avenir Next" panose="020B0803020202020204"/>
              <a:cs typeface="Avenir Next" panose="020B0803020202020204"/>
            </a:endParaRPr>
          </a:p>
        </p:txBody>
      </p:sp>
      <p:sp>
        <p:nvSpPr>
          <p:cNvPr id="52" name="Rectangles 51"/>
          <p:cNvSpPr>
            <a:spLocks noGrp="1"/>
          </p:cNvSpPr>
          <p:nvPr/>
        </p:nvSpPr>
        <p:spPr>
          <a:xfrm>
            <a:off x="9144000" y="4991100"/>
            <a:ext cx="28575" cy="647700"/>
          </a:xfrm>
          <a:prstGeom prst="rect">
            <a:avLst/>
          </a:prstGeom>
          <a:solidFill>
            <a:srgbClr val="E45B4F"/>
          </a:solidFill>
          <a:ln w="0">
            <a:solidFill>
              <a:srgbClr val="000000">
                <a:alpha val="0"/>
              </a:srgbClr>
            </a:solidFill>
            <a:prstDash val="solid"/>
          </a:ln>
        </p:spPr>
      </p:sp>
      <p:sp>
        <p:nvSpPr>
          <p:cNvPr id="53" name="Rectangles 52"/>
          <p:cNvSpPr>
            <a:spLocks noGrp="1"/>
          </p:cNvSpPr>
          <p:nvPr/>
        </p:nvSpPr>
        <p:spPr>
          <a:xfrm>
            <a:off x="9296400" y="4972050"/>
            <a:ext cx="1714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32A2F"/>
                </a:solidFill>
                <a:latin typeface="New York"/>
                <a:ea typeface="New York"/>
                <a:cs typeface="New York"/>
              </a:defRPr>
            </a:pPr>
            <a:r>
              <a:rPr sz="2100" b="1">
                <a:solidFill>
                  <a:srgbClr val="132A2F"/>
                </a:solidFill>
                <a:latin typeface="New York"/>
                <a:ea typeface="New York"/>
                <a:cs typeface="New York"/>
              </a:rPr>
              <a:t>117</a:t>
            </a:r>
            <a:endParaRPr sz="2100" b="1">
              <a:solidFill>
                <a:srgbClr val="132A2F"/>
              </a:solidFill>
              <a:latin typeface="New York"/>
              <a:ea typeface="New York"/>
              <a:cs typeface="New York"/>
            </a:endParaRPr>
          </a:p>
        </p:txBody>
      </p:sp>
      <p:sp>
        <p:nvSpPr>
          <p:cNvPr id="54" name="Rectangles 53"/>
          <p:cNvSpPr>
            <a:spLocks noGrp="1"/>
          </p:cNvSpPr>
          <p:nvPr/>
        </p:nvSpPr>
        <p:spPr>
          <a:xfrm>
            <a:off x="9296400" y="5353050"/>
            <a:ext cx="1714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5F6D6D"/>
                </a:solidFill>
                <a:latin typeface="Avenir Next" panose="020B0803020202020204"/>
                <a:ea typeface="Avenir Next" panose="020B0803020202020204"/>
                <a:cs typeface="Avenir Next" panose="020B0803020202020204"/>
              </a:defRPr>
            </a:pPr>
            <a:r>
              <a:rPr sz="715" b="1">
                <a:solidFill>
                  <a:srgbClr val="5F6D6D"/>
                </a:solidFill>
                <a:latin typeface="Avenir Next" panose="020B0803020202020204"/>
                <a:ea typeface="Avenir Next" panose="020B0803020202020204"/>
                <a:cs typeface="Avenir Next" panose="020B0803020202020204"/>
              </a:rPr>
              <a:t>REVIEW QUEUE</a:t>
            </a:r>
            <a:endParaRPr sz="715" b="1">
              <a:solidFill>
                <a:srgbClr val="5F6D6D"/>
              </a:solidFill>
              <a:latin typeface="Avenir Next" panose="020B0803020202020204"/>
              <a:ea typeface="Avenir Next" panose="020B0803020202020204"/>
              <a:cs typeface="Avenir Next" panose="020B0803020202020204"/>
            </a:endParaRPr>
          </a:p>
        </p:txBody>
      </p:sp>
      <p:sp>
        <p:nvSpPr>
          <p:cNvPr id="55" name="Rectangles 54"/>
          <p:cNvSpPr>
            <a:spLocks noGrp="1"/>
          </p:cNvSpPr>
          <p:nvPr/>
        </p:nvSpPr>
        <p:spPr>
          <a:xfrm>
            <a:off x="9296400" y="5524500"/>
            <a:ext cx="1714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80 false positives</a:t>
            </a:r>
            <a:endParaRPr sz="640" b="0">
              <a:solidFill>
                <a:srgbClr val="5F6D6D"/>
              </a:solidFill>
              <a:latin typeface="Avenir Next" panose="020B0803020202020204"/>
              <a:ea typeface="Avenir Next" panose="020B0803020202020204"/>
              <a:cs typeface="Avenir Next" panose="020B0803020202020204"/>
            </a:endParaRPr>
          </a:p>
        </p:txBody>
      </p:sp>
      <p:sp>
        <p:nvSpPr>
          <p:cNvPr id="56" name="Rectangles 55"/>
          <p:cNvSpPr>
            <a:spLocks noGrp="1"/>
          </p:cNvSpPr>
          <p:nvPr/>
        </p:nvSpPr>
        <p:spPr>
          <a:xfrm>
            <a:off x="552450" y="6486525"/>
            <a:ext cx="11087100" cy="9525"/>
          </a:xfrm>
          <a:prstGeom prst="rect">
            <a:avLst/>
          </a:prstGeom>
          <a:solidFill>
            <a:srgbClr val="D9D2C7"/>
          </a:solidFill>
          <a:ln w="0">
            <a:solidFill>
              <a:srgbClr val="000000">
                <a:alpha val="0"/>
              </a:srgbClr>
            </a:solidFill>
            <a:prstDash val="solid"/>
          </a:ln>
        </p:spPr>
      </p:sp>
      <p:sp>
        <p:nvSpPr>
          <p:cNvPr id="57" name="Rectangles 56"/>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Source: model_comparison.csv and final_model_metrics.csv; test n=294</a:t>
            </a:r>
            <a:endParaRPr sz="640" b="0">
              <a:solidFill>
                <a:srgbClr val="5F6D6D"/>
              </a:solidFill>
              <a:latin typeface="Avenir Next" panose="020B0803020202020204"/>
              <a:ea typeface="Avenir Next" panose="020B0803020202020204"/>
              <a:cs typeface="Avenir Next" panose="020B0803020202020204"/>
            </a:endParaRPr>
          </a:p>
        </p:txBody>
      </p:sp>
      <p:sp>
        <p:nvSpPr>
          <p:cNvPr id="58" name="Rectangles 57"/>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07</a:t>
            </a:r>
            <a:endParaRPr sz="675" b="1">
              <a:solidFill>
                <a:srgbClr val="5F6D6D"/>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4F0E8"/>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132A2F"/>
          </a:solidFill>
          <a:ln w="0">
            <a:solidFill>
              <a:srgbClr val="000000">
                <a:alpha val="0"/>
              </a:srgbClr>
            </a:solidFill>
            <a:prstDash val="solid"/>
          </a:ln>
        </p:spPr>
      </p:sp>
      <p:sp>
        <p:nvSpPr>
          <p:cNvPr id="4" name="kicker-06-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06-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COUNTERFACTUAL ARCHITECTURE</a:t>
            </a:r>
            <a:endParaRPr sz="750" b="1">
              <a:solidFill>
                <a:srgbClr val="5F6D6D"/>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685800"/>
            <a:ext cx="10382250" cy="857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132A2F"/>
                </a:solidFill>
                <a:latin typeface="New York"/>
                <a:ea typeface="New York"/>
                <a:cs typeface="New York"/>
              </a:defRPr>
            </a:pPr>
            <a:r>
              <a:rPr sz="2550" b="1">
                <a:solidFill>
                  <a:srgbClr val="132A2F"/>
                </a:solidFill>
                <a:latin typeface="New York"/>
                <a:ea typeface="New York"/>
                <a:cs typeface="New York"/>
              </a:rPr>
              <a:t>Three constraint levels turn computational recourse into a measurable stress test.</a:t>
            </a:r>
            <a:endParaRPr sz="2550" b="1">
              <a:solidFill>
                <a:srgbClr val="132A2F"/>
              </a:solidFill>
              <a:latin typeface="New York"/>
              <a:ea typeface="New York"/>
              <a:cs typeface="New York"/>
            </a:endParaRPr>
          </a:p>
        </p:txBody>
      </p:sp>
      <p:sp>
        <p:nvSpPr>
          <p:cNvPr id="7" name="Rectangles 6"/>
          <p:cNvSpPr>
            <a:spLocks noGrp="1"/>
          </p:cNvSpPr>
          <p:nvPr/>
        </p:nvSpPr>
        <p:spPr>
          <a:xfrm>
            <a:off x="552450" y="1819275"/>
            <a:ext cx="10801350" cy="2714625"/>
          </a:xfrm>
          <a:prstGeom prst="rect">
            <a:avLst/>
          </a:prstGeom>
          <a:solidFill>
            <a:srgbClr val="EAD9A8"/>
          </a:solidFill>
          <a:ln w="0">
            <a:solidFill>
              <a:srgbClr val="000000">
                <a:alpha val="0"/>
              </a:srgbClr>
            </a:solidFill>
            <a:prstDash val="solid"/>
          </a:ln>
        </p:spPr>
      </p:sp>
      <p:sp>
        <p:nvSpPr>
          <p:cNvPr id="8" name="Rectangles 7"/>
          <p:cNvSpPr>
            <a:spLocks noGrp="1"/>
          </p:cNvSpPr>
          <p:nvPr/>
        </p:nvSpPr>
        <p:spPr>
          <a:xfrm>
            <a:off x="762000" y="2009775"/>
            <a:ext cx="3905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132A2F"/>
                </a:solidFill>
                <a:latin typeface="Avenir Next" panose="020B0803020202020204"/>
                <a:ea typeface="Avenir Next" panose="020B0803020202020204"/>
                <a:cs typeface="Avenir Next" panose="020B0803020202020204"/>
              </a:defRPr>
            </a:pPr>
            <a:r>
              <a:rPr sz="750" b="1">
                <a:solidFill>
                  <a:srgbClr val="132A2F"/>
                </a:solidFill>
                <a:latin typeface="Avenir Next" panose="020B0803020202020204"/>
                <a:ea typeface="Avenir Next" panose="020B0803020202020204"/>
                <a:cs typeface="Avenir Next" panose="020B0803020202020204"/>
              </a:rPr>
              <a:t>LEVEL 1 · BROAD DIAGNOSTIC SEARCH</a:t>
            </a:r>
            <a:endParaRPr sz="750" b="1">
              <a:solidFill>
                <a:srgbClr val="132A2F"/>
              </a:solidFill>
              <a:latin typeface="Avenir Next" panose="020B0803020202020204"/>
              <a:ea typeface="Avenir Next" panose="020B0803020202020204"/>
              <a:cs typeface="Avenir Next" panose="020B0803020202020204"/>
            </a:endParaRPr>
          </a:p>
        </p:txBody>
      </p:sp>
      <p:sp>
        <p:nvSpPr>
          <p:cNvPr id="9" name="Rectangles 8"/>
          <p:cNvSpPr>
            <a:spLocks noGrp="1"/>
          </p:cNvSpPr>
          <p:nvPr/>
        </p:nvSpPr>
        <p:spPr>
          <a:xfrm>
            <a:off x="762000" y="2295525"/>
            <a:ext cx="5238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1">
                <a:solidFill>
                  <a:srgbClr val="132A2F"/>
                </a:solidFill>
                <a:latin typeface="New York"/>
                <a:ea typeface="New York"/>
                <a:cs typeface="New York"/>
              </a:defRPr>
            </a:pPr>
            <a:r>
              <a:rPr sz="1050" b="1">
                <a:solidFill>
                  <a:srgbClr val="132A2F"/>
                </a:solidFill>
                <a:latin typeface="New York"/>
                <a:ea typeface="New York"/>
                <a:cs typeface="New York"/>
              </a:rPr>
              <a:t>All model features may vary within training-observed domains</a:t>
            </a:r>
            <a:endParaRPr sz="1050" b="1">
              <a:solidFill>
                <a:srgbClr val="132A2F"/>
              </a:solidFill>
              <a:latin typeface="New York"/>
              <a:ea typeface="New York"/>
              <a:cs typeface="New York"/>
            </a:endParaRPr>
          </a:p>
        </p:txBody>
      </p:sp>
      <p:sp>
        <p:nvSpPr>
          <p:cNvPr id="10" name="Rectangles 9"/>
          <p:cNvSpPr>
            <a:spLocks noGrp="1"/>
          </p:cNvSpPr>
          <p:nvPr/>
        </p:nvSpPr>
        <p:spPr>
          <a:xfrm>
            <a:off x="9525000" y="2009775"/>
            <a:ext cx="1504950" cy="266700"/>
          </a:xfrm>
          <a:prstGeom prst="rect">
            <a:avLst/>
          </a:prstGeom>
          <a:solidFill>
            <a:srgbClr val="F4F0E8"/>
          </a:solidFill>
          <a:ln w="0">
            <a:solidFill>
              <a:srgbClr val="000000">
                <a:alpha val="0"/>
              </a:srgbClr>
            </a:solidFill>
            <a:prstDash val="solid"/>
          </a:ln>
        </p:spPr>
      </p:sp>
      <p:sp>
        <p:nvSpPr>
          <p:cNvPr id="11" name="Rectangles 10"/>
          <p:cNvSpPr>
            <a:spLocks noGrp="1"/>
          </p:cNvSpPr>
          <p:nvPr/>
        </p:nvSpPr>
        <p:spPr>
          <a:xfrm>
            <a:off x="9620250" y="2066925"/>
            <a:ext cx="1314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15" b="1">
                <a:solidFill>
                  <a:srgbClr val="132A2F"/>
                </a:solidFill>
                <a:latin typeface="Avenir Next" panose="020B0803020202020204"/>
                <a:ea typeface="Avenir Next" panose="020B0803020202020204"/>
                <a:cs typeface="Avenir Next" panose="020B0803020202020204"/>
              </a:defRPr>
            </a:pPr>
            <a:r>
              <a:rPr sz="715" b="1">
                <a:solidFill>
                  <a:srgbClr val="132A2F"/>
                </a:solidFill>
                <a:latin typeface="Avenir Next" panose="020B0803020202020204"/>
                <a:ea typeface="Avenir Next" panose="020B0803020202020204"/>
                <a:cs typeface="Avenir Next" panose="020B0803020202020204"/>
              </a:rPr>
              <a:t>DiCE · 5 scenarios</a:t>
            </a:r>
            <a:endParaRPr sz="715" b="1">
              <a:solidFill>
                <a:srgbClr val="132A2F"/>
              </a:solidFill>
              <a:latin typeface="Avenir Next" panose="020B0803020202020204"/>
              <a:ea typeface="Avenir Next" panose="020B0803020202020204"/>
              <a:cs typeface="Avenir Next" panose="020B0803020202020204"/>
            </a:endParaRPr>
          </a:p>
        </p:txBody>
      </p:sp>
      <p:sp>
        <p:nvSpPr>
          <p:cNvPr id="12" name="Rectangles 11"/>
          <p:cNvSpPr>
            <a:spLocks noGrp="1"/>
          </p:cNvSpPr>
          <p:nvPr/>
        </p:nvSpPr>
        <p:spPr>
          <a:xfrm>
            <a:off x="1428750" y="2714625"/>
            <a:ext cx="9048750" cy="1590675"/>
          </a:xfrm>
          <a:prstGeom prst="rect">
            <a:avLst/>
          </a:prstGeom>
          <a:solidFill>
            <a:srgbClr val="B9D7D1"/>
          </a:solidFill>
          <a:ln w="0">
            <a:solidFill>
              <a:srgbClr val="000000">
                <a:alpha val="0"/>
              </a:srgbClr>
            </a:solidFill>
            <a:prstDash val="solid"/>
          </a:ln>
        </p:spPr>
      </p:sp>
      <p:sp>
        <p:nvSpPr>
          <p:cNvPr id="13" name="Rectangles 12"/>
          <p:cNvSpPr>
            <a:spLocks noGrp="1"/>
          </p:cNvSpPr>
          <p:nvPr/>
        </p:nvSpPr>
        <p:spPr>
          <a:xfrm>
            <a:off x="1657350" y="2905125"/>
            <a:ext cx="4191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132A2F"/>
                </a:solidFill>
                <a:latin typeface="Avenir Next" panose="020B0803020202020204"/>
                <a:ea typeface="Avenir Next" panose="020B0803020202020204"/>
                <a:cs typeface="Avenir Next" panose="020B0803020202020204"/>
              </a:defRPr>
            </a:pPr>
            <a:r>
              <a:rPr sz="750" b="1">
                <a:solidFill>
                  <a:srgbClr val="132A2F"/>
                </a:solidFill>
                <a:latin typeface="Avenir Next" panose="020B0803020202020204"/>
                <a:ea typeface="Avenir Next" panose="020B0803020202020204"/>
                <a:cs typeface="Avenir Next" panose="020B0803020202020204"/>
              </a:rPr>
              <a:t>LEVEL 2 · INTERMEDIATE DIAGNOSTIC SEARCH</a:t>
            </a:r>
            <a:endParaRPr sz="750" b="1">
              <a:solidFill>
                <a:srgbClr val="132A2F"/>
              </a:solidFill>
              <a:latin typeface="Avenir Next" panose="020B0803020202020204"/>
              <a:ea typeface="Avenir Next" panose="020B0803020202020204"/>
              <a:cs typeface="Avenir Next" panose="020B0803020202020204"/>
            </a:endParaRPr>
          </a:p>
        </p:txBody>
      </p:sp>
      <p:sp>
        <p:nvSpPr>
          <p:cNvPr id="14" name="Rectangles 13"/>
          <p:cNvSpPr>
            <a:spLocks noGrp="1"/>
          </p:cNvSpPr>
          <p:nvPr/>
        </p:nvSpPr>
        <p:spPr>
          <a:xfrm>
            <a:off x="1657350" y="3209925"/>
            <a:ext cx="37147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1">
                <a:solidFill>
                  <a:srgbClr val="132A2F"/>
                </a:solidFill>
                <a:latin typeface="New York"/>
                <a:ea typeface="New York"/>
                <a:cs typeface="New York"/>
              </a:defRPr>
            </a:pPr>
            <a:r>
              <a:rPr sz="1050" b="1">
                <a:solidFill>
                  <a:srgbClr val="132A2F"/>
                </a:solidFill>
                <a:latin typeface="New York"/>
                <a:ea typeface="New York"/>
                <a:cs typeface="New York"/>
              </a:rPr>
              <a:t>Immutable + historical features locked</a:t>
            </a:r>
            <a:endParaRPr sz="1050" b="1">
              <a:solidFill>
                <a:srgbClr val="132A2F"/>
              </a:solidFill>
              <a:latin typeface="New York"/>
              <a:ea typeface="New York"/>
              <a:cs typeface="New York"/>
            </a:endParaRPr>
          </a:p>
        </p:txBody>
      </p:sp>
      <p:sp>
        <p:nvSpPr>
          <p:cNvPr id="15" name="Rectangles 14"/>
          <p:cNvSpPr>
            <a:spLocks noGrp="1"/>
          </p:cNvSpPr>
          <p:nvPr/>
        </p:nvSpPr>
        <p:spPr>
          <a:xfrm>
            <a:off x="1657350" y="3448050"/>
            <a:ext cx="4000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90" b="0">
                <a:solidFill>
                  <a:srgbClr val="5F6D6D"/>
                </a:solidFill>
                <a:latin typeface="Avenir Next" panose="020B0803020202020204"/>
                <a:ea typeface="Avenir Next" panose="020B0803020202020204"/>
                <a:cs typeface="Avenir Next" panose="020B0803020202020204"/>
              </a:defRPr>
            </a:pPr>
            <a:r>
              <a:rPr sz="790" b="0">
                <a:solidFill>
                  <a:srgbClr val="5F6D6D"/>
                </a:solidFill>
                <a:latin typeface="Avenir Next" panose="020B0803020202020204"/>
                <a:ea typeface="Avenir Next" panose="020B0803020202020204"/>
                <a:cs typeface="Avenir Next" panose="020B0803020202020204"/>
              </a:rPr>
              <a:t>Perception, job context, and direct levers may vary</a:t>
            </a:r>
            <a:endParaRPr sz="790" b="0">
              <a:solidFill>
                <a:srgbClr val="5F6D6D"/>
              </a:solidFill>
              <a:latin typeface="Avenir Next" panose="020B0803020202020204"/>
              <a:ea typeface="Avenir Next" panose="020B0803020202020204"/>
              <a:cs typeface="Avenir Next" panose="020B0803020202020204"/>
            </a:endParaRPr>
          </a:p>
        </p:txBody>
      </p:sp>
      <p:sp>
        <p:nvSpPr>
          <p:cNvPr id="16" name="Rectangles 15"/>
          <p:cNvSpPr>
            <a:spLocks noGrp="1"/>
          </p:cNvSpPr>
          <p:nvPr/>
        </p:nvSpPr>
        <p:spPr>
          <a:xfrm>
            <a:off x="2819400" y="3638550"/>
            <a:ext cx="6286500" cy="666750"/>
          </a:xfrm>
          <a:prstGeom prst="rect">
            <a:avLst/>
          </a:prstGeom>
          <a:solidFill>
            <a:srgbClr val="132A2F"/>
          </a:solidFill>
          <a:ln w="0">
            <a:solidFill>
              <a:srgbClr val="000000">
                <a:alpha val="0"/>
              </a:srgbClr>
            </a:solidFill>
            <a:prstDash val="solid"/>
          </a:ln>
        </p:spPr>
      </p:sp>
      <p:sp>
        <p:nvSpPr>
          <p:cNvPr id="17" name="Rectangles 16"/>
          <p:cNvSpPr>
            <a:spLocks noGrp="1"/>
          </p:cNvSpPr>
          <p:nvPr/>
        </p:nvSpPr>
        <p:spPr>
          <a:xfrm>
            <a:off x="3048000" y="3743325"/>
            <a:ext cx="3429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EAD9A8"/>
                </a:solidFill>
                <a:latin typeface="Avenir Next" panose="020B0803020202020204"/>
                <a:ea typeface="Avenir Next" panose="020B0803020202020204"/>
                <a:cs typeface="Avenir Next" panose="020B0803020202020204"/>
              </a:defRPr>
            </a:pPr>
            <a:r>
              <a:rPr sz="675" b="1">
                <a:solidFill>
                  <a:srgbClr val="EAD9A8"/>
                </a:solidFill>
                <a:latin typeface="Avenir Next" panose="020B0803020202020204"/>
                <a:ea typeface="Avenir Next" panose="020B0803020202020204"/>
                <a:cs typeface="Avenir Next" panose="020B0803020202020204"/>
              </a:rPr>
              <a:t>LEVEL 3 · MAIN EXHAUSTIVE GRID</a:t>
            </a:r>
            <a:endParaRPr sz="675" b="1">
              <a:solidFill>
                <a:srgbClr val="EAD9A8"/>
              </a:solidFill>
              <a:latin typeface="Avenir Next" panose="020B0803020202020204"/>
              <a:ea typeface="Avenir Next" panose="020B0803020202020204"/>
              <a:cs typeface="Avenir Next" panose="020B0803020202020204"/>
            </a:endParaRPr>
          </a:p>
        </p:txBody>
      </p:sp>
      <p:sp>
        <p:nvSpPr>
          <p:cNvPr id="18" name="Rectangles 17"/>
          <p:cNvSpPr>
            <a:spLocks noGrp="1"/>
          </p:cNvSpPr>
          <p:nvPr/>
        </p:nvSpPr>
        <p:spPr>
          <a:xfrm>
            <a:off x="3048000" y="3981450"/>
            <a:ext cx="3714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F7F2E9"/>
                </a:solidFill>
                <a:latin typeface="New York"/>
                <a:ea typeface="New York"/>
                <a:cs typeface="New York"/>
              </a:defRPr>
            </a:pPr>
            <a:r>
              <a:rPr sz="1125" b="1">
                <a:solidFill>
                  <a:srgbClr val="F7F2E9"/>
                </a:solidFill>
                <a:latin typeface="New York"/>
                <a:ea typeface="New York"/>
                <a:cs typeface="New York"/>
              </a:rPr>
              <a:t>Only three directional HR levers</a:t>
            </a:r>
            <a:endParaRPr sz="1125" b="1">
              <a:solidFill>
                <a:srgbClr val="F7F2E9"/>
              </a:solidFill>
              <a:latin typeface="New York"/>
              <a:ea typeface="New York"/>
              <a:cs typeface="New York"/>
            </a:endParaRPr>
          </a:p>
        </p:txBody>
      </p:sp>
      <p:sp>
        <p:nvSpPr>
          <p:cNvPr id="19" name="Rectangles 18"/>
          <p:cNvSpPr>
            <a:spLocks noGrp="1"/>
          </p:cNvSpPr>
          <p:nvPr/>
        </p:nvSpPr>
        <p:spPr>
          <a:xfrm>
            <a:off x="6915150" y="3990975"/>
            <a:ext cx="19431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15" b="1">
                <a:solidFill>
                  <a:srgbClr val="B9D7D1"/>
                </a:solidFill>
                <a:latin typeface="Avenir Next" panose="020B0803020202020204"/>
                <a:ea typeface="Avenir Next" panose="020B0803020202020204"/>
                <a:cs typeface="Avenir Next" panose="020B0803020202020204"/>
              </a:defRPr>
            </a:pPr>
            <a:r>
              <a:rPr sz="715" b="1">
                <a:solidFill>
                  <a:srgbClr val="B9D7D1"/>
                </a:solidFill>
                <a:latin typeface="Avenir Next" panose="020B0803020202020204"/>
                <a:ea typeface="Avenir Next" panose="020B0803020202020204"/>
                <a:cs typeface="Avenir Next" panose="020B0803020202020204"/>
              </a:rPr>
              <a:t>2,681 unique scenarios evaluated</a:t>
            </a:r>
            <a:endParaRPr sz="715" b="1">
              <a:solidFill>
                <a:srgbClr val="B9D7D1"/>
              </a:solidFill>
              <a:latin typeface="Avenir Next" panose="020B0803020202020204"/>
              <a:ea typeface="Avenir Next" panose="020B0803020202020204"/>
              <a:cs typeface="Avenir Next" panose="020B0803020202020204"/>
            </a:endParaRPr>
          </a:p>
        </p:txBody>
      </p:sp>
      <p:sp>
        <p:nvSpPr>
          <p:cNvPr id="20" name="Rectangles 19"/>
          <p:cNvSpPr>
            <a:spLocks noGrp="1"/>
          </p:cNvSpPr>
          <p:nvPr/>
        </p:nvSpPr>
        <p:spPr>
          <a:xfrm>
            <a:off x="552450" y="5086350"/>
            <a:ext cx="10801350" cy="9525"/>
          </a:xfrm>
          <a:prstGeom prst="rect">
            <a:avLst/>
          </a:prstGeom>
          <a:solidFill>
            <a:srgbClr val="D9D2C7"/>
          </a:solidFill>
          <a:ln w="0">
            <a:solidFill>
              <a:srgbClr val="000000">
                <a:alpha val="0"/>
              </a:srgbClr>
            </a:solidFill>
            <a:prstDash val="solid"/>
          </a:ln>
        </p:spPr>
      </p:sp>
      <p:sp>
        <p:nvSpPr>
          <p:cNvPr id="21" name="Rectangles 20"/>
          <p:cNvSpPr>
            <a:spLocks noGrp="1"/>
          </p:cNvSpPr>
          <p:nvPr/>
        </p:nvSpPr>
        <p:spPr>
          <a:xfrm>
            <a:off x="552450" y="5343525"/>
            <a:ext cx="57150" cy="695325"/>
          </a:xfrm>
          <a:prstGeom prst="rect">
            <a:avLst/>
          </a:prstGeom>
          <a:solidFill>
            <a:srgbClr val="E45B4F"/>
          </a:solidFill>
          <a:ln w="0">
            <a:solidFill>
              <a:srgbClr val="000000">
                <a:alpha val="0"/>
              </a:srgbClr>
            </a:solidFill>
            <a:prstDash val="solid"/>
          </a:ln>
        </p:spPr>
      </p:sp>
      <p:sp>
        <p:nvSpPr>
          <p:cNvPr id="22" name="Rectangles 21"/>
          <p:cNvSpPr>
            <a:spLocks noGrp="1"/>
          </p:cNvSpPr>
          <p:nvPr/>
        </p:nvSpPr>
        <p:spPr>
          <a:xfrm>
            <a:off x="742950" y="5334000"/>
            <a:ext cx="3086100" cy="2190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32A2F"/>
                </a:solidFill>
                <a:latin typeface="New York"/>
                <a:ea typeface="New York"/>
                <a:cs typeface="New York"/>
              </a:defRPr>
            </a:pPr>
            <a:r>
              <a:rPr sz="1125" b="1">
                <a:solidFill>
                  <a:srgbClr val="132A2F"/>
                </a:solidFill>
                <a:latin typeface="New York"/>
                <a:ea typeface="New York"/>
                <a:cs typeface="New York"/>
              </a:rPr>
              <a:t>Monthly income</a:t>
            </a:r>
            <a:endParaRPr sz="1125" b="1">
              <a:solidFill>
                <a:srgbClr val="132A2F"/>
              </a:solidFill>
              <a:latin typeface="New York"/>
              <a:ea typeface="New York"/>
              <a:cs typeface="New York"/>
            </a:endParaRPr>
          </a:p>
        </p:txBody>
      </p:sp>
      <p:sp>
        <p:nvSpPr>
          <p:cNvPr id="23" name="Rectangles 22"/>
          <p:cNvSpPr>
            <a:spLocks noGrp="1"/>
          </p:cNvSpPr>
          <p:nvPr/>
        </p:nvSpPr>
        <p:spPr>
          <a:xfrm>
            <a:off x="742950" y="5638800"/>
            <a:ext cx="30861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F6D6D"/>
                </a:solidFill>
                <a:latin typeface="Avenir Next" panose="020B0803020202020204"/>
                <a:ea typeface="Avenir Next" panose="020B0803020202020204"/>
                <a:cs typeface="Avenir Next" panose="020B0803020202020204"/>
              </a:defRPr>
            </a:pPr>
            <a:r>
              <a:rPr sz="750" b="0">
                <a:solidFill>
                  <a:srgbClr val="5F6D6D"/>
                </a:solidFill>
                <a:latin typeface="Avenir Next" panose="020B0803020202020204"/>
                <a:ea typeface="Avenir Next" panose="020B0803020202020204"/>
                <a:cs typeface="Avenir Next" panose="020B0803020202020204"/>
              </a:rPr>
              <a:t>0–30% increase · 5-point steps</a:t>
            </a:r>
            <a:endParaRPr sz="750" b="0">
              <a:solidFill>
                <a:srgbClr val="5F6D6D"/>
              </a:solidFill>
              <a:latin typeface="Avenir Next" panose="020B0803020202020204"/>
              <a:ea typeface="Avenir Next" panose="020B0803020202020204"/>
              <a:cs typeface="Avenir Next" panose="020B0803020202020204"/>
            </a:endParaRPr>
          </a:p>
          <a:p>
            <a:pPr algn="l">
              <a:buNone/>
              <a:defRPr sz="750" b="0">
                <a:solidFill>
                  <a:srgbClr val="5F6D6D"/>
                </a:solidFill>
                <a:latin typeface="Avenir Next" panose="020B0803020202020204"/>
                <a:ea typeface="Avenir Next" panose="020B0803020202020204"/>
                <a:cs typeface="Avenir Next" panose="020B0803020202020204"/>
              </a:defRPr>
            </a:pPr>
            <a:r>
              <a:rPr sz="750" b="0">
                <a:solidFill>
                  <a:srgbClr val="5F6D6D"/>
                </a:solidFill>
                <a:latin typeface="Avenir Next" panose="020B0803020202020204"/>
                <a:ea typeface="Avenir Next" panose="020B0803020202020204"/>
                <a:cs typeface="Avenir Next" panose="020B0803020202020204"/>
              </a:rPr>
              <a:t>training-derived salary cap</a:t>
            </a:r>
            <a:endParaRPr sz="750" b="0">
              <a:solidFill>
                <a:srgbClr val="5F6D6D"/>
              </a:solidFill>
              <a:latin typeface="Avenir Next" panose="020B0803020202020204"/>
              <a:ea typeface="Avenir Next" panose="020B0803020202020204"/>
              <a:cs typeface="Avenir Next" panose="020B0803020202020204"/>
            </a:endParaRPr>
          </a:p>
        </p:txBody>
      </p:sp>
      <p:sp>
        <p:nvSpPr>
          <p:cNvPr id="24" name="Rectangles 23"/>
          <p:cNvSpPr>
            <a:spLocks noGrp="1"/>
          </p:cNvSpPr>
          <p:nvPr/>
        </p:nvSpPr>
        <p:spPr>
          <a:xfrm>
            <a:off x="4152900" y="5343525"/>
            <a:ext cx="57150" cy="695325"/>
          </a:xfrm>
          <a:prstGeom prst="rect">
            <a:avLst/>
          </a:prstGeom>
          <a:solidFill>
            <a:srgbClr val="D6A83A"/>
          </a:solidFill>
          <a:ln w="0">
            <a:solidFill>
              <a:srgbClr val="000000">
                <a:alpha val="0"/>
              </a:srgbClr>
            </a:solidFill>
            <a:prstDash val="solid"/>
          </a:ln>
        </p:spPr>
      </p:sp>
      <p:sp>
        <p:nvSpPr>
          <p:cNvPr id="25" name="Rectangles 24"/>
          <p:cNvSpPr>
            <a:spLocks noGrp="1"/>
          </p:cNvSpPr>
          <p:nvPr/>
        </p:nvSpPr>
        <p:spPr>
          <a:xfrm>
            <a:off x="4343400" y="5334000"/>
            <a:ext cx="3086100" cy="2190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32A2F"/>
                </a:solidFill>
                <a:latin typeface="New York"/>
                <a:ea typeface="New York"/>
                <a:cs typeface="New York"/>
              </a:defRPr>
            </a:pPr>
            <a:r>
              <a:rPr sz="1125" b="1">
                <a:solidFill>
                  <a:srgbClr val="132A2F"/>
                </a:solidFill>
                <a:latin typeface="New York"/>
                <a:ea typeface="New York"/>
                <a:cs typeface="New York"/>
              </a:rPr>
              <a:t>Stock option level</a:t>
            </a:r>
            <a:endParaRPr sz="1125" b="1">
              <a:solidFill>
                <a:srgbClr val="132A2F"/>
              </a:solidFill>
              <a:latin typeface="New York"/>
              <a:ea typeface="New York"/>
              <a:cs typeface="New York"/>
            </a:endParaRPr>
          </a:p>
        </p:txBody>
      </p:sp>
      <p:sp>
        <p:nvSpPr>
          <p:cNvPr id="26" name="Rectangles 25"/>
          <p:cNvSpPr>
            <a:spLocks noGrp="1"/>
          </p:cNvSpPr>
          <p:nvPr/>
        </p:nvSpPr>
        <p:spPr>
          <a:xfrm>
            <a:off x="4343400" y="5638800"/>
            <a:ext cx="30861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F6D6D"/>
                </a:solidFill>
                <a:latin typeface="Avenir Next" panose="020B0803020202020204"/>
                <a:ea typeface="Avenir Next" panose="020B0803020202020204"/>
                <a:cs typeface="Avenir Next" panose="020B0803020202020204"/>
              </a:defRPr>
            </a:pPr>
            <a:r>
              <a:rPr sz="750" b="0">
                <a:solidFill>
                  <a:srgbClr val="5F6D6D"/>
                </a:solidFill>
                <a:latin typeface="Avenir Next" panose="020B0803020202020204"/>
                <a:ea typeface="Avenir Next" panose="020B0803020202020204"/>
                <a:cs typeface="Avenir Next" panose="020B0803020202020204"/>
              </a:rPr>
              <a:t>No decrease · up to</a:t>
            </a:r>
            <a:endParaRPr sz="750" b="0">
              <a:solidFill>
                <a:srgbClr val="5F6D6D"/>
              </a:solidFill>
              <a:latin typeface="Avenir Next" panose="020B0803020202020204"/>
              <a:ea typeface="Avenir Next" panose="020B0803020202020204"/>
              <a:cs typeface="Avenir Next" panose="020B0803020202020204"/>
            </a:endParaRPr>
          </a:p>
          <a:p>
            <a:pPr algn="l">
              <a:buNone/>
              <a:defRPr sz="750" b="0">
                <a:solidFill>
                  <a:srgbClr val="5F6D6D"/>
                </a:solidFill>
                <a:latin typeface="Avenir Next" panose="020B0803020202020204"/>
                <a:ea typeface="Avenir Next" panose="020B0803020202020204"/>
                <a:cs typeface="Avenir Next" panose="020B0803020202020204"/>
              </a:defRPr>
            </a:pPr>
            <a:r>
              <a:rPr sz="750" b="0">
                <a:solidFill>
                  <a:srgbClr val="5F6D6D"/>
                </a:solidFill>
                <a:latin typeface="Avenir Next" panose="020B0803020202020204"/>
                <a:ea typeface="Avenir Next" panose="020B0803020202020204"/>
                <a:cs typeface="Avenir Next" panose="020B0803020202020204"/>
              </a:rPr>
              <a:t>training-observed maximum</a:t>
            </a:r>
            <a:endParaRPr sz="750" b="0">
              <a:solidFill>
                <a:srgbClr val="5F6D6D"/>
              </a:solidFill>
              <a:latin typeface="Avenir Next" panose="020B0803020202020204"/>
              <a:ea typeface="Avenir Next" panose="020B0803020202020204"/>
              <a:cs typeface="Avenir Next" panose="020B0803020202020204"/>
            </a:endParaRPr>
          </a:p>
        </p:txBody>
      </p:sp>
      <p:sp>
        <p:nvSpPr>
          <p:cNvPr id="27" name="Rectangles 26"/>
          <p:cNvSpPr>
            <a:spLocks noGrp="1"/>
          </p:cNvSpPr>
          <p:nvPr/>
        </p:nvSpPr>
        <p:spPr>
          <a:xfrm>
            <a:off x="7753350" y="5343525"/>
            <a:ext cx="57150" cy="695325"/>
          </a:xfrm>
          <a:prstGeom prst="rect">
            <a:avLst/>
          </a:prstGeom>
          <a:solidFill>
            <a:srgbClr val="2A7F78"/>
          </a:solidFill>
          <a:ln w="0">
            <a:solidFill>
              <a:srgbClr val="000000">
                <a:alpha val="0"/>
              </a:srgbClr>
            </a:solidFill>
            <a:prstDash val="solid"/>
          </a:ln>
        </p:spPr>
      </p:sp>
      <p:sp>
        <p:nvSpPr>
          <p:cNvPr id="28" name="Rectangles 27"/>
          <p:cNvSpPr>
            <a:spLocks noGrp="1"/>
          </p:cNvSpPr>
          <p:nvPr/>
        </p:nvSpPr>
        <p:spPr>
          <a:xfrm>
            <a:off x="7943850" y="5334000"/>
            <a:ext cx="3086100" cy="2190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32A2F"/>
                </a:solidFill>
                <a:latin typeface="New York"/>
                <a:ea typeface="New York"/>
                <a:cs typeface="New York"/>
              </a:defRPr>
            </a:pPr>
            <a:r>
              <a:rPr sz="1125" b="1">
                <a:solidFill>
                  <a:srgbClr val="132A2F"/>
                </a:solidFill>
                <a:latin typeface="New York"/>
                <a:ea typeface="New York"/>
                <a:cs typeface="New York"/>
              </a:rPr>
              <a:t>Overtime</a:t>
            </a:r>
            <a:endParaRPr sz="1125" b="1">
              <a:solidFill>
                <a:srgbClr val="132A2F"/>
              </a:solidFill>
              <a:latin typeface="New York"/>
              <a:ea typeface="New York"/>
              <a:cs typeface="New York"/>
            </a:endParaRPr>
          </a:p>
        </p:txBody>
      </p:sp>
      <p:sp>
        <p:nvSpPr>
          <p:cNvPr id="29" name="Rectangles 28"/>
          <p:cNvSpPr>
            <a:spLocks noGrp="1"/>
          </p:cNvSpPr>
          <p:nvPr/>
        </p:nvSpPr>
        <p:spPr>
          <a:xfrm>
            <a:off x="7943850" y="5638800"/>
            <a:ext cx="30861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F6D6D"/>
                </a:solidFill>
                <a:latin typeface="Avenir Next" panose="020B0803020202020204"/>
                <a:ea typeface="Avenir Next" panose="020B0803020202020204"/>
                <a:cs typeface="Avenir Next" panose="020B0803020202020204"/>
              </a:defRPr>
            </a:pPr>
            <a:r>
              <a:rPr sz="750" b="0">
                <a:solidFill>
                  <a:srgbClr val="5F6D6D"/>
                </a:solidFill>
                <a:latin typeface="Avenir Next" panose="020B0803020202020204"/>
                <a:ea typeface="Avenir Next" panose="020B0803020202020204"/>
                <a:cs typeface="Avenir Next" panose="020B0803020202020204"/>
              </a:rPr>
              <a:t>Yes → No only</a:t>
            </a:r>
            <a:endParaRPr sz="750" b="0">
              <a:solidFill>
                <a:srgbClr val="5F6D6D"/>
              </a:solidFill>
              <a:latin typeface="Avenir Next" panose="020B0803020202020204"/>
              <a:ea typeface="Avenir Next" panose="020B0803020202020204"/>
              <a:cs typeface="Avenir Next" panose="020B0803020202020204"/>
            </a:endParaRPr>
          </a:p>
          <a:p>
            <a:pPr algn="l">
              <a:buNone/>
              <a:defRPr sz="750" b="0">
                <a:solidFill>
                  <a:srgbClr val="5F6D6D"/>
                </a:solidFill>
                <a:latin typeface="Avenir Next" panose="020B0803020202020204"/>
                <a:ea typeface="Avenir Next" panose="020B0803020202020204"/>
                <a:cs typeface="Avenir Next" panose="020B0803020202020204"/>
              </a:defRPr>
            </a:pPr>
            <a:r>
              <a:rPr sz="750" b="0">
                <a:solidFill>
                  <a:srgbClr val="5F6D6D"/>
                </a:solidFill>
                <a:latin typeface="Avenir Next" panose="020B0803020202020204"/>
                <a:ea typeface="Avenir Next" panose="020B0803020202020204"/>
                <a:cs typeface="Avenir Next" panose="020B0803020202020204"/>
              </a:rPr>
              <a:t>no reverse change</a:t>
            </a:r>
            <a:endParaRPr sz="750" b="0">
              <a:solidFill>
                <a:srgbClr val="5F6D6D"/>
              </a:solidFill>
              <a:latin typeface="Avenir Next" panose="020B0803020202020204"/>
              <a:ea typeface="Avenir Next" panose="020B0803020202020204"/>
              <a:cs typeface="Avenir Next" panose="020B0803020202020204"/>
            </a:endParaRPr>
          </a:p>
        </p:txBody>
      </p:sp>
      <p:sp>
        <p:nvSpPr>
          <p:cNvPr id="30" name="Rectangles 29"/>
          <p:cNvSpPr>
            <a:spLocks noGrp="1"/>
          </p:cNvSpPr>
          <p:nvPr/>
        </p:nvSpPr>
        <p:spPr>
          <a:xfrm>
            <a:off x="552450" y="6486525"/>
            <a:ext cx="11087100" cy="9525"/>
          </a:xfrm>
          <a:prstGeom prst="rect">
            <a:avLst/>
          </a:prstGeom>
          <a:solidFill>
            <a:srgbClr val="D9D2C7"/>
          </a:solidFill>
          <a:ln w="0">
            <a:solidFill>
              <a:srgbClr val="000000">
                <a:alpha val="0"/>
              </a:srgbClr>
            </a:solidFill>
            <a:prstDash val="solid"/>
          </a:ln>
        </p:spPr>
      </p:sp>
      <p:sp>
        <p:nvSpPr>
          <p:cNvPr id="31" name="Rectangles 30"/>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Levels 1–2 are diagnostic only; Level 3 is exhaustive only within the predeclared grid</a:t>
            </a:r>
            <a:endParaRPr sz="640" b="0">
              <a:solidFill>
                <a:srgbClr val="5F6D6D"/>
              </a:solidFill>
              <a:latin typeface="Avenir Next" panose="020B0803020202020204"/>
              <a:ea typeface="Avenir Next" panose="020B0803020202020204"/>
              <a:cs typeface="Avenir Next" panose="020B0803020202020204"/>
            </a:endParaRPr>
          </a:p>
        </p:txBody>
      </p:sp>
      <p:sp>
        <p:nvSpPr>
          <p:cNvPr id="32" name="Rectangles 31"/>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08</a:t>
            </a:r>
            <a:endParaRPr sz="675" b="1">
              <a:solidFill>
                <a:srgbClr val="5F6D6D"/>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4F0E8"/>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132A2F"/>
          </a:solidFill>
          <a:ln w="0">
            <a:solidFill>
              <a:srgbClr val="000000">
                <a:alpha val="0"/>
              </a:srgbClr>
            </a:solidFill>
            <a:prstDash val="solid"/>
          </a:ln>
        </p:spPr>
      </p:sp>
      <p:sp>
        <p:nvSpPr>
          <p:cNvPr id="4" name="kicker-07-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07-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CENTRAL RESULT</a:t>
            </a:r>
            <a:endParaRPr sz="750" b="1">
              <a:solidFill>
                <a:srgbClr val="5F6D6D"/>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685800"/>
            <a:ext cx="10668000" cy="952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132A2F"/>
                </a:solidFill>
                <a:latin typeface="New York"/>
                <a:ea typeface="New York"/>
                <a:cs typeface="New York"/>
              </a:defRPr>
            </a:pPr>
            <a:r>
              <a:rPr sz="2550" b="1">
                <a:solidFill>
                  <a:srgbClr val="132A2F"/>
                </a:solidFill>
                <a:latin typeface="New York"/>
                <a:ea typeface="New York"/>
                <a:cs typeface="New York"/>
              </a:rPr>
              <a:t>Diagnostic recourse was universal; encoded HR feasibility covered only 73 of 117 employees.</a:t>
            </a:r>
            <a:endParaRPr sz="2550" b="1">
              <a:solidFill>
                <a:srgbClr val="132A2F"/>
              </a:solidFill>
              <a:latin typeface="New York"/>
              <a:ea typeface="New York"/>
              <a:cs typeface="New York"/>
            </a:endParaRPr>
          </a:p>
        </p:txBody>
      </p:sp>
      <p:sp>
        <p:nvSpPr>
          <p:cNvPr id="7" name="Rectangles 6"/>
          <p:cNvSpPr>
            <a:spLocks noGrp="1"/>
          </p:cNvSpPr>
          <p:nvPr/>
        </p:nvSpPr>
        <p:spPr>
          <a:xfrm>
            <a:off x="552450" y="2162175"/>
            <a:ext cx="857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LEVEL 1</a:t>
            </a:r>
            <a:endParaRPr sz="675" b="1">
              <a:solidFill>
                <a:srgbClr val="5F6D6D"/>
              </a:solidFill>
              <a:latin typeface="Avenir Next" panose="020B0803020202020204"/>
              <a:ea typeface="Avenir Next" panose="020B0803020202020204"/>
              <a:cs typeface="Avenir Next" panose="020B0803020202020204"/>
            </a:endParaRPr>
          </a:p>
        </p:txBody>
      </p:sp>
      <p:sp>
        <p:nvSpPr>
          <p:cNvPr id="8" name="Rectangles 7"/>
          <p:cNvSpPr>
            <a:spLocks noGrp="1"/>
          </p:cNvSpPr>
          <p:nvPr/>
        </p:nvSpPr>
        <p:spPr>
          <a:xfrm>
            <a:off x="552450" y="2381250"/>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5F6D6D"/>
                </a:solidFill>
                <a:latin typeface="Avenir Next" panose="020B0803020202020204"/>
                <a:ea typeface="Avenir Next" panose="020B0803020202020204"/>
                <a:cs typeface="Avenir Next" panose="020B0803020202020204"/>
              </a:defRPr>
            </a:pPr>
            <a:r>
              <a:rPr sz="715" b="0">
                <a:solidFill>
                  <a:srgbClr val="5F6D6D"/>
                </a:solidFill>
                <a:latin typeface="Avenir Next" panose="020B0803020202020204"/>
                <a:ea typeface="Avenir Next" panose="020B0803020202020204"/>
                <a:cs typeface="Avenir Next" panose="020B0803020202020204"/>
              </a:rPr>
              <a:t>broad diagnostic</a:t>
            </a:r>
            <a:endParaRPr sz="715" b="0">
              <a:solidFill>
                <a:srgbClr val="5F6D6D"/>
              </a:solidFill>
              <a:latin typeface="Avenir Next" panose="020B0803020202020204"/>
              <a:ea typeface="Avenir Next" panose="020B0803020202020204"/>
              <a:cs typeface="Avenir Next" panose="020B0803020202020204"/>
            </a:endParaRPr>
          </a:p>
        </p:txBody>
      </p:sp>
      <p:sp>
        <p:nvSpPr>
          <p:cNvPr id="9" name="Rectangles 8"/>
          <p:cNvSpPr>
            <a:spLocks noGrp="1"/>
          </p:cNvSpPr>
          <p:nvPr/>
        </p:nvSpPr>
        <p:spPr>
          <a:xfrm>
            <a:off x="2076450" y="2085975"/>
            <a:ext cx="7239000" cy="628650"/>
          </a:xfrm>
          <a:prstGeom prst="rect">
            <a:avLst/>
          </a:prstGeom>
          <a:solidFill>
            <a:srgbClr val="EAD9A8"/>
          </a:solidFill>
          <a:ln w="0">
            <a:solidFill>
              <a:srgbClr val="000000">
                <a:alpha val="0"/>
              </a:srgbClr>
            </a:solidFill>
            <a:prstDash val="solid"/>
          </a:ln>
        </p:spPr>
      </p:sp>
      <p:sp>
        <p:nvSpPr>
          <p:cNvPr id="10" name="Rectangles 9"/>
          <p:cNvSpPr>
            <a:spLocks noGrp="1"/>
          </p:cNvSpPr>
          <p:nvPr/>
        </p:nvSpPr>
        <p:spPr>
          <a:xfrm>
            <a:off x="2076450" y="2085975"/>
            <a:ext cx="7239000" cy="76200"/>
          </a:xfrm>
          <a:prstGeom prst="rect">
            <a:avLst/>
          </a:prstGeom>
          <a:solidFill>
            <a:srgbClr val="D6A83A"/>
          </a:solidFill>
          <a:ln w="0">
            <a:solidFill>
              <a:srgbClr val="000000">
                <a:alpha val="0"/>
              </a:srgbClr>
            </a:solidFill>
            <a:prstDash val="solid"/>
          </a:ln>
        </p:spPr>
      </p:sp>
      <p:sp>
        <p:nvSpPr>
          <p:cNvPr id="11" name="Rectangles 10"/>
          <p:cNvSpPr>
            <a:spLocks noGrp="1"/>
          </p:cNvSpPr>
          <p:nvPr/>
        </p:nvSpPr>
        <p:spPr>
          <a:xfrm>
            <a:off x="2305050" y="2276475"/>
            <a:ext cx="1714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1">
                <a:solidFill>
                  <a:srgbClr val="132A2F"/>
                </a:solidFill>
                <a:latin typeface="New York"/>
                <a:ea typeface="New York"/>
                <a:cs typeface="New York"/>
              </a:defRPr>
            </a:pPr>
            <a:r>
              <a:rPr sz="1575" b="1">
                <a:solidFill>
                  <a:srgbClr val="132A2F"/>
                </a:solidFill>
                <a:latin typeface="New York"/>
                <a:ea typeface="New York"/>
                <a:cs typeface="New York"/>
              </a:rPr>
              <a:t>117 / 117</a:t>
            </a:r>
            <a:endParaRPr sz="1575" b="1">
              <a:solidFill>
                <a:srgbClr val="132A2F"/>
              </a:solidFill>
              <a:latin typeface="New York"/>
              <a:ea typeface="New York"/>
              <a:cs typeface="New York"/>
            </a:endParaRPr>
          </a:p>
        </p:txBody>
      </p:sp>
      <p:sp>
        <p:nvSpPr>
          <p:cNvPr id="12" name="Rectangles 11"/>
          <p:cNvSpPr>
            <a:spLocks noGrp="1"/>
          </p:cNvSpPr>
          <p:nvPr/>
        </p:nvSpPr>
        <p:spPr>
          <a:xfrm>
            <a:off x="7886700" y="2257425"/>
            <a:ext cx="1143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500" b="1">
                <a:solidFill>
                  <a:srgbClr val="132A2F"/>
                </a:solidFill>
                <a:latin typeface="New York"/>
                <a:ea typeface="New York"/>
                <a:cs typeface="New York"/>
              </a:defRPr>
            </a:pPr>
            <a:r>
              <a:rPr sz="1500" b="1">
                <a:solidFill>
                  <a:srgbClr val="132A2F"/>
                </a:solidFill>
                <a:latin typeface="New York"/>
                <a:ea typeface="New York"/>
                <a:cs typeface="New York"/>
              </a:rPr>
              <a:t>100.0%</a:t>
            </a:r>
            <a:endParaRPr sz="1500" b="1">
              <a:solidFill>
                <a:srgbClr val="132A2F"/>
              </a:solidFill>
              <a:latin typeface="New York"/>
              <a:ea typeface="New York"/>
              <a:cs typeface="New York"/>
            </a:endParaRPr>
          </a:p>
        </p:txBody>
      </p:sp>
      <p:sp>
        <p:nvSpPr>
          <p:cNvPr id="13" name="Rectangles 12"/>
          <p:cNvSpPr>
            <a:spLocks noGrp="1"/>
          </p:cNvSpPr>
          <p:nvPr/>
        </p:nvSpPr>
        <p:spPr>
          <a:xfrm>
            <a:off x="552450" y="3076575"/>
            <a:ext cx="857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LEVEL 2</a:t>
            </a:r>
            <a:endParaRPr sz="675" b="1">
              <a:solidFill>
                <a:srgbClr val="5F6D6D"/>
              </a:solidFill>
              <a:latin typeface="Avenir Next" panose="020B0803020202020204"/>
              <a:ea typeface="Avenir Next" panose="020B0803020202020204"/>
              <a:cs typeface="Avenir Next" panose="020B0803020202020204"/>
            </a:endParaRPr>
          </a:p>
        </p:txBody>
      </p:sp>
      <p:sp>
        <p:nvSpPr>
          <p:cNvPr id="14" name="Rectangles 13"/>
          <p:cNvSpPr>
            <a:spLocks noGrp="1"/>
          </p:cNvSpPr>
          <p:nvPr/>
        </p:nvSpPr>
        <p:spPr>
          <a:xfrm>
            <a:off x="552450" y="3295650"/>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5F6D6D"/>
                </a:solidFill>
                <a:latin typeface="Avenir Next" panose="020B0803020202020204"/>
                <a:ea typeface="Avenir Next" panose="020B0803020202020204"/>
                <a:cs typeface="Avenir Next" panose="020B0803020202020204"/>
              </a:defRPr>
            </a:pPr>
            <a:r>
              <a:rPr sz="715" b="0">
                <a:solidFill>
                  <a:srgbClr val="5F6D6D"/>
                </a:solidFill>
                <a:latin typeface="Avenir Next" panose="020B0803020202020204"/>
                <a:ea typeface="Avenir Next" panose="020B0803020202020204"/>
                <a:cs typeface="Avenir Next" panose="020B0803020202020204"/>
              </a:rPr>
              <a:t>intermediate diagnostic</a:t>
            </a:r>
            <a:endParaRPr sz="715" b="0">
              <a:solidFill>
                <a:srgbClr val="5F6D6D"/>
              </a:solidFill>
              <a:latin typeface="Avenir Next" panose="020B0803020202020204"/>
              <a:ea typeface="Avenir Next" panose="020B0803020202020204"/>
              <a:cs typeface="Avenir Next" panose="020B0803020202020204"/>
            </a:endParaRPr>
          </a:p>
        </p:txBody>
      </p:sp>
      <p:sp>
        <p:nvSpPr>
          <p:cNvPr id="15" name="Rectangles 14"/>
          <p:cNvSpPr>
            <a:spLocks noGrp="1"/>
          </p:cNvSpPr>
          <p:nvPr/>
        </p:nvSpPr>
        <p:spPr>
          <a:xfrm>
            <a:off x="2076450" y="3000375"/>
            <a:ext cx="7239000" cy="628650"/>
          </a:xfrm>
          <a:prstGeom prst="rect">
            <a:avLst/>
          </a:prstGeom>
          <a:solidFill>
            <a:srgbClr val="EAD9A8"/>
          </a:solidFill>
          <a:ln w="0">
            <a:solidFill>
              <a:srgbClr val="000000">
                <a:alpha val="0"/>
              </a:srgbClr>
            </a:solidFill>
            <a:prstDash val="solid"/>
          </a:ln>
        </p:spPr>
      </p:sp>
      <p:sp>
        <p:nvSpPr>
          <p:cNvPr id="16" name="Rectangles 15"/>
          <p:cNvSpPr>
            <a:spLocks noGrp="1"/>
          </p:cNvSpPr>
          <p:nvPr/>
        </p:nvSpPr>
        <p:spPr>
          <a:xfrm>
            <a:off x="2076450" y="3000375"/>
            <a:ext cx="7239000" cy="76200"/>
          </a:xfrm>
          <a:prstGeom prst="rect">
            <a:avLst/>
          </a:prstGeom>
          <a:solidFill>
            <a:srgbClr val="D6A83A"/>
          </a:solidFill>
          <a:ln w="0">
            <a:solidFill>
              <a:srgbClr val="000000">
                <a:alpha val="0"/>
              </a:srgbClr>
            </a:solidFill>
            <a:prstDash val="solid"/>
          </a:ln>
        </p:spPr>
      </p:sp>
      <p:sp>
        <p:nvSpPr>
          <p:cNvPr id="17" name="Rectangles 16"/>
          <p:cNvSpPr>
            <a:spLocks noGrp="1"/>
          </p:cNvSpPr>
          <p:nvPr/>
        </p:nvSpPr>
        <p:spPr>
          <a:xfrm>
            <a:off x="2305050" y="3190875"/>
            <a:ext cx="1714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1">
                <a:solidFill>
                  <a:srgbClr val="132A2F"/>
                </a:solidFill>
                <a:latin typeface="New York"/>
                <a:ea typeface="New York"/>
                <a:cs typeface="New York"/>
              </a:defRPr>
            </a:pPr>
            <a:r>
              <a:rPr sz="1575" b="1">
                <a:solidFill>
                  <a:srgbClr val="132A2F"/>
                </a:solidFill>
                <a:latin typeface="New York"/>
                <a:ea typeface="New York"/>
                <a:cs typeface="New York"/>
              </a:rPr>
              <a:t>117 / 117</a:t>
            </a:r>
            <a:endParaRPr sz="1575" b="1">
              <a:solidFill>
                <a:srgbClr val="132A2F"/>
              </a:solidFill>
              <a:latin typeface="New York"/>
              <a:ea typeface="New York"/>
              <a:cs typeface="New York"/>
            </a:endParaRPr>
          </a:p>
        </p:txBody>
      </p:sp>
      <p:sp>
        <p:nvSpPr>
          <p:cNvPr id="18" name="Rectangles 17"/>
          <p:cNvSpPr>
            <a:spLocks noGrp="1"/>
          </p:cNvSpPr>
          <p:nvPr/>
        </p:nvSpPr>
        <p:spPr>
          <a:xfrm>
            <a:off x="7886700" y="3171825"/>
            <a:ext cx="1143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1500" b="1">
                <a:solidFill>
                  <a:srgbClr val="132A2F"/>
                </a:solidFill>
                <a:latin typeface="New York"/>
                <a:ea typeface="New York"/>
                <a:cs typeface="New York"/>
              </a:defRPr>
            </a:pPr>
            <a:r>
              <a:rPr sz="1500" b="1">
                <a:solidFill>
                  <a:srgbClr val="132A2F"/>
                </a:solidFill>
                <a:latin typeface="New York"/>
                <a:ea typeface="New York"/>
                <a:cs typeface="New York"/>
              </a:rPr>
              <a:t>100.0%</a:t>
            </a:r>
            <a:endParaRPr sz="1500" b="1">
              <a:solidFill>
                <a:srgbClr val="132A2F"/>
              </a:solidFill>
              <a:latin typeface="New York"/>
              <a:ea typeface="New York"/>
              <a:cs typeface="New York"/>
            </a:endParaRPr>
          </a:p>
        </p:txBody>
      </p:sp>
      <p:sp>
        <p:nvSpPr>
          <p:cNvPr id="19" name="Rectangles 18"/>
          <p:cNvSpPr>
            <a:spLocks noGrp="1"/>
          </p:cNvSpPr>
          <p:nvPr/>
        </p:nvSpPr>
        <p:spPr>
          <a:xfrm>
            <a:off x="552450" y="3990975"/>
            <a:ext cx="857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LEVEL 3</a:t>
            </a:r>
            <a:endParaRPr sz="675" b="1">
              <a:solidFill>
                <a:srgbClr val="5F6D6D"/>
              </a:solidFill>
              <a:latin typeface="Avenir Next" panose="020B0803020202020204"/>
              <a:ea typeface="Avenir Next" panose="020B0803020202020204"/>
              <a:cs typeface="Avenir Next" panose="020B0803020202020204"/>
            </a:endParaRPr>
          </a:p>
        </p:txBody>
      </p:sp>
      <p:sp>
        <p:nvSpPr>
          <p:cNvPr id="20" name="Rectangles 19"/>
          <p:cNvSpPr>
            <a:spLocks noGrp="1"/>
          </p:cNvSpPr>
          <p:nvPr/>
        </p:nvSpPr>
        <p:spPr>
          <a:xfrm>
            <a:off x="552450" y="4210050"/>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5F6D6D"/>
                </a:solidFill>
                <a:latin typeface="Avenir Next" panose="020B0803020202020204"/>
                <a:ea typeface="Avenir Next" panose="020B0803020202020204"/>
                <a:cs typeface="Avenir Next" panose="020B0803020202020204"/>
              </a:defRPr>
            </a:pPr>
            <a:r>
              <a:rPr sz="715" b="0">
                <a:solidFill>
                  <a:srgbClr val="5F6D6D"/>
                </a:solidFill>
                <a:latin typeface="Avenir Next" panose="020B0803020202020204"/>
                <a:ea typeface="Avenir Next" panose="020B0803020202020204"/>
                <a:cs typeface="Avenir Next" panose="020B0803020202020204"/>
              </a:rPr>
              <a:t>bounded HR grid</a:t>
            </a:r>
            <a:endParaRPr sz="715" b="0">
              <a:solidFill>
                <a:srgbClr val="5F6D6D"/>
              </a:solidFill>
              <a:latin typeface="Avenir Next" panose="020B0803020202020204"/>
              <a:ea typeface="Avenir Next" panose="020B0803020202020204"/>
              <a:cs typeface="Avenir Next" panose="020B0803020202020204"/>
            </a:endParaRPr>
          </a:p>
        </p:txBody>
      </p:sp>
      <p:sp>
        <p:nvSpPr>
          <p:cNvPr id="21" name="Rectangles 20"/>
          <p:cNvSpPr>
            <a:spLocks noGrp="1"/>
          </p:cNvSpPr>
          <p:nvPr/>
        </p:nvSpPr>
        <p:spPr>
          <a:xfrm>
            <a:off x="2076450" y="3914775"/>
            <a:ext cx="4514850" cy="742950"/>
          </a:xfrm>
          <a:prstGeom prst="rect">
            <a:avLst/>
          </a:prstGeom>
          <a:solidFill>
            <a:srgbClr val="2A7F78"/>
          </a:solidFill>
          <a:ln w="0">
            <a:solidFill>
              <a:srgbClr val="000000">
                <a:alpha val="0"/>
              </a:srgbClr>
            </a:solidFill>
            <a:prstDash val="solid"/>
          </a:ln>
        </p:spPr>
      </p:sp>
      <p:sp>
        <p:nvSpPr>
          <p:cNvPr id="22" name="Rectangles 21"/>
          <p:cNvSpPr>
            <a:spLocks noGrp="1"/>
          </p:cNvSpPr>
          <p:nvPr/>
        </p:nvSpPr>
        <p:spPr>
          <a:xfrm>
            <a:off x="6591300" y="3914775"/>
            <a:ext cx="2724150" cy="742950"/>
          </a:xfrm>
          <a:prstGeom prst="rect">
            <a:avLst/>
          </a:prstGeom>
          <a:solidFill>
            <a:srgbClr val="F4C1BB"/>
          </a:solidFill>
          <a:ln w="0">
            <a:solidFill>
              <a:srgbClr val="000000">
                <a:alpha val="0"/>
              </a:srgbClr>
            </a:solidFill>
            <a:prstDash val="solid"/>
          </a:ln>
        </p:spPr>
      </p:sp>
      <p:sp>
        <p:nvSpPr>
          <p:cNvPr id="23" name="Rectangles 22"/>
          <p:cNvSpPr>
            <a:spLocks noGrp="1"/>
          </p:cNvSpPr>
          <p:nvPr/>
        </p:nvSpPr>
        <p:spPr>
          <a:xfrm>
            <a:off x="2305050" y="4133850"/>
            <a:ext cx="20955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75" b="1">
                <a:solidFill>
                  <a:srgbClr val="F7F2E9"/>
                </a:solidFill>
                <a:latin typeface="New York"/>
                <a:ea typeface="New York"/>
                <a:cs typeface="New York"/>
              </a:defRPr>
            </a:pPr>
            <a:r>
              <a:rPr sz="1575" b="1">
                <a:solidFill>
                  <a:srgbClr val="F7F2E9"/>
                </a:solidFill>
                <a:latin typeface="New York"/>
                <a:ea typeface="New York"/>
                <a:cs typeface="New York"/>
              </a:rPr>
              <a:t>73 actionable</a:t>
            </a:r>
            <a:endParaRPr sz="1575" b="1">
              <a:solidFill>
                <a:srgbClr val="F7F2E9"/>
              </a:solidFill>
              <a:latin typeface="New York"/>
              <a:ea typeface="New York"/>
              <a:cs typeface="New York"/>
            </a:endParaRPr>
          </a:p>
        </p:txBody>
      </p:sp>
      <p:sp>
        <p:nvSpPr>
          <p:cNvPr id="24" name="Rectangles 23"/>
          <p:cNvSpPr>
            <a:spLocks noGrp="1"/>
          </p:cNvSpPr>
          <p:nvPr/>
        </p:nvSpPr>
        <p:spPr>
          <a:xfrm>
            <a:off x="6762750" y="4133850"/>
            <a:ext cx="23812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275" b="1">
                <a:solidFill>
                  <a:srgbClr val="132A2F"/>
                </a:solidFill>
                <a:latin typeface="New York"/>
                <a:ea typeface="New York"/>
                <a:cs typeface="New York"/>
              </a:defRPr>
            </a:pPr>
            <a:r>
              <a:rPr sz="1275" b="1">
                <a:solidFill>
                  <a:srgbClr val="132A2F"/>
                </a:solidFill>
                <a:latin typeface="New York"/>
                <a:ea typeface="New York"/>
                <a:cs typeface="New York"/>
              </a:rPr>
              <a:t>44 not feasible</a:t>
            </a:r>
            <a:endParaRPr sz="1275" b="1">
              <a:solidFill>
                <a:srgbClr val="132A2F"/>
              </a:solidFill>
              <a:latin typeface="New York"/>
              <a:ea typeface="New York"/>
              <a:cs typeface="New York"/>
            </a:endParaRPr>
          </a:p>
        </p:txBody>
      </p:sp>
      <p:sp>
        <p:nvSpPr>
          <p:cNvPr id="25" name="Rectangles 24"/>
          <p:cNvSpPr>
            <a:spLocks noGrp="1"/>
          </p:cNvSpPr>
          <p:nvPr/>
        </p:nvSpPr>
        <p:spPr>
          <a:xfrm>
            <a:off x="9429750" y="2105025"/>
            <a:ext cx="1924050" cy="2552700"/>
          </a:xfrm>
          <a:prstGeom prst="rect">
            <a:avLst/>
          </a:prstGeom>
          <a:solidFill>
            <a:srgbClr val="132A2F"/>
          </a:solidFill>
          <a:ln w="0">
            <a:solidFill>
              <a:srgbClr val="000000">
                <a:alpha val="0"/>
              </a:srgbClr>
            </a:solidFill>
            <a:prstDash val="solid"/>
          </a:ln>
        </p:spPr>
      </p:sp>
      <p:sp>
        <p:nvSpPr>
          <p:cNvPr id="26" name="Rectangles 25"/>
          <p:cNvSpPr>
            <a:spLocks noGrp="1"/>
          </p:cNvSpPr>
          <p:nvPr/>
        </p:nvSpPr>
        <p:spPr>
          <a:xfrm>
            <a:off x="9582150" y="2457450"/>
            <a:ext cx="161925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3675" b="1">
                <a:solidFill>
                  <a:srgbClr val="F4C1BB"/>
                </a:solidFill>
                <a:latin typeface="New York"/>
                <a:ea typeface="New York"/>
                <a:cs typeface="New York"/>
              </a:defRPr>
            </a:pPr>
            <a:r>
              <a:rPr sz="3675" b="1">
                <a:solidFill>
                  <a:srgbClr val="F4C1BB"/>
                </a:solidFill>
                <a:latin typeface="New York"/>
                <a:ea typeface="New York"/>
                <a:cs typeface="New York"/>
              </a:rPr>
              <a:t>−37.6</a:t>
            </a:r>
            <a:endParaRPr sz="3675" b="1">
              <a:solidFill>
                <a:srgbClr val="F4C1BB"/>
              </a:solidFill>
              <a:latin typeface="New York"/>
              <a:ea typeface="New York"/>
              <a:cs typeface="New York"/>
            </a:endParaRPr>
          </a:p>
        </p:txBody>
      </p:sp>
      <p:sp>
        <p:nvSpPr>
          <p:cNvPr id="27" name="Rectangles 26"/>
          <p:cNvSpPr>
            <a:spLocks noGrp="1"/>
          </p:cNvSpPr>
          <p:nvPr/>
        </p:nvSpPr>
        <p:spPr>
          <a:xfrm>
            <a:off x="9601200" y="3133725"/>
            <a:ext cx="15811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50" b="1">
                <a:solidFill>
                  <a:srgbClr val="EAD9A8"/>
                </a:solidFill>
                <a:latin typeface="Avenir Next" panose="020B0803020202020204"/>
                <a:ea typeface="Avenir Next" panose="020B0803020202020204"/>
                <a:cs typeface="Avenir Next" panose="020B0803020202020204"/>
              </a:defRPr>
            </a:pPr>
            <a:r>
              <a:rPr sz="750" b="1">
                <a:solidFill>
                  <a:srgbClr val="EAD9A8"/>
                </a:solidFill>
                <a:latin typeface="Avenir Next" panose="020B0803020202020204"/>
                <a:ea typeface="Avenir Next" panose="020B0803020202020204"/>
                <a:cs typeface="Avenir Next" panose="020B0803020202020204"/>
              </a:rPr>
              <a:t>percentage points</a:t>
            </a:r>
            <a:endParaRPr sz="750" b="1">
              <a:solidFill>
                <a:srgbClr val="EAD9A8"/>
              </a:solidFill>
              <a:latin typeface="Avenir Next" panose="020B0803020202020204"/>
              <a:ea typeface="Avenir Next" panose="020B0803020202020204"/>
              <a:cs typeface="Avenir Next" panose="020B0803020202020204"/>
            </a:endParaRPr>
          </a:p>
        </p:txBody>
      </p:sp>
      <p:sp>
        <p:nvSpPr>
          <p:cNvPr id="28" name="Rectangles 27"/>
          <p:cNvSpPr>
            <a:spLocks noGrp="1"/>
          </p:cNvSpPr>
          <p:nvPr/>
        </p:nvSpPr>
        <p:spPr>
          <a:xfrm>
            <a:off x="9772650" y="3533775"/>
            <a:ext cx="1257300" cy="9525"/>
          </a:xfrm>
          <a:prstGeom prst="rect">
            <a:avLst/>
          </a:prstGeom>
          <a:solidFill>
            <a:srgbClr val="203D42"/>
          </a:solidFill>
          <a:ln w="0">
            <a:solidFill>
              <a:srgbClr val="000000">
                <a:alpha val="0"/>
              </a:srgbClr>
            </a:solidFill>
            <a:prstDash val="solid"/>
          </a:ln>
        </p:spPr>
      </p:sp>
      <p:sp>
        <p:nvSpPr>
          <p:cNvPr id="29" name="Rectangles 28"/>
          <p:cNvSpPr>
            <a:spLocks noGrp="1"/>
          </p:cNvSpPr>
          <p:nvPr/>
        </p:nvSpPr>
        <p:spPr>
          <a:xfrm>
            <a:off x="9753600" y="3733800"/>
            <a:ext cx="1295400" cy="590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0">
                <a:solidFill>
                  <a:srgbClr val="F7F2E9"/>
                </a:solidFill>
                <a:latin typeface="Avenir Next" panose="020B0803020202020204"/>
                <a:ea typeface="Avenir Next" panose="020B0803020202020204"/>
                <a:cs typeface="Avenir Next" panose="020B0803020202020204"/>
              </a:defRPr>
            </a:pPr>
            <a:r>
              <a:rPr sz="825" b="0">
                <a:solidFill>
                  <a:srgbClr val="F7F2E9"/>
                </a:solidFill>
                <a:latin typeface="Avenir Next" panose="020B0803020202020204"/>
                <a:ea typeface="Avenir Next" panose="020B0803020202020204"/>
                <a:cs typeface="Avenir Next" panose="020B0803020202020204"/>
              </a:rPr>
              <a:t>coverage lost after applying the bounded intervention rules</a:t>
            </a:r>
            <a:endParaRPr sz="825" b="0">
              <a:solidFill>
                <a:srgbClr val="F7F2E9"/>
              </a:solidFill>
              <a:latin typeface="Avenir Next" panose="020B0803020202020204"/>
              <a:ea typeface="Avenir Next" panose="020B0803020202020204"/>
              <a:cs typeface="Avenir Next" panose="020B0803020202020204"/>
            </a:endParaRPr>
          </a:p>
        </p:txBody>
      </p:sp>
      <p:sp>
        <p:nvSpPr>
          <p:cNvPr id="30" name="Rectangles 29"/>
          <p:cNvSpPr>
            <a:spLocks noGrp="1"/>
          </p:cNvSpPr>
          <p:nvPr/>
        </p:nvSpPr>
        <p:spPr>
          <a:xfrm>
            <a:off x="552450" y="5095875"/>
            <a:ext cx="10801350" cy="9525"/>
          </a:xfrm>
          <a:prstGeom prst="rect">
            <a:avLst/>
          </a:prstGeom>
          <a:solidFill>
            <a:srgbClr val="D9D2C7"/>
          </a:solidFill>
          <a:ln w="0">
            <a:solidFill>
              <a:srgbClr val="000000">
                <a:alpha val="0"/>
              </a:srgbClr>
            </a:solidFill>
            <a:prstDash val="solid"/>
          </a:ln>
        </p:spPr>
      </p:sp>
      <p:sp>
        <p:nvSpPr>
          <p:cNvPr id="31" name="Rectangles 30"/>
          <p:cNvSpPr>
            <a:spLocks noGrp="1"/>
          </p:cNvSpPr>
          <p:nvPr/>
        </p:nvSpPr>
        <p:spPr>
          <a:xfrm>
            <a:off x="552450" y="5410200"/>
            <a:ext cx="47625" cy="571500"/>
          </a:xfrm>
          <a:prstGeom prst="rect">
            <a:avLst/>
          </a:prstGeom>
          <a:solidFill>
            <a:srgbClr val="2A7F78"/>
          </a:solidFill>
          <a:ln w="0">
            <a:solidFill>
              <a:srgbClr val="000000">
                <a:alpha val="0"/>
              </a:srgbClr>
            </a:solidFill>
            <a:prstDash val="solid"/>
          </a:ln>
        </p:spPr>
      </p:sp>
      <p:sp>
        <p:nvSpPr>
          <p:cNvPr id="32" name="Rectangles 31"/>
          <p:cNvSpPr>
            <a:spLocks noGrp="1"/>
          </p:cNvSpPr>
          <p:nvPr/>
        </p:nvSpPr>
        <p:spPr>
          <a:xfrm>
            <a:off x="723900" y="5353050"/>
            <a:ext cx="6096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025" b="1">
                <a:solidFill>
                  <a:srgbClr val="132A2F"/>
                </a:solidFill>
                <a:latin typeface="New York"/>
                <a:ea typeface="New York"/>
                <a:cs typeface="New York"/>
              </a:defRPr>
            </a:pPr>
            <a:r>
              <a:rPr sz="2025" b="1">
                <a:solidFill>
                  <a:srgbClr val="132A2F"/>
                </a:solidFill>
                <a:latin typeface="New York"/>
                <a:ea typeface="New York"/>
                <a:cs typeface="New York"/>
              </a:rPr>
              <a:t>73</a:t>
            </a:r>
            <a:endParaRPr sz="2025" b="1">
              <a:solidFill>
                <a:srgbClr val="132A2F"/>
              </a:solidFill>
              <a:latin typeface="New York"/>
              <a:ea typeface="New York"/>
              <a:cs typeface="New York"/>
            </a:endParaRPr>
          </a:p>
        </p:txBody>
      </p:sp>
      <p:sp>
        <p:nvSpPr>
          <p:cNvPr id="33" name="Rectangles 32"/>
          <p:cNvSpPr>
            <a:spLocks noGrp="1"/>
          </p:cNvSpPr>
          <p:nvPr/>
        </p:nvSpPr>
        <p:spPr>
          <a:xfrm>
            <a:off x="1409700" y="5429250"/>
            <a:ext cx="2476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ACTIONABLE</a:t>
            </a:r>
            <a:endParaRPr sz="675" b="1">
              <a:solidFill>
                <a:srgbClr val="5F6D6D"/>
              </a:solidFill>
              <a:latin typeface="Avenir Next" panose="020B0803020202020204"/>
              <a:ea typeface="Avenir Next" panose="020B0803020202020204"/>
              <a:cs typeface="Avenir Next" panose="020B0803020202020204"/>
            </a:endParaRPr>
          </a:p>
        </p:txBody>
      </p:sp>
      <p:sp>
        <p:nvSpPr>
          <p:cNvPr id="34" name="Rectangles 33"/>
          <p:cNvSpPr>
            <a:spLocks noGrp="1"/>
          </p:cNvSpPr>
          <p:nvPr/>
        </p:nvSpPr>
        <p:spPr>
          <a:xfrm>
            <a:off x="1409700" y="5657850"/>
            <a:ext cx="1333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132A2F"/>
                </a:solidFill>
                <a:latin typeface="Avenir Next" panose="020B0803020202020204"/>
                <a:ea typeface="Avenir Next" panose="020B0803020202020204"/>
                <a:cs typeface="Avenir Next" panose="020B0803020202020204"/>
              </a:defRPr>
            </a:pPr>
            <a:r>
              <a:rPr sz="900" b="1">
                <a:solidFill>
                  <a:srgbClr val="132A2F"/>
                </a:solidFill>
                <a:latin typeface="Avenir Next" panose="020B0803020202020204"/>
                <a:ea typeface="Avenir Next" panose="020B0803020202020204"/>
                <a:cs typeface="Avenir Next" panose="020B0803020202020204"/>
              </a:rPr>
              <a:t>62.4%</a:t>
            </a:r>
            <a:endParaRPr sz="900" b="1">
              <a:solidFill>
                <a:srgbClr val="132A2F"/>
              </a:solidFill>
              <a:latin typeface="Avenir Next" panose="020B0803020202020204"/>
              <a:ea typeface="Avenir Next" panose="020B0803020202020204"/>
              <a:cs typeface="Avenir Next" panose="020B0803020202020204"/>
            </a:endParaRPr>
          </a:p>
        </p:txBody>
      </p:sp>
      <p:sp>
        <p:nvSpPr>
          <p:cNvPr id="35" name="Rectangles 34"/>
          <p:cNvSpPr>
            <a:spLocks noGrp="1"/>
          </p:cNvSpPr>
          <p:nvPr/>
        </p:nvSpPr>
        <p:spPr>
          <a:xfrm>
            <a:off x="4095750" y="5410200"/>
            <a:ext cx="47625" cy="571500"/>
          </a:xfrm>
          <a:prstGeom prst="rect">
            <a:avLst/>
          </a:prstGeom>
          <a:solidFill>
            <a:srgbClr val="E45B4F"/>
          </a:solidFill>
          <a:ln w="0">
            <a:solidFill>
              <a:srgbClr val="000000">
                <a:alpha val="0"/>
              </a:srgbClr>
            </a:solidFill>
            <a:prstDash val="solid"/>
          </a:ln>
        </p:spPr>
      </p:sp>
      <p:sp>
        <p:nvSpPr>
          <p:cNvPr id="36" name="Rectangles 35"/>
          <p:cNvSpPr>
            <a:spLocks noGrp="1"/>
          </p:cNvSpPr>
          <p:nvPr/>
        </p:nvSpPr>
        <p:spPr>
          <a:xfrm>
            <a:off x="4267200" y="5353050"/>
            <a:ext cx="6096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025" b="1">
                <a:solidFill>
                  <a:srgbClr val="132A2F"/>
                </a:solidFill>
                <a:latin typeface="New York"/>
                <a:ea typeface="New York"/>
                <a:cs typeface="New York"/>
              </a:defRPr>
            </a:pPr>
            <a:r>
              <a:rPr sz="2025" b="1">
                <a:solidFill>
                  <a:srgbClr val="132A2F"/>
                </a:solidFill>
                <a:latin typeface="New York"/>
                <a:ea typeface="New York"/>
                <a:cs typeface="New York"/>
              </a:rPr>
              <a:t>44</a:t>
            </a:r>
            <a:endParaRPr sz="2025" b="1">
              <a:solidFill>
                <a:srgbClr val="132A2F"/>
              </a:solidFill>
              <a:latin typeface="New York"/>
              <a:ea typeface="New York"/>
              <a:cs typeface="New York"/>
            </a:endParaRPr>
          </a:p>
        </p:txBody>
      </p:sp>
      <p:sp>
        <p:nvSpPr>
          <p:cNvPr id="37" name="Rectangles 36"/>
          <p:cNvSpPr>
            <a:spLocks noGrp="1"/>
          </p:cNvSpPr>
          <p:nvPr/>
        </p:nvSpPr>
        <p:spPr>
          <a:xfrm>
            <a:off x="4953000" y="5429250"/>
            <a:ext cx="2476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MODEL-VALID, NOT FEASIBLE</a:t>
            </a:r>
            <a:endParaRPr sz="675" b="1">
              <a:solidFill>
                <a:srgbClr val="5F6D6D"/>
              </a:solidFill>
              <a:latin typeface="Avenir Next" panose="020B0803020202020204"/>
              <a:ea typeface="Avenir Next" panose="020B0803020202020204"/>
              <a:cs typeface="Avenir Next" panose="020B0803020202020204"/>
            </a:endParaRPr>
          </a:p>
        </p:txBody>
      </p:sp>
      <p:sp>
        <p:nvSpPr>
          <p:cNvPr id="38" name="Rectangles 37"/>
          <p:cNvSpPr>
            <a:spLocks noGrp="1"/>
          </p:cNvSpPr>
          <p:nvPr/>
        </p:nvSpPr>
        <p:spPr>
          <a:xfrm>
            <a:off x="4953000" y="5657850"/>
            <a:ext cx="1333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132A2F"/>
                </a:solidFill>
                <a:latin typeface="Avenir Next" panose="020B0803020202020204"/>
                <a:ea typeface="Avenir Next" panose="020B0803020202020204"/>
                <a:cs typeface="Avenir Next" panose="020B0803020202020204"/>
              </a:defRPr>
            </a:pPr>
            <a:r>
              <a:rPr sz="900" b="1">
                <a:solidFill>
                  <a:srgbClr val="132A2F"/>
                </a:solidFill>
                <a:latin typeface="Avenir Next" panose="020B0803020202020204"/>
                <a:ea typeface="Avenir Next" panose="020B0803020202020204"/>
                <a:cs typeface="Avenir Next" panose="020B0803020202020204"/>
              </a:rPr>
              <a:t>37.6%</a:t>
            </a:r>
            <a:endParaRPr sz="900" b="1">
              <a:solidFill>
                <a:srgbClr val="132A2F"/>
              </a:solidFill>
              <a:latin typeface="Avenir Next" panose="020B0803020202020204"/>
              <a:ea typeface="Avenir Next" panose="020B0803020202020204"/>
              <a:cs typeface="Avenir Next" panose="020B0803020202020204"/>
            </a:endParaRPr>
          </a:p>
        </p:txBody>
      </p:sp>
      <p:sp>
        <p:nvSpPr>
          <p:cNvPr id="39" name="Rectangles 38"/>
          <p:cNvSpPr>
            <a:spLocks noGrp="1"/>
          </p:cNvSpPr>
          <p:nvPr/>
        </p:nvSpPr>
        <p:spPr>
          <a:xfrm>
            <a:off x="8096250" y="5410200"/>
            <a:ext cx="47625" cy="571500"/>
          </a:xfrm>
          <a:prstGeom prst="rect">
            <a:avLst/>
          </a:prstGeom>
          <a:solidFill>
            <a:srgbClr val="A9A093"/>
          </a:solidFill>
          <a:ln w="0">
            <a:solidFill>
              <a:srgbClr val="000000">
                <a:alpha val="0"/>
              </a:srgbClr>
            </a:solidFill>
            <a:prstDash val="solid"/>
          </a:ln>
        </p:spPr>
      </p:sp>
      <p:sp>
        <p:nvSpPr>
          <p:cNvPr id="40" name="Rectangles 39"/>
          <p:cNvSpPr>
            <a:spLocks noGrp="1"/>
          </p:cNvSpPr>
          <p:nvPr/>
        </p:nvSpPr>
        <p:spPr>
          <a:xfrm>
            <a:off x="8267700" y="5353050"/>
            <a:ext cx="6096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025" b="1">
                <a:solidFill>
                  <a:srgbClr val="132A2F"/>
                </a:solidFill>
                <a:latin typeface="New York"/>
                <a:ea typeface="New York"/>
                <a:cs typeface="New York"/>
              </a:defRPr>
            </a:pPr>
            <a:r>
              <a:rPr sz="2025" b="1">
                <a:solidFill>
                  <a:srgbClr val="132A2F"/>
                </a:solidFill>
                <a:latin typeface="New York"/>
                <a:ea typeface="New York"/>
                <a:cs typeface="New York"/>
              </a:rPr>
              <a:t>0</a:t>
            </a:r>
            <a:endParaRPr sz="2025" b="1">
              <a:solidFill>
                <a:srgbClr val="132A2F"/>
              </a:solidFill>
              <a:latin typeface="New York"/>
              <a:ea typeface="New York"/>
              <a:cs typeface="New York"/>
            </a:endParaRPr>
          </a:p>
        </p:txBody>
      </p:sp>
      <p:sp>
        <p:nvSpPr>
          <p:cNvPr id="41" name="Rectangles 40"/>
          <p:cNvSpPr>
            <a:spLocks noGrp="1"/>
          </p:cNvSpPr>
          <p:nvPr/>
        </p:nvSpPr>
        <p:spPr>
          <a:xfrm>
            <a:off x="8953500" y="5429250"/>
            <a:ext cx="2476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NO DIAGNOSTIC RECOURSE</a:t>
            </a:r>
            <a:endParaRPr sz="675" b="1">
              <a:solidFill>
                <a:srgbClr val="5F6D6D"/>
              </a:solidFill>
              <a:latin typeface="Avenir Next" panose="020B0803020202020204"/>
              <a:ea typeface="Avenir Next" panose="020B0803020202020204"/>
              <a:cs typeface="Avenir Next" panose="020B0803020202020204"/>
            </a:endParaRPr>
          </a:p>
        </p:txBody>
      </p:sp>
      <p:sp>
        <p:nvSpPr>
          <p:cNvPr id="42" name="Rectangles 41"/>
          <p:cNvSpPr>
            <a:spLocks noGrp="1"/>
          </p:cNvSpPr>
          <p:nvPr/>
        </p:nvSpPr>
        <p:spPr>
          <a:xfrm>
            <a:off x="8953500" y="5657850"/>
            <a:ext cx="1333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132A2F"/>
                </a:solidFill>
                <a:latin typeface="Avenir Next" panose="020B0803020202020204"/>
                <a:ea typeface="Avenir Next" panose="020B0803020202020204"/>
                <a:cs typeface="Avenir Next" panose="020B0803020202020204"/>
              </a:defRPr>
            </a:pPr>
            <a:r>
              <a:rPr sz="900" b="1">
                <a:solidFill>
                  <a:srgbClr val="132A2F"/>
                </a:solidFill>
                <a:latin typeface="Avenir Next" panose="020B0803020202020204"/>
                <a:ea typeface="Avenir Next" panose="020B0803020202020204"/>
                <a:cs typeface="Avenir Next" panose="020B0803020202020204"/>
              </a:rPr>
              <a:t>0.0%</a:t>
            </a:r>
            <a:endParaRPr sz="900" b="1">
              <a:solidFill>
                <a:srgbClr val="132A2F"/>
              </a:solidFill>
              <a:latin typeface="Avenir Next" panose="020B0803020202020204"/>
              <a:ea typeface="Avenir Next" panose="020B0803020202020204"/>
              <a:cs typeface="Avenir Next" panose="020B0803020202020204"/>
            </a:endParaRPr>
          </a:p>
        </p:txBody>
      </p:sp>
      <p:sp>
        <p:nvSpPr>
          <p:cNvPr id="43" name="Rectangles 42"/>
          <p:cNvSpPr>
            <a:spLocks noGrp="1"/>
          </p:cNvSpPr>
          <p:nvPr/>
        </p:nvSpPr>
        <p:spPr>
          <a:xfrm>
            <a:off x="552450" y="6486525"/>
            <a:ext cx="11087100" cy="9525"/>
          </a:xfrm>
          <a:prstGeom prst="rect">
            <a:avLst/>
          </a:prstGeom>
          <a:solidFill>
            <a:srgbClr val="D9D2C7"/>
          </a:solidFill>
          <a:ln w="0">
            <a:solidFill>
              <a:srgbClr val="000000">
                <a:alpha val="0"/>
              </a:srgbClr>
            </a:solidFill>
            <a:prstDash val="solid"/>
          </a:ln>
        </p:spPr>
      </p:sp>
      <p:sp>
        <p:nvSpPr>
          <p:cNvPr id="44" name="Rectangles 43"/>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Source: counterfactual_found_rate_by_level.csv and final_group_summary.csv; primary high-risk cohort n=117</a:t>
            </a:r>
            <a:endParaRPr sz="640" b="0">
              <a:solidFill>
                <a:srgbClr val="5F6D6D"/>
              </a:solidFill>
              <a:latin typeface="Avenir Next" panose="020B0803020202020204"/>
              <a:ea typeface="Avenir Next" panose="020B0803020202020204"/>
              <a:cs typeface="Avenir Next" panose="020B0803020202020204"/>
            </a:endParaRPr>
          </a:p>
        </p:txBody>
      </p:sp>
      <p:sp>
        <p:nvSpPr>
          <p:cNvPr id="45" name="Rectangles 44"/>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09</a:t>
            </a:r>
            <a:endParaRPr sz="675" b="1">
              <a:solidFill>
                <a:srgbClr val="5F6D6D"/>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4F0E8"/>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132A2F"/>
          </a:solidFill>
          <a:ln w="0">
            <a:solidFill>
              <a:srgbClr val="000000">
                <a:alpha val="0"/>
              </a:srgbClr>
            </a:solidFill>
            <a:prstDash val="solid"/>
          </a:ln>
        </p:spPr>
      </p:sp>
      <p:sp>
        <p:nvSpPr>
          <p:cNvPr id="4" name="kicker-08-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08-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WHY COVERAGE SHRANK</a:t>
            </a:r>
            <a:endParaRPr sz="750" b="1">
              <a:solidFill>
                <a:srgbClr val="5F6D6D"/>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685800"/>
            <a:ext cx="1047750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132A2F"/>
                </a:solidFill>
                <a:latin typeface="New York"/>
                <a:ea typeface="New York"/>
                <a:cs typeface="New York"/>
              </a:defRPr>
            </a:pPr>
            <a:r>
              <a:rPr sz="2550" b="1">
                <a:solidFill>
                  <a:srgbClr val="132A2F"/>
                </a:solidFill>
                <a:latin typeface="New York"/>
                <a:ea typeface="New York"/>
                <a:cs typeface="New York"/>
              </a:rPr>
              <a:t>Most rejected diagnostic scenarios changed job structure or exceeded the salary cap.</a:t>
            </a:r>
            <a:endParaRPr sz="2550" b="1">
              <a:solidFill>
                <a:srgbClr val="132A2F"/>
              </a:solidFill>
              <a:latin typeface="New York"/>
              <a:ea typeface="New York"/>
              <a:cs typeface="New York"/>
            </a:endParaRPr>
          </a:p>
        </p:txBody>
      </p:sp>
      <p:sp>
        <p:nvSpPr>
          <p:cNvPr id="7" name="Rectangles 6"/>
          <p:cNvSpPr>
            <a:spLocks noGrp="1"/>
          </p:cNvSpPr>
          <p:nvPr/>
        </p:nvSpPr>
        <p:spPr>
          <a:xfrm>
            <a:off x="552450" y="1809750"/>
            <a:ext cx="6858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VIOLATION OCCURRENCES IN MODEL-VALID DIAGNOSTIC SCENARIOS</a:t>
            </a:r>
            <a:endParaRPr sz="750" b="1">
              <a:solidFill>
                <a:srgbClr val="5F6D6D"/>
              </a:solidFill>
              <a:latin typeface="Avenir Next" panose="020B0803020202020204"/>
              <a:ea typeface="Avenir Next" panose="020B0803020202020204"/>
              <a:cs typeface="Avenir Next" panose="020B0803020202020204"/>
            </a:endParaRPr>
          </a:p>
        </p:txBody>
      </p:sp>
      <p:sp>
        <p:nvSpPr>
          <p:cNvPr id="8" name="Rectangles 7"/>
          <p:cNvSpPr>
            <a:spLocks noGrp="1"/>
          </p:cNvSpPr>
          <p:nvPr/>
        </p:nvSpPr>
        <p:spPr>
          <a:xfrm>
            <a:off x="552450" y="2171700"/>
            <a:ext cx="20764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90" b="1">
                <a:solidFill>
                  <a:srgbClr val="132A2F"/>
                </a:solidFill>
                <a:latin typeface="Avenir Next" panose="020B0803020202020204"/>
                <a:ea typeface="Avenir Next" panose="020B0803020202020204"/>
                <a:cs typeface="Avenir Next" panose="020B0803020202020204"/>
              </a:defRPr>
            </a:pPr>
            <a:r>
              <a:rPr sz="790" b="1">
                <a:solidFill>
                  <a:srgbClr val="132A2F"/>
                </a:solidFill>
                <a:latin typeface="Avenir Next" panose="020B0803020202020204"/>
                <a:ea typeface="Avenir Next" panose="020B0803020202020204"/>
                <a:cs typeface="Avenir Next" panose="020B0803020202020204"/>
              </a:rPr>
              <a:t>Job structure outside scope</a:t>
            </a:r>
            <a:endParaRPr sz="790" b="1">
              <a:solidFill>
                <a:srgbClr val="132A2F"/>
              </a:solidFill>
              <a:latin typeface="Avenir Next" panose="020B0803020202020204"/>
              <a:ea typeface="Avenir Next" panose="020B0803020202020204"/>
              <a:cs typeface="Avenir Next" panose="020B0803020202020204"/>
            </a:endParaRPr>
          </a:p>
        </p:txBody>
      </p:sp>
      <p:sp>
        <p:nvSpPr>
          <p:cNvPr id="9" name="Rectangles 8"/>
          <p:cNvSpPr>
            <a:spLocks noGrp="1"/>
          </p:cNvSpPr>
          <p:nvPr/>
        </p:nvSpPr>
        <p:spPr>
          <a:xfrm>
            <a:off x="2762250" y="2209800"/>
            <a:ext cx="4953000" cy="133350"/>
          </a:xfrm>
          <a:prstGeom prst="rect">
            <a:avLst/>
          </a:prstGeom>
          <a:solidFill>
            <a:srgbClr val="D9D2C7"/>
          </a:solidFill>
          <a:ln w="0">
            <a:solidFill>
              <a:srgbClr val="000000">
                <a:alpha val="0"/>
              </a:srgbClr>
            </a:solidFill>
            <a:prstDash val="solid"/>
          </a:ln>
        </p:spPr>
      </p:sp>
      <p:sp>
        <p:nvSpPr>
          <p:cNvPr id="10" name="Rectangles 9"/>
          <p:cNvSpPr>
            <a:spLocks noGrp="1"/>
          </p:cNvSpPr>
          <p:nvPr/>
        </p:nvSpPr>
        <p:spPr>
          <a:xfrm>
            <a:off x="2762250" y="2209800"/>
            <a:ext cx="4953000" cy="133350"/>
          </a:xfrm>
          <a:prstGeom prst="rect">
            <a:avLst/>
          </a:prstGeom>
          <a:solidFill>
            <a:srgbClr val="E45B4F"/>
          </a:solidFill>
          <a:ln w="0">
            <a:solidFill>
              <a:srgbClr val="000000">
                <a:alpha val="0"/>
              </a:srgbClr>
            </a:solidFill>
            <a:prstDash val="solid"/>
          </a:ln>
        </p:spPr>
      </p:sp>
      <p:sp>
        <p:nvSpPr>
          <p:cNvPr id="11" name="Rectangles 10"/>
          <p:cNvSpPr>
            <a:spLocks noGrp="1"/>
          </p:cNvSpPr>
          <p:nvPr/>
        </p:nvSpPr>
        <p:spPr>
          <a:xfrm>
            <a:off x="7829550" y="2162175"/>
            <a:ext cx="514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663</a:t>
            </a:r>
            <a:endParaRPr sz="825" b="1">
              <a:solidFill>
                <a:srgbClr val="132A2F"/>
              </a:solidFill>
              <a:latin typeface="Avenir Next" panose="020B0803020202020204"/>
              <a:ea typeface="Avenir Next" panose="020B0803020202020204"/>
              <a:cs typeface="Avenir Next" panose="020B0803020202020204"/>
            </a:endParaRPr>
          </a:p>
        </p:txBody>
      </p:sp>
      <p:sp>
        <p:nvSpPr>
          <p:cNvPr id="12" name="Rectangles 11"/>
          <p:cNvSpPr>
            <a:spLocks noGrp="1"/>
          </p:cNvSpPr>
          <p:nvPr/>
        </p:nvSpPr>
        <p:spPr>
          <a:xfrm>
            <a:off x="552450" y="2733675"/>
            <a:ext cx="20764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90" b="1">
                <a:solidFill>
                  <a:srgbClr val="132A2F"/>
                </a:solidFill>
                <a:latin typeface="Avenir Next" panose="020B0803020202020204"/>
                <a:ea typeface="Avenir Next" panose="020B0803020202020204"/>
                <a:cs typeface="Avenir Next" panose="020B0803020202020204"/>
              </a:defRPr>
            </a:pPr>
            <a:r>
              <a:rPr sz="790" b="1">
                <a:solidFill>
                  <a:srgbClr val="132A2F"/>
                </a:solidFill>
                <a:latin typeface="Avenir Next" panose="020B0803020202020204"/>
                <a:ea typeface="Avenir Next" panose="020B0803020202020204"/>
                <a:cs typeface="Avenir Next" panose="020B0803020202020204"/>
              </a:rPr>
              <a:t>Salary cap exceeded</a:t>
            </a:r>
            <a:endParaRPr sz="790" b="1">
              <a:solidFill>
                <a:srgbClr val="132A2F"/>
              </a:solidFill>
              <a:latin typeface="Avenir Next" panose="020B0803020202020204"/>
              <a:ea typeface="Avenir Next" panose="020B0803020202020204"/>
              <a:cs typeface="Avenir Next" panose="020B0803020202020204"/>
            </a:endParaRPr>
          </a:p>
        </p:txBody>
      </p:sp>
      <p:sp>
        <p:nvSpPr>
          <p:cNvPr id="13" name="Rectangles 12"/>
          <p:cNvSpPr>
            <a:spLocks noGrp="1"/>
          </p:cNvSpPr>
          <p:nvPr/>
        </p:nvSpPr>
        <p:spPr>
          <a:xfrm>
            <a:off x="2762250" y="2771775"/>
            <a:ext cx="4953000" cy="133350"/>
          </a:xfrm>
          <a:prstGeom prst="rect">
            <a:avLst/>
          </a:prstGeom>
          <a:solidFill>
            <a:srgbClr val="D9D2C7"/>
          </a:solidFill>
          <a:ln w="0">
            <a:solidFill>
              <a:srgbClr val="000000">
                <a:alpha val="0"/>
              </a:srgbClr>
            </a:solidFill>
            <a:prstDash val="solid"/>
          </a:ln>
        </p:spPr>
      </p:sp>
      <p:sp>
        <p:nvSpPr>
          <p:cNvPr id="14" name="Rectangles 13"/>
          <p:cNvSpPr>
            <a:spLocks noGrp="1"/>
          </p:cNvSpPr>
          <p:nvPr/>
        </p:nvSpPr>
        <p:spPr>
          <a:xfrm>
            <a:off x="2762250" y="2771775"/>
            <a:ext cx="2472765" cy="133350"/>
          </a:xfrm>
          <a:prstGeom prst="rect">
            <a:avLst/>
          </a:prstGeom>
          <a:solidFill>
            <a:srgbClr val="E45B4F"/>
          </a:solidFill>
          <a:ln w="0">
            <a:solidFill>
              <a:srgbClr val="000000">
                <a:alpha val="0"/>
              </a:srgbClr>
            </a:solidFill>
            <a:prstDash val="solid"/>
          </a:ln>
        </p:spPr>
      </p:sp>
      <p:sp>
        <p:nvSpPr>
          <p:cNvPr id="15" name="Rectangles 14"/>
          <p:cNvSpPr>
            <a:spLocks noGrp="1"/>
          </p:cNvSpPr>
          <p:nvPr/>
        </p:nvSpPr>
        <p:spPr>
          <a:xfrm>
            <a:off x="7829550" y="2724150"/>
            <a:ext cx="514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331</a:t>
            </a:r>
            <a:endParaRPr sz="825" b="1">
              <a:solidFill>
                <a:srgbClr val="132A2F"/>
              </a:solidFill>
              <a:latin typeface="Avenir Next" panose="020B0803020202020204"/>
              <a:ea typeface="Avenir Next" panose="020B0803020202020204"/>
              <a:cs typeface="Avenir Next" panose="020B0803020202020204"/>
            </a:endParaRPr>
          </a:p>
        </p:txBody>
      </p:sp>
      <p:sp>
        <p:nvSpPr>
          <p:cNvPr id="16" name="Rectangles 15"/>
          <p:cNvSpPr>
            <a:spLocks noGrp="1"/>
          </p:cNvSpPr>
          <p:nvPr/>
        </p:nvSpPr>
        <p:spPr>
          <a:xfrm>
            <a:off x="552450" y="3295650"/>
            <a:ext cx="20764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90" b="0">
                <a:solidFill>
                  <a:srgbClr val="132A2F"/>
                </a:solidFill>
                <a:latin typeface="Avenir Next" panose="020B0803020202020204"/>
                <a:ea typeface="Avenir Next" panose="020B0803020202020204"/>
                <a:cs typeface="Avenir Next" panose="020B0803020202020204"/>
              </a:defRPr>
            </a:pPr>
            <a:r>
              <a:rPr sz="790" b="0">
                <a:solidFill>
                  <a:srgbClr val="132A2F"/>
                </a:solidFill>
                <a:latin typeface="Avenir Next" panose="020B0803020202020204"/>
                <a:ea typeface="Avenir Next" panose="020B0803020202020204"/>
                <a:cs typeface="Avenir Next" panose="020B0803020202020204"/>
              </a:rPr>
              <a:t>Historical feature changed</a:t>
            </a:r>
            <a:endParaRPr sz="790" b="0">
              <a:solidFill>
                <a:srgbClr val="132A2F"/>
              </a:solidFill>
              <a:latin typeface="Avenir Next" panose="020B0803020202020204"/>
              <a:ea typeface="Avenir Next" panose="020B0803020202020204"/>
              <a:cs typeface="Avenir Next" panose="020B0803020202020204"/>
            </a:endParaRPr>
          </a:p>
        </p:txBody>
      </p:sp>
      <p:sp>
        <p:nvSpPr>
          <p:cNvPr id="17" name="Rectangles 16"/>
          <p:cNvSpPr>
            <a:spLocks noGrp="1"/>
          </p:cNvSpPr>
          <p:nvPr/>
        </p:nvSpPr>
        <p:spPr>
          <a:xfrm>
            <a:off x="2762250" y="3333750"/>
            <a:ext cx="4953000" cy="133350"/>
          </a:xfrm>
          <a:prstGeom prst="rect">
            <a:avLst/>
          </a:prstGeom>
          <a:solidFill>
            <a:srgbClr val="D9D2C7"/>
          </a:solidFill>
          <a:ln w="0">
            <a:solidFill>
              <a:srgbClr val="000000">
                <a:alpha val="0"/>
              </a:srgbClr>
            </a:solidFill>
            <a:prstDash val="solid"/>
          </a:ln>
        </p:spPr>
      </p:sp>
      <p:sp>
        <p:nvSpPr>
          <p:cNvPr id="18" name="Rectangles 17"/>
          <p:cNvSpPr>
            <a:spLocks noGrp="1"/>
          </p:cNvSpPr>
          <p:nvPr/>
        </p:nvSpPr>
        <p:spPr>
          <a:xfrm>
            <a:off x="2762250" y="3333750"/>
            <a:ext cx="2263588" cy="133350"/>
          </a:xfrm>
          <a:prstGeom prst="rect">
            <a:avLst/>
          </a:prstGeom>
          <a:solidFill>
            <a:srgbClr val="D6A83A"/>
          </a:solidFill>
          <a:ln w="0">
            <a:solidFill>
              <a:srgbClr val="000000">
                <a:alpha val="0"/>
              </a:srgbClr>
            </a:solidFill>
            <a:prstDash val="solid"/>
          </a:ln>
        </p:spPr>
      </p:sp>
      <p:sp>
        <p:nvSpPr>
          <p:cNvPr id="19" name="Rectangles 18"/>
          <p:cNvSpPr>
            <a:spLocks noGrp="1"/>
          </p:cNvSpPr>
          <p:nvPr/>
        </p:nvSpPr>
        <p:spPr>
          <a:xfrm>
            <a:off x="7829550" y="3286125"/>
            <a:ext cx="514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303</a:t>
            </a:r>
            <a:endParaRPr sz="825" b="1">
              <a:solidFill>
                <a:srgbClr val="132A2F"/>
              </a:solidFill>
              <a:latin typeface="Avenir Next" panose="020B0803020202020204"/>
              <a:ea typeface="Avenir Next" panose="020B0803020202020204"/>
              <a:cs typeface="Avenir Next" panose="020B0803020202020204"/>
            </a:endParaRPr>
          </a:p>
        </p:txBody>
      </p:sp>
      <p:sp>
        <p:nvSpPr>
          <p:cNvPr id="20" name="Rectangles 19"/>
          <p:cNvSpPr>
            <a:spLocks noGrp="1"/>
          </p:cNvSpPr>
          <p:nvPr/>
        </p:nvSpPr>
        <p:spPr>
          <a:xfrm>
            <a:off x="552450" y="3857625"/>
            <a:ext cx="20764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90" b="0">
                <a:solidFill>
                  <a:srgbClr val="132A2F"/>
                </a:solidFill>
                <a:latin typeface="Avenir Next" panose="020B0803020202020204"/>
                <a:ea typeface="Avenir Next" panose="020B0803020202020204"/>
                <a:cs typeface="Avenir Next" panose="020B0803020202020204"/>
              </a:defRPr>
            </a:pPr>
            <a:r>
              <a:rPr sz="790" b="0">
                <a:solidFill>
                  <a:srgbClr val="132A2F"/>
                </a:solidFill>
                <a:latin typeface="Avenir Next" panose="020B0803020202020204"/>
                <a:ea typeface="Avenir Next" panose="020B0803020202020204"/>
                <a:cs typeface="Avenir Next" panose="020B0803020202020204"/>
              </a:rPr>
              <a:t>Perception treated as action</a:t>
            </a:r>
            <a:endParaRPr sz="790" b="0">
              <a:solidFill>
                <a:srgbClr val="132A2F"/>
              </a:solidFill>
              <a:latin typeface="Avenir Next" panose="020B0803020202020204"/>
              <a:ea typeface="Avenir Next" panose="020B0803020202020204"/>
              <a:cs typeface="Avenir Next" panose="020B0803020202020204"/>
            </a:endParaRPr>
          </a:p>
        </p:txBody>
      </p:sp>
      <p:sp>
        <p:nvSpPr>
          <p:cNvPr id="21" name="Rectangles 20"/>
          <p:cNvSpPr>
            <a:spLocks noGrp="1"/>
          </p:cNvSpPr>
          <p:nvPr/>
        </p:nvSpPr>
        <p:spPr>
          <a:xfrm>
            <a:off x="2762250" y="3895725"/>
            <a:ext cx="4953000" cy="133350"/>
          </a:xfrm>
          <a:prstGeom prst="rect">
            <a:avLst/>
          </a:prstGeom>
          <a:solidFill>
            <a:srgbClr val="D9D2C7"/>
          </a:solidFill>
          <a:ln w="0">
            <a:solidFill>
              <a:srgbClr val="000000">
                <a:alpha val="0"/>
              </a:srgbClr>
            </a:solidFill>
            <a:prstDash val="solid"/>
          </a:ln>
        </p:spPr>
      </p:sp>
      <p:sp>
        <p:nvSpPr>
          <p:cNvPr id="22" name="Rectangles 21"/>
          <p:cNvSpPr>
            <a:spLocks noGrp="1"/>
          </p:cNvSpPr>
          <p:nvPr/>
        </p:nvSpPr>
        <p:spPr>
          <a:xfrm>
            <a:off x="2762250" y="3895725"/>
            <a:ext cx="2009588" cy="133350"/>
          </a:xfrm>
          <a:prstGeom prst="rect">
            <a:avLst/>
          </a:prstGeom>
          <a:solidFill>
            <a:srgbClr val="D6A83A"/>
          </a:solidFill>
          <a:ln w="0">
            <a:solidFill>
              <a:srgbClr val="000000">
                <a:alpha val="0"/>
              </a:srgbClr>
            </a:solidFill>
            <a:prstDash val="solid"/>
          </a:ln>
        </p:spPr>
      </p:sp>
      <p:sp>
        <p:nvSpPr>
          <p:cNvPr id="23" name="Rectangles 22"/>
          <p:cNvSpPr>
            <a:spLocks noGrp="1"/>
          </p:cNvSpPr>
          <p:nvPr/>
        </p:nvSpPr>
        <p:spPr>
          <a:xfrm>
            <a:off x="7829550" y="3848100"/>
            <a:ext cx="514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269</a:t>
            </a:r>
            <a:endParaRPr sz="825" b="1">
              <a:solidFill>
                <a:srgbClr val="132A2F"/>
              </a:solidFill>
              <a:latin typeface="Avenir Next" panose="020B0803020202020204"/>
              <a:ea typeface="Avenir Next" panose="020B0803020202020204"/>
              <a:cs typeface="Avenir Next" panose="020B0803020202020204"/>
            </a:endParaRPr>
          </a:p>
        </p:txBody>
      </p:sp>
      <p:sp>
        <p:nvSpPr>
          <p:cNvPr id="24" name="Rectangles 23"/>
          <p:cNvSpPr>
            <a:spLocks noGrp="1"/>
          </p:cNvSpPr>
          <p:nvPr/>
        </p:nvSpPr>
        <p:spPr>
          <a:xfrm>
            <a:off x="552450" y="4419600"/>
            <a:ext cx="20764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90" b="0">
                <a:solidFill>
                  <a:srgbClr val="132A2F"/>
                </a:solidFill>
                <a:latin typeface="Avenir Next" panose="020B0803020202020204"/>
                <a:ea typeface="Avenir Next" panose="020B0803020202020204"/>
                <a:cs typeface="Avenir Next" panose="020B0803020202020204"/>
              </a:defRPr>
            </a:pPr>
            <a:r>
              <a:rPr sz="790" b="0">
                <a:solidFill>
                  <a:srgbClr val="132A2F"/>
                </a:solidFill>
                <a:latin typeface="Avenir Next" panose="020B0803020202020204"/>
                <a:ea typeface="Avenir Next" panose="020B0803020202020204"/>
                <a:cs typeface="Avenir Next" panose="020B0803020202020204"/>
              </a:rPr>
              <a:t>Tenure inconsistency</a:t>
            </a:r>
            <a:endParaRPr sz="790" b="0">
              <a:solidFill>
                <a:srgbClr val="132A2F"/>
              </a:solidFill>
              <a:latin typeface="Avenir Next" panose="020B0803020202020204"/>
              <a:ea typeface="Avenir Next" panose="020B0803020202020204"/>
              <a:cs typeface="Avenir Next" panose="020B0803020202020204"/>
            </a:endParaRPr>
          </a:p>
        </p:txBody>
      </p:sp>
      <p:sp>
        <p:nvSpPr>
          <p:cNvPr id="25" name="Rectangles 24"/>
          <p:cNvSpPr>
            <a:spLocks noGrp="1"/>
          </p:cNvSpPr>
          <p:nvPr/>
        </p:nvSpPr>
        <p:spPr>
          <a:xfrm>
            <a:off x="2762250" y="4457700"/>
            <a:ext cx="4953000" cy="133350"/>
          </a:xfrm>
          <a:prstGeom prst="rect">
            <a:avLst/>
          </a:prstGeom>
          <a:solidFill>
            <a:srgbClr val="D9D2C7"/>
          </a:solidFill>
          <a:ln w="0">
            <a:solidFill>
              <a:srgbClr val="000000">
                <a:alpha val="0"/>
              </a:srgbClr>
            </a:solidFill>
            <a:prstDash val="solid"/>
          </a:ln>
        </p:spPr>
      </p:sp>
      <p:sp>
        <p:nvSpPr>
          <p:cNvPr id="26" name="Rectangles 25"/>
          <p:cNvSpPr>
            <a:spLocks noGrp="1"/>
          </p:cNvSpPr>
          <p:nvPr/>
        </p:nvSpPr>
        <p:spPr>
          <a:xfrm>
            <a:off x="2762250" y="4457700"/>
            <a:ext cx="821765" cy="133350"/>
          </a:xfrm>
          <a:prstGeom prst="rect">
            <a:avLst/>
          </a:prstGeom>
          <a:solidFill>
            <a:srgbClr val="A9A093"/>
          </a:solidFill>
          <a:ln w="0">
            <a:solidFill>
              <a:srgbClr val="000000">
                <a:alpha val="0"/>
              </a:srgbClr>
            </a:solidFill>
            <a:prstDash val="solid"/>
          </a:ln>
        </p:spPr>
      </p:sp>
      <p:sp>
        <p:nvSpPr>
          <p:cNvPr id="27" name="Rectangles 26"/>
          <p:cNvSpPr>
            <a:spLocks noGrp="1"/>
          </p:cNvSpPr>
          <p:nvPr/>
        </p:nvSpPr>
        <p:spPr>
          <a:xfrm>
            <a:off x="7829550" y="4410075"/>
            <a:ext cx="514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110</a:t>
            </a:r>
            <a:endParaRPr sz="825" b="1">
              <a:solidFill>
                <a:srgbClr val="132A2F"/>
              </a:solidFill>
              <a:latin typeface="Avenir Next" panose="020B0803020202020204"/>
              <a:ea typeface="Avenir Next" panose="020B0803020202020204"/>
              <a:cs typeface="Avenir Next" panose="020B0803020202020204"/>
            </a:endParaRPr>
          </a:p>
        </p:txBody>
      </p:sp>
      <p:sp>
        <p:nvSpPr>
          <p:cNvPr id="28" name="Rectangles 27"/>
          <p:cNvSpPr>
            <a:spLocks noGrp="1"/>
          </p:cNvSpPr>
          <p:nvPr/>
        </p:nvSpPr>
        <p:spPr>
          <a:xfrm>
            <a:off x="552450" y="4981575"/>
            <a:ext cx="20764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90" b="0">
                <a:solidFill>
                  <a:srgbClr val="132A2F"/>
                </a:solidFill>
                <a:latin typeface="Avenir Next" panose="020B0803020202020204"/>
                <a:ea typeface="Avenir Next" panose="020B0803020202020204"/>
                <a:cs typeface="Avenir Next" panose="020B0803020202020204"/>
              </a:defRPr>
            </a:pPr>
            <a:r>
              <a:rPr sz="790" b="0">
                <a:solidFill>
                  <a:srgbClr val="132A2F"/>
                </a:solidFill>
                <a:latin typeface="Avenir Next" panose="020B0803020202020204"/>
                <a:ea typeface="Avenir Next" panose="020B0803020202020204"/>
                <a:cs typeface="Avenir Next" panose="020B0803020202020204"/>
              </a:rPr>
              <a:t>Immutable feature changed</a:t>
            </a:r>
            <a:endParaRPr sz="790" b="0">
              <a:solidFill>
                <a:srgbClr val="132A2F"/>
              </a:solidFill>
              <a:latin typeface="Avenir Next" panose="020B0803020202020204"/>
              <a:ea typeface="Avenir Next" panose="020B0803020202020204"/>
              <a:cs typeface="Avenir Next" panose="020B0803020202020204"/>
            </a:endParaRPr>
          </a:p>
        </p:txBody>
      </p:sp>
      <p:sp>
        <p:nvSpPr>
          <p:cNvPr id="29" name="Rectangles 28"/>
          <p:cNvSpPr>
            <a:spLocks noGrp="1"/>
          </p:cNvSpPr>
          <p:nvPr/>
        </p:nvSpPr>
        <p:spPr>
          <a:xfrm>
            <a:off x="2762250" y="5019675"/>
            <a:ext cx="4953000" cy="133350"/>
          </a:xfrm>
          <a:prstGeom prst="rect">
            <a:avLst/>
          </a:prstGeom>
          <a:solidFill>
            <a:srgbClr val="D9D2C7"/>
          </a:solidFill>
          <a:ln w="0">
            <a:solidFill>
              <a:srgbClr val="000000">
                <a:alpha val="0"/>
              </a:srgbClr>
            </a:solidFill>
            <a:prstDash val="solid"/>
          </a:ln>
        </p:spPr>
      </p:sp>
      <p:sp>
        <p:nvSpPr>
          <p:cNvPr id="30" name="Rectangles 29"/>
          <p:cNvSpPr>
            <a:spLocks noGrp="1"/>
          </p:cNvSpPr>
          <p:nvPr/>
        </p:nvSpPr>
        <p:spPr>
          <a:xfrm>
            <a:off x="2762250" y="5019675"/>
            <a:ext cx="575235" cy="133350"/>
          </a:xfrm>
          <a:prstGeom prst="rect">
            <a:avLst/>
          </a:prstGeom>
          <a:solidFill>
            <a:srgbClr val="A9A093"/>
          </a:solidFill>
          <a:ln w="0">
            <a:solidFill>
              <a:srgbClr val="000000">
                <a:alpha val="0"/>
              </a:srgbClr>
            </a:solidFill>
            <a:prstDash val="solid"/>
          </a:ln>
        </p:spPr>
      </p:sp>
      <p:sp>
        <p:nvSpPr>
          <p:cNvPr id="31" name="Rectangles 30"/>
          <p:cNvSpPr>
            <a:spLocks noGrp="1"/>
          </p:cNvSpPr>
          <p:nvPr/>
        </p:nvSpPr>
        <p:spPr>
          <a:xfrm>
            <a:off x="7829550" y="4972050"/>
            <a:ext cx="5143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77</a:t>
            </a:r>
            <a:endParaRPr sz="825" b="1">
              <a:solidFill>
                <a:srgbClr val="132A2F"/>
              </a:solidFill>
              <a:latin typeface="Avenir Next" panose="020B0803020202020204"/>
              <a:ea typeface="Avenir Next" panose="020B0803020202020204"/>
              <a:cs typeface="Avenir Next" panose="020B0803020202020204"/>
            </a:endParaRPr>
          </a:p>
        </p:txBody>
      </p:sp>
      <p:sp>
        <p:nvSpPr>
          <p:cNvPr id="32" name="Rectangles 31"/>
          <p:cNvSpPr>
            <a:spLocks noGrp="1"/>
          </p:cNvSpPr>
          <p:nvPr/>
        </p:nvSpPr>
        <p:spPr>
          <a:xfrm>
            <a:off x="8629650" y="1952625"/>
            <a:ext cx="2724150" cy="3257550"/>
          </a:xfrm>
          <a:prstGeom prst="rect">
            <a:avLst/>
          </a:prstGeom>
          <a:solidFill>
            <a:srgbClr val="132A2F"/>
          </a:solidFill>
          <a:ln w="0">
            <a:solidFill>
              <a:srgbClr val="000000">
                <a:alpha val="0"/>
              </a:srgbClr>
            </a:solidFill>
            <a:prstDash val="solid"/>
          </a:ln>
        </p:spPr>
      </p:sp>
      <p:sp>
        <p:nvSpPr>
          <p:cNvPr id="33" name="Rectangles 32"/>
          <p:cNvSpPr>
            <a:spLocks noGrp="1"/>
          </p:cNvSpPr>
          <p:nvPr/>
        </p:nvSpPr>
        <p:spPr>
          <a:xfrm>
            <a:off x="8858250" y="2181225"/>
            <a:ext cx="22669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EAD9A8"/>
                </a:solidFill>
                <a:latin typeface="Avenir Next" panose="020B0803020202020204"/>
                <a:ea typeface="Avenir Next" panose="020B0803020202020204"/>
                <a:cs typeface="Avenir Next" panose="020B0803020202020204"/>
              </a:defRPr>
            </a:pPr>
            <a:r>
              <a:rPr sz="750" b="1">
                <a:solidFill>
                  <a:srgbClr val="EAD9A8"/>
                </a:solidFill>
                <a:latin typeface="Avenir Next" panose="020B0803020202020204"/>
                <a:ea typeface="Avenir Next" panose="020B0803020202020204"/>
                <a:cs typeface="Avenir Next" panose="020B0803020202020204"/>
              </a:rPr>
              <a:t>AUDIT RULES</a:t>
            </a:r>
            <a:endParaRPr sz="750" b="1">
              <a:solidFill>
                <a:srgbClr val="EAD9A8"/>
              </a:solidFill>
              <a:latin typeface="Avenir Next" panose="020B0803020202020204"/>
              <a:ea typeface="Avenir Next" panose="020B0803020202020204"/>
              <a:cs typeface="Avenir Next" panose="020B0803020202020204"/>
            </a:endParaRPr>
          </a:p>
        </p:txBody>
      </p:sp>
      <p:sp>
        <p:nvSpPr>
          <p:cNvPr id="34" name="Rectangles 33"/>
          <p:cNvSpPr>
            <a:spLocks noGrp="1"/>
          </p:cNvSpPr>
          <p:nvPr/>
        </p:nvSpPr>
        <p:spPr>
          <a:xfrm>
            <a:off x="8858250" y="2590800"/>
            <a:ext cx="47625" cy="209550"/>
          </a:xfrm>
          <a:prstGeom prst="rect">
            <a:avLst/>
          </a:prstGeom>
          <a:solidFill>
            <a:srgbClr val="E45B4F"/>
          </a:solidFill>
          <a:ln w="0">
            <a:solidFill>
              <a:srgbClr val="000000">
                <a:alpha val="0"/>
              </a:srgbClr>
            </a:solidFill>
            <a:prstDash val="solid"/>
          </a:ln>
        </p:spPr>
      </p:sp>
      <p:sp>
        <p:nvSpPr>
          <p:cNvPr id="35" name="Rectangles 34"/>
          <p:cNvSpPr>
            <a:spLocks noGrp="1"/>
          </p:cNvSpPr>
          <p:nvPr/>
        </p:nvSpPr>
        <p:spPr>
          <a:xfrm>
            <a:off x="9029700" y="2571750"/>
            <a:ext cx="20574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F7F2E9"/>
                </a:solidFill>
                <a:latin typeface="Avenir Next" panose="020B0803020202020204"/>
                <a:ea typeface="Avenir Next" panose="020B0803020202020204"/>
                <a:cs typeface="Avenir Next" panose="020B0803020202020204"/>
              </a:defRPr>
            </a:pPr>
            <a:r>
              <a:rPr sz="715" b="0">
                <a:solidFill>
                  <a:srgbClr val="F7F2E9"/>
                </a:solidFill>
                <a:latin typeface="Avenir Next" panose="020B0803020202020204"/>
                <a:ea typeface="Avenir Next" panose="020B0803020202020204"/>
                <a:cs typeface="Avenir Next" panose="020B0803020202020204"/>
              </a:rPr>
              <a:t>Immutable and historical fields stay locked</a:t>
            </a:r>
            <a:endParaRPr sz="715" b="0">
              <a:solidFill>
                <a:srgbClr val="F7F2E9"/>
              </a:solidFill>
              <a:latin typeface="Avenir Next" panose="020B0803020202020204"/>
              <a:ea typeface="Avenir Next" panose="020B0803020202020204"/>
              <a:cs typeface="Avenir Next" panose="020B0803020202020204"/>
            </a:endParaRPr>
          </a:p>
        </p:txBody>
      </p:sp>
      <p:sp>
        <p:nvSpPr>
          <p:cNvPr id="36" name="Rectangles 35"/>
          <p:cNvSpPr>
            <a:spLocks noGrp="1"/>
          </p:cNvSpPr>
          <p:nvPr/>
        </p:nvSpPr>
        <p:spPr>
          <a:xfrm>
            <a:off x="8858250" y="2990850"/>
            <a:ext cx="47625" cy="209550"/>
          </a:xfrm>
          <a:prstGeom prst="rect">
            <a:avLst/>
          </a:prstGeom>
          <a:solidFill>
            <a:srgbClr val="E45B4F"/>
          </a:solidFill>
          <a:ln w="0">
            <a:solidFill>
              <a:srgbClr val="000000">
                <a:alpha val="0"/>
              </a:srgbClr>
            </a:solidFill>
            <a:prstDash val="solid"/>
          </a:ln>
        </p:spPr>
      </p:sp>
      <p:sp>
        <p:nvSpPr>
          <p:cNvPr id="37" name="Rectangles 36"/>
          <p:cNvSpPr>
            <a:spLocks noGrp="1"/>
          </p:cNvSpPr>
          <p:nvPr/>
        </p:nvSpPr>
        <p:spPr>
          <a:xfrm>
            <a:off x="9029700" y="2971800"/>
            <a:ext cx="20574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F7F2E9"/>
                </a:solidFill>
                <a:latin typeface="Avenir Next" panose="020B0803020202020204"/>
                <a:ea typeface="Avenir Next" panose="020B0803020202020204"/>
                <a:cs typeface="Avenir Next" panose="020B0803020202020204"/>
              </a:defRPr>
            </a:pPr>
            <a:r>
              <a:rPr sz="715" b="0">
                <a:solidFill>
                  <a:srgbClr val="F7F2E9"/>
                </a:solidFill>
                <a:latin typeface="Avenir Next" panose="020B0803020202020204"/>
                <a:ea typeface="Avenir Next" panose="020B0803020202020204"/>
                <a:cs typeface="Avenir Next" panose="020B0803020202020204"/>
              </a:rPr>
              <a:t>Perception scores are not direct actions</a:t>
            </a:r>
            <a:endParaRPr sz="715" b="0">
              <a:solidFill>
                <a:srgbClr val="F7F2E9"/>
              </a:solidFill>
              <a:latin typeface="Avenir Next" panose="020B0803020202020204"/>
              <a:ea typeface="Avenir Next" panose="020B0803020202020204"/>
              <a:cs typeface="Avenir Next" panose="020B0803020202020204"/>
            </a:endParaRPr>
          </a:p>
        </p:txBody>
      </p:sp>
      <p:sp>
        <p:nvSpPr>
          <p:cNvPr id="38" name="Rectangles 37"/>
          <p:cNvSpPr>
            <a:spLocks noGrp="1"/>
          </p:cNvSpPr>
          <p:nvPr/>
        </p:nvSpPr>
        <p:spPr>
          <a:xfrm>
            <a:off x="8858250" y="3390900"/>
            <a:ext cx="47625" cy="209550"/>
          </a:xfrm>
          <a:prstGeom prst="rect">
            <a:avLst/>
          </a:prstGeom>
          <a:solidFill>
            <a:srgbClr val="E45B4F"/>
          </a:solidFill>
          <a:ln w="0">
            <a:solidFill>
              <a:srgbClr val="000000">
                <a:alpha val="0"/>
              </a:srgbClr>
            </a:solidFill>
            <a:prstDash val="solid"/>
          </a:ln>
        </p:spPr>
      </p:sp>
      <p:sp>
        <p:nvSpPr>
          <p:cNvPr id="39" name="Rectangles 38"/>
          <p:cNvSpPr>
            <a:spLocks noGrp="1"/>
          </p:cNvSpPr>
          <p:nvPr/>
        </p:nvSpPr>
        <p:spPr>
          <a:xfrm>
            <a:off x="9029700" y="3371850"/>
            <a:ext cx="20574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F7F2E9"/>
                </a:solidFill>
                <a:latin typeface="Avenir Next" panose="020B0803020202020204"/>
                <a:ea typeface="Avenir Next" panose="020B0803020202020204"/>
                <a:cs typeface="Avenir Next" panose="020B0803020202020204"/>
              </a:defRPr>
            </a:pPr>
            <a:r>
              <a:rPr sz="715" b="0">
                <a:solidFill>
                  <a:srgbClr val="F7F2E9"/>
                </a:solidFill>
                <a:latin typeface="Avenir Next" panose="020B0803020202020204"/>
                <a:ea typeface="Avenir Next" panose="020B0803020202020204"/>
                <a:cs typeface="Avenir Next" panose="020B0803020202020204"/>
              </a:rPr>
              <a:t>Job structure is outside the main grid</a:t>
            </a:r>
            <a:endParaRPr sz="715" b="0">
              <a:solidFill>
                <a:srgbClr val="F7F2E9"/>
              </a:solidFill>
              <a:latin typeface="Avenir Next" panose="020B0803020202020204"/>
              <a:ea typeface="Avenir Next" panose="020B0803020202020204"/>
              <a:cs typeface="Avenir Next" panose="020B0803020202020204"/>
            </a:endParaRPr>
          </a:p>
        </p:txBody>
      </p:sp>
      <p:sp>
        <p:nvSpPr>
          <p:cNvPr id="40" name="Rectangles 39"/>
          <p:cNvSpPr>
            <a:spLocks noGrp="1"/>
          </p:cNvSpPr>
          <p:nvPr/>
        </p:nvSpPr>
        <p:spPr>
          <a:xfrm>
            <a:off x="8858250" y="3790950"/>
            <a:ext cx="47625" cy="209550"/>
          </a:xfrm>
          <a:prstGeom prst="rect">
            <a:avLst/>
          </a:prstGeom>
          <a:solidFill>
            <a:srgbClr val="2A7F78"/>
          </a:solidFill>
          <a:ln w="0">
            <a:solidFill>
              <a:srgbClr val="000000">
                <a:alpha val="0"/>
              </a:srgbClr>
            </a:solidFill>
            <a:prstDash val="solid"/>
          </a:ln>
        </p:spPr>
      </p:sp>
      <p:sp>
        <p:nvSpPr>
          <p:cNvPr id="41" name="Rectangles 40"/>
          <p:cNvSpPr>
            <a:spLocks noGrp="1"/>
          </p:cNvSpPr>
          <p:nvPr/>
        </p:nvSpPr>
        <p:spPr>
          <a:xfrm>
            <a:off x="9029700" y="3771900"/>
            <a:ext cx="20574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F7F2E9"/>
                </a:solidFill>
                <a:latin typeface="Avenir Next" panose="020B0803020202020204"/>
                <a:ea typeface="Avenir Next" panose="020B0803020202020204"/>
                <a:cs typeface="Avenir Next" panose="020B0803020202020204"/>
              </a:defRPr>
            </a:pPr>
            <a:r>
              <a:rPr sz="715" b="0">
                <a:solidFill>
                  <a:srgbClr val="F7F2E9"/>
                </a:solidFill>
                <a:latin typeface="Avenir Next" panose="020B0803020202020204"/>
                <a:ea typeface="Avenir Next" panose="020B0803020202020204"/>
                <a:cs typeface="Avenir Next" panose="020B0803020202020204"/>
              </a:rPr>
              <a:t>Income cannot decrease or exceed the cap</a:t>
            </a:r>
            <a:endParaRPr sz="715" b="0">
              <a:solidFill>
                <a:srgbClr val="F7F2E9"/>
              </a:solidFill>
              <a:latin typeface="Avenir Next" panose="020B0803020202020204"/>
              <a:ea typeface="Avenir Next" panose="020B0803020202020204"/>
              <a:cs typeface="Avenir Next" panose="020B0803020202020204"/>
            </a:endParaRPr>
          </a:p>
        </p:txBody>
      </p:sp>
      <p:sp>
        <p:nvSpPr>
          <p:cNvPr id="42" name="Rectangles 41"/>
          <p:cNvSpPr>
            <a:spLocks noGrp="1"/>
          </p:cNvSpPr>
          <p:nvPr/>
        </p:nvSpPr>
        <p:spPr>
          <a:xfrm>
            <a:off x="8858250" y="4191000"/>
            <a:ext cx="47625" cy="209550"/>
          </a:xfrm>
          <a:prstGeom prst="rect">
            <a:avLst/>
          </a:prstGeom>
          <a:solidFill>
            <a:srgbClr val="2A7F78"/>
          </a:solidFill>
          <a:ln w="0">
            <a:solidFill>
              <a:srgbClr val="000000">
                <a:alpha val="0"/>
              </a:srgbClr>
            </a:solidFill>
            <a:prstDash val="solid"/>
          </a:ln>
        </p:spPr>
      </p:sp>
      <p:sp>
        <p:nvSpPr>
          <p:cNvPr id="43" name="Rectangles 42"/>
          <p:cNvSpPr>
            <a:spLocks noGrp="1"/>
          </p:cNvSpPr>
          <p:nvPr/>
        </p:nvSpPr>
        <p:spPr>
          <a:xfrm>
            <a:off x="9029700" y="4171950"/>
            <a:ext cx="20574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F7F2E9"/>
                </a:solidFill>
                <a:latin typeface="Avenir Next" panose="020B0803020202020204"/>
                <a:ea typeface="Avenir Next" panose="020B0803020202020204"/>
                <a:cs typeface="Avenir Next" panose="020B0803020202020204"/>
              </a:defRPr>
            </a:pPr>
            <a:r>
              <a:rPr sz="715" b="0">
                <a:solidFill>
                  <a:srgbClr val="F7F2E9"/>
                </a:solidFill>
                <a:latin typeface="Avenir Next" panose="020B0803020202020204"/>
                <a:ea typeface="Avenir Next" panose="020B0803020202020204"/>
                <a:cs typeface="Avenir Next" panose="020B0803020202020204"/>
              </a:rPr>
              <a:t>Overtime changes only from Yes to No</a:t>
            </a:r>
            <a:endParaRPr sz="715" b="0">
              <a:solidFill>
                <a:srgbClr val="F7F2E9"/>
              </a:solidFill>
              <a:latin typeface="Avenir Next" panose="020B0803020202020204"/>
              <a:ea typeface="Avenir Next" panose="020B0803020202020204"/>
              <a:cs typeface="Avenir Next" panose="020B0803020202020204"/>
            </a:endParaRPr>
          </a:p>
        </p:txBody>
      </p:sp>
      <p:sp>
        <p:nvSpPr>
          <p:cNvPr id="44" name="Rectangles 43"/>
          <p:cNvSpPr>
            <a:spLocks noGrp="1"/>
          </p:cNvSpPr>
          <p:nvPr/>
        </p:nvSpPr>
        <p:spPr>
          <a:xfrm>
            <a:off x="8858250" y="4591050"/>
            <a:ext cx="47625" cy="209550"/>
          </a:xfrm>
          <a:prstGeom prst="rect">
            <a:avLst/>
          </a:prstGeom>
          <a:solidFill>
            <a:srgbClr val="2A7F78"/>
          </a:solidFill>
          <a:ln w="0">
            <a:solidFill>
              <a:srgbClr val="000000">
                <a:alpha val="0"/>
              </a:srgbClr>
            </a:solidFill>
            <a:prstDash val="solid"/>
          </a:ln>
        </p:spPr>
      </p:sp>
      <p:sp>
        <p:nvSpPr>
          <p:cNvPr id="45" name="Rectangles 44"/>
          <p:cNvSpPr>
            <a:spLocks noGrp="1"/>
          </p:cNvSpPr>
          <p:nvPr/>
        </p:nvSpPr>
        <p:spPr>
          <a:xfrm>
            <a:off x="9029700" y="4572000"/>
            <a:ext cx="20574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F7F2E9"/>
                </a:solidFill>
                <a:latin typeface="Avenir Next" panose="020B0803020202020204"/>
                <a:ea typeface="Avenir Next" panose="020B0803020202020204"/>
                <a:cs typeface="Avenir Next" panose="020B0803020202020204"/>
              </a:defRPr>
            </a:pPr>
            <a:r>
              <a:rPr sz="715" b="0">
                <a:solidFill>
                  <a:srgbClr val="F7F2E9"/>
                </a:solidFill>
                <a:latin typeface="Avenir Next" panose="020B0803020202020204"/>
                <a:ea typeface="Avenir Next" panose="020B0803020202020204"/>
                <a:cs typeface="Avenir Next" panose="020B0803020202020204"/>
              </a:rPr>
              <a:t>Tenure relationships must stay consistent</a:t>
            </a:r>
            <a:endParaRPr sz="715" b="0">
              <a:solidFill>
                <a:srgbClr val="F7F2E9"/>
              </a:solidFill>
              <a:latin typeface="Avenir Next" panose="020B0803020202020204"/>
              <a:ea typeface="Avenir Next" panose="020B0803020202020204"/>
              <a:cs typeface="Avenir Next" panose="020B0803020202020204"/>
            </a:endParaRPr>
          </a:p>
        </p:txBody>
      </p:sp>
      <p:sp>
        <p:nvSpPr>
          <p:cNvPr id="46" name="Rectangles 45"/>
          <p:cNvSpPr>
            <a:spLocks noGrp="1"/>
          </p:cNvSpPr>
          <p:nvPr/>
        </p:nvSpPr>
        <p:spPr>
          <a:xfrm>
            <a:off x="552450" y="5781675"/>
            <a:ext cx="10801350" cy="9525"/>
          </a:xfrm>
          <a:prstGeom prst="rect">
            <a:avLst/>
          </a:prstGeom>
          <a:solidFill>
            <a:srgbClr val="D9D2C7"/>
          </a:solidFill>
          <a:ln w="0">
            <a:solidFill>
              <a:srgbClr val="000000">
                <a:alpha val="0"/>
              </a:srgbClr>
            </a:solidFill>
            <a:prstDash val="solid"/>
          </a:ln>
        </p:spPr>
      </p:sp>
      <p:sp>
        <p:nvSpPr>
          <p:cNvPr id="47" name="Rectangles 46"/>
          <p:cNvSpPr>
            <a:spLocks noGrp="1"/>
          </p:cNvSpPr>
          <p:nvPr/>
        </p:nvSpPr>
        <p:spPr>
          <a:xfrm>
            <a:off x="552450" y="5934075"/>
            <a:ext cx="7429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5F6D6D"/>
                </a:solidFill>
                <a:latin typeface="Avenir Next" panose="020B0803020202020204"/>
                <a:ea typeface="Avenir Next" panose="020B0803020202020204"/>
                <a:cs typeface="Avenir Next" panose="020B0803020202020204"/>
              </a:defRPr>
            </a:pPr>
            <a:r>
              <a:rPr sz="750" b="0">
                <a:solidFill>
                  <a:srgbClr val="5F6D6D"/>
                </a:solidFill>
                <a:latin typeface="Avenir Next" panose="020B0803020202020204"/>
                <a:ea typeface="Avenir Next" panose="020B0803020202020204"/>
                <a:cs typeface="Avenir Next" panose="020B0803020202020204"/>
              </a:rPr>
              <a:t>Counts are scenario-level violations—not employee counts; one scenario may contribute multiple reasons.</a:t>
            </a:r>
            <a:endParaRPr sz="750" b="0">
              <a:solidFill>
                <a:srgbClr val="5F6D6D"/>
              </a:solidFill>
              <a:latin typeface="Avenir Next" panose="020B0803020202020204"/>
              <a:ea typeface="Avenir Next" panose="020B0803020202020204"/>
              <a:cs typeface="Avenir Next" panose="020B0803020202020204"/>
            </a:endParaRPr>
          </a:p>
        </p:txBody>
      </p:sp>
      <p:sp>
        <p:nvSpPr>
          <p:cNvPr id="48" name="Rectangles 47"/>
          <p:cNvSpPr>
            <a:spLocks noGrp="1"/>
          </p:cNvSpPr>
          <p:nvPr/>
        </p:nvSpPr>
        <p:spPr>
          <a:xfrm>
            <a:off x="8591550" y="5934075"/>
            <a:ext cx="2762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2A7F78"/>
                </a:solidFill>
                <a:latin typeface="Avenir Next" panose="020B0803020202020204"/>
                <a:ea typeface="Avenir Next" panose="020B0803020202020204"/>
                <a:cs typeface="Avenir Next" panose="020B0803020202020204"/>
              </a:defRPr>
            </a:pPr>
            <a:r>
              <a:rPr sz="675" b="1">
                <a:solidFill>
                  <a:srgbClr val="2A7F78"/>
                </a:solidFill>
                <a:latin typeface="Avenir Next" panose="020B0803020202020204"/>
                <a:ea typeface="Avenir Next" panose="020B0803020202020204"/>
                <a:cs typeface="Avenir Next" panose="020B0803020202020204"/>
              </a:rPr>
              <a:t>Primary salary cap: training p75 by JobRole × JobLevel</a:t>
            </a:r>
            <a:endParaRPr sz="675" b="1">
              <a:solidFill>
                <a:srgbClr val="2A7F78"/>
              </a:solidFill>
              <a:latin typeface="Avenir Next" panose="020B0803020202020204"/>
              <a:ea typeface="Avenir Next" panose="020B0803020202020204"/>
              <a:cs typeface="Avenir Next" panose="020B0803020202020204"/>
            </a:endParaRPr>
          </a:p>
        </p:txBody>
      </p:sp>
      <p:sp>
        <p:nvSpPr>
          <p:cNvPr id="49" name="Rectangles 48"/>
          <p:cNvSpPr>
            <a:spLocks noGrp="1"/>
          </p:cNvSpPr>
          <p:nvPr/>
        </p:nvSpPr>
        <p:spPr>
          <a:xfrm>
            <a:off x="552450" y="6486525"/>
            <a:ext cx="11087100" cy="9525"/>
          </a:xfrm>
          <a:prstGeom prst="rect">
            <a:avLst/>
          </a:prstGeom>
          <a:solidFill>
            <a:srgbClr val="D9D2C7"/>
          </a:solidFill>
          <a:ln w="0">
            <a:solidFill>
              <a:srgbClr val="000000">
                <a:alpha val="0"/>
              </a:srgbClr>
            </a:solidFill>
            <a:prstDash val="solid"/>
          </a:ln>
        </p:spPr>
      </p:sp>
      <p:sp>
        <p:nvSpPr>
          <p:cNvPr id="50" name="Rectangles 49"/>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Source: violation_summary.csv; diagnostic Levels 1–2 only</a:t>
            </a:r>
            <a:endParaRPr sz="640" b="0">
              <a:solidFill>
                <a:srgbClr val="5F6D6D"/>
              </a:solidFill>
              <a:latin typeface="Avenir Next" panose="020B0803020202020204"/>
              <a:ea typeface="Avenir Next" panose="020B0803020202020204"/>
              <a:cs typeface="Avenir Next" panose="020B0803020202020204"/>
            </a:endParaRPr>
          </a:p>
        </p:txBody>
      </p:sp>
      <p:sp>
        <p:nvSpPr>
          <p:cNvPr id="51" name="Rectangles 50"/>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10</a:t>
            </a:r>
            <a:endParaRPr sz="675" b="1">
              <a:solidFill>
                <a:srgbClr val="5F6D6D"/>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4F0E8"/>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132A2F"/>
          </a:solidFill>
          <a:ln w="0">
            <a:solidFill>
              <a:srgbClr val="000000">
                <a:alpha val="0"/>
              </a:srgbClr>
            </a:solidFill>
            <a:prstDash val="solid"/>
          </a:ln>
        </p:spPr>
      </p:sp>
      <p:sp>
        <p:nvSpPr>
          <p:cNvPr id="4" name="kicker-09-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09-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LEVER COMPOSITION</a:t>
            </a:r>
            <a:endParaRPr sz="750" b="1">
              <a:solidFill>
                <a:srgbClr val="5F6D6D"/>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685800"/>
            <a:ext cx="10668000" cy="952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132A2F"/>
                </a:solidFill>
                <a:latin typeface="New York"/>
                <a:ea typeface="New York"/>
                <a:cs typeface="New York"/>
              </a:defRPr>
            </a:pPr>
            <a:r>
              <a:rPr sz="2550" b="1">
                <a:solidFill>
                  <a:srgbClr val="132A2F"/>
                </a:solidFill>
                <a:latin typeface="New York"/>
                <a:ea typeface="New York"/>
                <a:cs typeface="New York"/>
              </a:rPr>
              <a:t>Selected scenarios favor overtime and stock options because the ranking policy avoids salary increases.</a:t>
            </a:r>
            <a:endParaRPr sz="2550" b="1">
              <a:solidFill>
                <a:srgbClr val="132A2F"/>
              </a:solidFill>
              <a:latin typeface="New York"/>
              <a:ea typeface="New York"/>
              <a:cs typeface="New York"/>
            </a:endParaRPr>
          </a:p>
        </p:txBody>
      </p:sp>
      <p:sp>
        <p:nvSpPr>
          <p:cNvPr id="7" name="Rectangles 6"/>
          <p:cNvSpPr>
            <a:spLocks noGrp="1"/>
          </p:cNvSpPr>
          <p:nvPr/>
        </p:nvSpPr>
        <p:spPr>
          <a:xfrm>
            <a:off x="552450" y="1847850"/>
            <a:ext cx="4762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SHARE OF SCENARIOS USING EACH LEVER</a:t>
            </a:r>
            <a:endParaRPr sz="750" b="1">
              <a:solidFill>
                <a:srgbClr val="5F6D6D"/>
              </a:solidFill>
              <a:latin typeface="Avenir Next" panose="020B0803020202020204"/>
              <a:ea typeface="Avenir Next" panose="020B0803020202020204"/>
              <a:cs typeface="Avenir Next" panose="020B0803020202020204"/>
            </a:endParaRPr>
          </a:p>
        </p:txBody>
      </p:sp>
      <p:sp>
        <p:nvSpPr>
          <p:cNvPr id="8" name="Rectangles 7"/>
          <p:cNvSpPr>
            <a:spLocks noGrp="1"/>
          </p:cNvSpPr>
          <p:nvPr/>
        </p:nvSpPr>
        <p:spPr>
          <a:xfrm>
            <a:off x="5810250" y="1809750"/>
            <a:ext cx="114300" cy="114300"/>
          </a:xfrm>
          <a:prstGeom prst="rect">
            <a:avLst/>
          </a:prstGeom>
          <a:solidFill>
            <a:srgbClr val="D6A83A"/>
          </a:solidFill>
          <a:ln w="0">
            <a:solidFill>
              <a:srgbClr val="000000">
                <a:alpha val="0"/>
              </a:srgbClr>
            </a:solidFill>
            <a:prstDash val="solid"/>
          </a:ln>
        </p:spPr>
      </p:sp>
      <p:sp>
        <p:nvSpPr>
          <p:cNvPr id="9" name="Rectangles 8"/>
          <p:cNvSpPr>
            <a:spLocks noGrp="1"/>
          </p:cNvSpPr>
          <p:nvPr/>
        </p:nvSpPr>
        <p:spPr>
          <a:xfrm>
            <a:off x="6000750" y="1781175"/>
            <a:ext cx="17526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All 999 feasible scenarios</a:t>
            </a:r>
            <a:endParaRPr sz="675" b="1">
              <a:solidFill>
                <a:srgbClr val="5F6D6D"/>
              </a:solidFill>
              <a:latin typeface="Avenir Next" panose="020B0803020202020204"/>
              <a:ea typeface="Avenir Next" panose="020B0803020202020204"/>
              <a:cs typeface="Avenir Next" panose="020B0803020202020204"/>
            </a:endParaRPr>
          </a:p>
        </p:txBody>
      </p:sp>
      <p:sp>
        <p:nvSpPr>
          <p:cNvPr id="10" name="Rectangles 9"/>
          <p:cNvSpPr>
            <a:spLocks noGrp="1"/>
          </p:cNvSpPr>
          <p:nvPr/>
        </p:nvSpPr>
        <p:spPr>
          <a:xfrm>
            <a:off x="7791450" y="1809750"/>
            <a:ext cx="114300" cy="114300"/>
          </a:xfrm>
          <a:prstGeom prst="rect">
            <a:avLst/>
          </a:prstGeom>
          <a:solidFill>
            <a:srgbClr val="2A7F78"/>
          </a:solidFill>
          <a:ln w="0">
            <a:solidFill>
              <a:srgbClr val="000000">
                <a:alpha val="0"/>
              </a:srgbClr>
            </a:solidFill>
            <a:prstDash val="solid"/>
          </a:ln>
        </p:spPr>
      </p:sp>
      <p:sp>
        <p:nvSpPr>
          <p:cNvPr id="11" name="Rectangles 10"/>
          <p:cNvSpPr>
            <a:spLocks noGrp="1"/>
          </p:cNvSpPr>
          <p:nvPr/>
        </p:nvSpPr>
        <p:spPr>
          <a:xfrm>
            <a:off x="7981950" y="1781175"/>
            <a:ext cx="1333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73 selected best</a:t>
            </a:r>
            <a:endParaRPr sz="675" b="1">
              <a:solidFill>
                <a:srgbClr val="5F6D6D"/>
              </a:solidFill>
              <a:latin typeface="Avenir Next" panose="020B0803020202020204"/>
              <a:ea typeface="Avenir Next" panose="020B0803020202020204"/>
              <a:cs typeface="Avenir Next" panose="020B0803020202020204"/>
            </a:endParaRPr>
          </a:p>
        </p:txBody>
      </p:sp>
      <p:sp>
        <p:nvSpPr>
          <p:cNvPr id="12" name="Rectangles 11"/>
          <p:cNvSpPr>
            <a:spLocks noGrp="1"/>
          </p:cNvSpPr>
          <p:nvPr/>
        </p:nvSpPr>
        <p:spPr>
          <a:xfrm>
            <a:off x="552450" y="2476500"/>
            <a:ext cx="1571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32A2F"/>
                </a:solidFill>
                <a:latin typeface="New York"/>
                <a:ea typeface="New York"/>
                <a:cs typeface="New York"/>
              </a:defRPr>
            </a:pPr>
            <a:r>
              <a:rPr sz="1200" b="1">
                <a:solidFill>
                  <a:srgbClr val="132A2F"/>
                </a:solidFill>
                <a:latin typeface="New York"/>
                <a:ea typeface="New York"/>
                <a:cs typeface="New York"/>
              </a:rPr>
              <a:t>Monthly income</a:t>
            </a:r>
            <a:endParaRPr sz="1200" b="1">
              <a:solidFill>
                <a:srgbClr val="132A2F"/>
              </a:solidFill>
              <a:latin typeface="New York"/>
              <a:ea typeface="New York"/>
              <a:cs typeface="New York"/>
            </a:endParaRPr>
          </a:p>
        </p:txBody>
      </p:sp>
      <p:sp>
        <p:nvSpPr>
          <p:cNvPr id="13" name="Rectangles 12"/>
          <p:cNvSpPr>
            <a:spLocks noGrp="1"/>
          </p:cNvSpPr>
          <p:nvPr/>
        </p:nvSpPr>
        <p:spPr>
          <a:xfrm>
            <a:off x="2381250" y="2305050"/>
            <a:ext cx="6191250" cy="190500"/>
          </a:xfrm>
          <a:prstGeom prst="rect">
            <a:avLst/>
          </a:prstGeom>
          <a:solidFill>
            <a:srgbClr val="D9D2C7"/>
          </a:solidFill>
          <a:ln w="0">
            <a:solidFill>
              <a:srgbClr val="000000">
                <a:alpha val="0"/>
              </a:srgbClr>
            </a:solidFill>
            <a:prstDash val="solid"/>
          </a:ln>
        </p:spPr>
      </p:sp>
      <p:sp>
        <p:nvSpPr>
          <p:cNvPr id="14" name="Rectangles 13"/>
          <p:cNvSpPr>
            <a:spLocks noGrp="1"/>
          </p:cNvSpPr>
          <p:nvPr/>
        </p:nvSpPr>
        <p:spPr>
          <a:xfrm>
            <a:off x="2381250" y="2305050"/>
            <a:ext cx="4946809" cy="190500"/>
          </a:xfrm>
          <a:prstGeom prst="rect">
            <a:avLst/>
          </a:prstGeom>
          <a:solidFill>
            <a:srgbClr val="D6A83A"/>
          </a:solidFill>
          <a:ln w="0">
            <a:solidFill>
              <a:srgbClr val="000000">
                <a:alpha val="0"/>
              </a:srgbClr>
            </a:solidFill>
            <a:prstDash val="solid"/>
          </a:ln>
        </p:spPr>
      </p:sp>
      <p:sp>
        <p:nvSpPr>
          <p:cNvPr id="15" name="Rectangles 14"/>
          <p:cNvSpPr>
            <a:spLocks noGrp="1"/>
          </p:cNvSpPr>
          <p:nvPr/>
        </p:nvSpPr>
        <p:spPr>
          <a:xfrm>
            <a:off x="7423309" y="2314575"/>
            <a:ext cx="5524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132A2F"/>
                </a:solidFill>
                <a:latin typeface="Avenir Next" panose="020B0803020202020204"/>
                <a:ea typeface="Avenir Next" panose="020B0803020202020204"/>
                <a:cs typeface="Avenir Next" panose="020B0803020202020204"/>
              </a:defRPr>
            </a:pPr>
            <a:r>
              <a:rPr sz="750" b="1">
                <a:solidFill>
                  <a:srgbClr val="132A2F"/>
                </a:solidFill>
                <a:latin typeface="Avenir Next" panose="020B0803020202020204"/>
                <a:ea typeface="Avenir Next" panose="020B0803020202020204"/>
                <a:cs typeface="Avenir Next" panose="020B0803020202020204"/>
              </a:rPr>
              <a:t>79.9%</a:t>
            </a:r>
            <a:endParaRPr sz="750" b="1">
              <a:solidFill>
                <a:srgbClr val="132A2F"/>
              </a:solidFill>
              <a:latin typeface="Avenir Next" panose="020B0803020202020204"/>
              <a:ea typeface="Avenir Next" panose="020B0803020202020204"/>
              <a:cs typeface="Avenir Next" panose="020B0803020202020204"/>
            </a:endParaRPr>
          </a:p>
        </p:txBody>
      </p:sp>
      <p:sp>
        <p:nvSpPr>
          <p:cNvPr id="16" name="Rectangles 15"/>
          <p:cNvSpPr>
            <a:spLocks noGrp="1"/>
          </p:cNvSpPr>
          <p:nvPr/>
        </p:nvSpPr>
        <p:spPr>
          <a:xfrm>
            <a:off x="2381250" y="2705100"/>
            <a:ext cx="6191250" cy="190500"/>
          </a:xfrm>
          <a:prstGeom prst="rect">
            <a:avLst/>
          </a:prstGeom>
          <a:solidFill>
            <a:srgbClr val="D9D2C7"/>
          </a:solidFill>
          <a:ln w="0">
            <a:solidFill>
              <a:srgbClr val="000000">
                <a:alpha val="0"/>
              </a:srgbClr>
            </a:solidFill>
            <a:prstDash val="solid"/>
          </a:ln>
        </p:spPr>
      </p:sp>
      <p:sp>
        <p:nvSpPr>
          <p:cNvPr id="17" name="Rectangles 16"/>
          <p:cNvSpPr>
            <a:spLocks noGrp="1"/>
          </p:cNvSpPr>
          <p:nvPr/>
        </p:nvSpPr>
        <p:spPr>
          <a:xfrm>
            <a:off x="2381250" y="2705100"/>
            <a:ext cx="167164" cy="190500"/>
          </a:xfrm>
          <a:prstGeom prst="rect">
            <a:avLst/>
          </a:prstGeom>
          <a:solidFill>
            <a:srgbClr val="2A7F78"/>
          </a:solidFill>
          <a:ln w="0">
            <a:solidFill>
              <a:srgbClr val="000000">
                <a:alpha val="0"/>
              </a:srgbClr>
            </a:solidFill>
            <a:prstDash val="solid"/>
          </a:ln>
        </p:spPr>
      </p:sp>
      <p:sp>
        <p:nvSpPr>
          <p:cNvPr id="18" name="Rectangles 17"/>
          <p:cNvSpPr>
            <a:spLocks noGrp="1"/>
          </p:cNvSpPr>
          <p:nvPr/>
        </p:nvSpPr>
        <p:spPr>
          <a:xfrm>
            <a:off x="2643664" y="2714625"/>
            <a:ext cx="5524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132A2F"/>
                </a:solidFill>
                <a:latin typeface="Avenir Next" panose="020B0803020202020204"/>
                <a:ea typeface="Avenir Next" panose="020B0803020202020204"/>
                <a:cs typeface="Avenir Next" panose="020B0803020202020204"/>
              </a:defRPr>
            </a:pPr>
            <a:r>
              <a:rPr sz="750" b="1">
                <a:solidFill>
                  <a:srgbClr val="132A2F"/>
                </a:solidFill>
                <a:latin typeface="Avenir Next" panose="020B0803020202020204"/>
                <a:ea typeface="Avenir Next" panose="020B0803020202020204"/>
                <a:cs typeface="Avenir Next" panose="020B0803020202020204"/>
              </a:rPr>
              <a:t>2.7%</a:t>
            </a:r>
            <a:endParaRPr sz="750" b="1">
              <a:solidFill>
                <a:srgbClr val="132A2F"/>
              </a:solidFill>
              <a:latin typeface="Avenir Next" panose="020B0803020202020204"/>
              <a:ea typeface="Avenir Next" panose="020B0803020202020204"/>
              <a:cs typeface="Avenir Next" panose="020B0803020202020204"/>
            </a:endParaRPr>
          </a:p>
        </p:txBody>
      </p:sp>
      <p:sp>
        <p:nvSpPr>
          <p:cNvPr id="19" name="Rectangles 18"/>
          <p:cNvSpPr>
            <a:spLocks noGrp="1"/>
          </p:cNvSpPr>
          <p:nvPr/>
        </p:nvSpPr>
        <p:spPr>
          <a:xfrm>
            <a:off x="552450" y="3657600"/>
            <a:ext cx="1571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32A2F"/>
                </a:solidFill>
                <a:latin typeface="New York"/>
                <a:ea typeface="New York"/>
                <a:cs typeface="New York"/>
              </a:defRPr>
            </a:pPr>
            <a:r>
              <a:rPr sz="1200" b="1">
                <a:solidFill>
                  <a:srgbClr val="132A2F"/>
                </a:solidFill>
                <a:latin typeface="New York"/>
                <a:ea typeface="New York"/>
                <a:cs typeface="New York"/>
              </a:rPr>
              <a:t>Stock options</a:t>
            </a:r>
            <a:endParaRPr sz="1200" b="1">
              <a:solidFill>
                <a:srgbClr val="132A2F"/>
              </a:solidFill>
              <a:latin typeface="New York"/>
              <a:ea typeface="New York"/>
              <a:cs typeface="New York"/>
            </a:endParaRPr>
          </a:p>
        </p:txBody>
      </p:sp>
      <p:sp>
        <p:nvSpPr>
          <p:cNvPr id="20" name="Rectangles 19"/>
          <p:cNvSpPr>
            <a:spLocks noGrp="1"/>
          </p:cNvSpPr>
          <p:nvPr/>
        </p:nvSpPr>
        <p:spPr>
          <a:xfrm>
            <a:off x="2381250" y="3486150"/>
            <a:ext cx="6191250" cy="190500"/>
          </a:xfrm>
          <a:prstGeom prst="rect">
            <a:avLst/>
          </a:prstGeom>
          <a:solidFill>
            <a:srgbClr val="D9D2C7"/>
          </a:solidFill>
          <a:ln w="0">
            <a:solidFill>
              <a:srgbClr val="000000">
                <a:alpha val="0"/>
              </a:srgbClr>
            </a:solidFill>
            <a:prstDash val="solid"/>
          </a:ln>
        </p:spPr>
      </p:sp>
      <p:sp>
        <p:nvSpPr>
          <p:cNvPr id="21" name="Rectangles 20"/>
          <p:cNvSpPr>
            <a:spLocks noGrp="1"/>
          </p:cNvSpPr>
          <p:nvPr/>
        </p:nvSpPr>
        <p:spPr>
          <a:xfrm>
            <a:off x="2381250" y="3486150"/>
            <a:ext cx="5237798" cy="190500"/>
          </a:xfrm>
          <a:prstGeom prst="rect">
            <a:avLst/>
          </a:prstGeom>
          <a:solidFill>
            <a:srgbClr val="D6A83A"/>
          </a:solidFill>
          <a:ln w="0">
            <a:solidFill>
              <a:srgbClr val="000000">
                <a:alpha val="0"/>
              </a:srgbClr>
            </a:solidFill>
            <a:prstDash val="solid"/>
          </a:ln>
        </p:spPr>
      </p:sp>
      <p:sp>
        <p:nvSpPr>
          <p:cNvPr id="22" name="Rectangles 21"/>
          <p:cNvSpPr>
            <a:spLocks noGrp="1"/>
          </p:cNvSpPr>
          <p:nvPr/>
        </p:nvSpPr>
        <p:spPr>
          <a:xfrm>
            <a:off x="7714298" y="3495675"/>
            <a:ext cx="5524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132A2F"/>
                </a:solidFill>
                <a:latin typeface="Avenir Next" panose="020B0803020202020204"/>
                <a:ea typeface="Avenir Next" panose="020B0803020202020204"/>
                <a:cs typeface="Avenir Next" panose="020B0803020202020204"/>
              </a:defRPr>
            </a:pPr>
            <a:r>
              <a:rPr sz="750" b="1">
                <a:solidFill>
                  <a:srgbClr val="132A2F"/>
                </a:solidFill>
                <a:latin typeface="Avenir Next" panose="020B0803020202020204"/>
                <a:ea typeface="Avenir Next" panose="020B0803020202020204"/>
                <a:cs typeface="Avenir Next" panose="020B0803020202020204"/>
              </a:rPr>
              <a:t>84.6%</a:t>
            </a:r>
            <a:endParaRPr sz="750" b="1">
              <a:solidFill>
                <a:srgbClr val="132A2F"/>
              </a:solidFill>
              <a:latin typeface="Avenir Next" panose="020B0803020202020204"/>
              <a:ea typeface="Avenir Next" panose="020B0803020202020204"/>
              <a:cs typeface="Avenir Next" panose="020B0803020202020204"/>
            </a:endParaRPr>
          </a:p>
        </p:txBody>
      </p:sp>
      <p:sp>
        <p:nvSpPr>
          <p:cNvPr id="23" name="Rectangles 22"/>
          <p:cNvSpPr>
            <a:spLocks noGrp="1"/>
          </p:cNvSpPr>
          <p:nvPr/>
        </p:nvSpPr>
        <p:spPr>
          <a:xfrm>
            <a:off x="2381250" y="3886200"/>
            <a:ext cx="6191250" cy="190500"/>
          </a:xfrm>
          <a:prstGeom prst="rect">
            <a:avLst/>
          </a:prstGeom>
          <a:solidFill>
            <a:srgbClr val="D9D2C7"/>
          </a:solidFill>
          <a:ln w="0">
            <a:solidFill>
              <a:srgbClr val="000000">
                <a:alpha val="0"/>
              </a:srgbClr>
            </a:solidFill>
            <a:prstDash val="solid"/>
          </a:ln>
        </p:spPr>
      </p:sp>
      <p:sp>
        <p:nvSpPr>
          <p:cNvPr id="24" name="Rectangles 23"/>
          <p:cNvSpPr>
            <a:spLocks noGrp="1"/>
          </p:cNvSpPr>
          <p:nvPr/>
        </p:nvSpPr>
        <p:spPr>
          <a:xfrm>
            <a:off x="2381250" y="3886200"/>
            <a:ext cx="3646646" cy="190500"/>
          </a:xfrm>
          <a:prstGeom prst="rect">
            <a:avLst/>
          </a:prstGeom>
          <a:solidFill>
            <a:srgbClr val="2A7F78"/>
          </a:solidFill>
          <a:ln w="0">
            <a:solidFill>
              <a:srgbClr val="000000">
                <a:alpha val="0"/>
              </a:srgbClr>
            </a:solidFill>
            <a:prstDash val="solid"/>
          </a:ln>
        </p:spPr>
      </p:sp>
      <p:sp>
        <p:nvSpPr>
          <p:cNvPr id="25" name="Rectangles 24"/>
          <p:cNvSpPr>
            <a:spLocks noGrp="1"/>
          </p:cNvSpPr>
          <p:nvPr/>
        </p:nvSpPr>
        <p:spPr>
          <a:xfrm>
            <a:off x="6123146" y="3895725"/>
            <a:ext cx="5524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132A2F"/>
                </a:solidFill>
                <a:latin typeface="Avenir Next" panose="020B0803020202020204"/>
                <a:ea typeface="Avenir Next" panose="020B0803020202020204"/>
                <a:cs typeface="Avenir Next" panose="020B0803020202020204"/>
              </a:defRPr>
            </a:pPr>
            <a:r>
              <a:rPr sz="750" b="1">
                <a:solidFill>
                  <a:srgbClr val="132A2F"/>
                </a:solidFill>
                <a:latin typeface="Avenir Next" panose="020B0803020202020204"/>
                <a:ea typeface="Avenir Next" panose="020B0803020202020204"/>
                <a:cs typeface="Avenir Next" panose="020B0803020202020204"/>
              </a:rPr>
              <a:t>58.9%</a:t>
            </a:r>
            <a:endParaRPr sz="750" b="1">
              <a:solidFill>
                <a:srgbClr val="132A2F"/>
              </a:solidFill>
              <a:latin typeface="Avenir Next" panose="020B0803020202020204"/>
              <a:ea typeface="Avenir Next" panose="020B0803020202020204"/>
              <a:cs typeface="Avenir Next" panose="020B0803020202020204"/>
            </a:endParaRPr>
          </a:p>
        </p:txBody>
      </p:sp>
      <p:sp>
        <p:nvSpPr>
          <p:cNvPr id="26" name="Rectangles 25"/>
          <p:cNvSpPr>
            <a:spLocks noGrp="1"/>
          </p:cNvSpPr>
          <p:nvPr/>
        </p:nvSpPr>
        <p:spPr>
          <a:xfrm>
            <a:off x="552450" y="4838700"/>
            <a:ext cx="1571625"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132A2F"/>
                </a:solidFill>
                <a:latin typeface="New York"/>
                <a:ea typeface="New York"/>
                <a:cs typeface="New York"/>
              </a:defRPr>
            </a:pPr>
            <a:r>
              <a:rPr sz="1200" b="1">
                <a:solidFill>
                  <a:srgbClr val="132A2F"/>
                </a:solidFill>
                <a:latin typeface="New York"/>
                <a:ea typeface="New York"/>
                <a:cs typeface="New York"/>
              </a:rPr>
              <a:t>Overtime</a:t>
            </a:r>
            <a:endParaRPr sz="1200" b="1">
              <a:solidFill>
                <a:srgbClr val="132A2F"/>
              </a:solidFill>
              <a:latin typeface="New York"/>
              <a:ea typeface="New York"/>
              <a:cs typeface="New York"/>
            </a:endParaRPr>
          </a:p>
        </p:txBody>
      </p:sp>
      <p:sp>
        <p:nvSpPr>
          <p:cNvPr id="27" name="Rectangles 26"/>
          <p:cNvSpPr>
            <a:spLocks noGrp="1"/>
          </p:cNvSpPr>
          <p:nvPr/>
        </p:nvSpPr>
        <p:spPr>
          <a:xfrm>
            <a:off x="2381250" y="4667250"/>
            <a:ext cx="6191250" cy="190500"/>
          </a:xfrm>
          <a:prstGeom prst="rect">
            <a:avLst/>
          </a:prstGeom>
          <a:solidFill>
            <a:srgbClr val="D9D2C7"/>
          </a:solidFill>
          <a:ln w="0">
            <a:solidFill>
              <a:srgbClr val="000000">
                <a:alpha val="0"/>
              </a:srgbClr>
            </a:solidFill>
            <a:prstDash val="solid"/>
          </a:ln>
        </p:spPr>
      </p:sp>
      <p:sp>
        <p:nvSpPr>
          <p:cNvPr id="28" name="Rectangles 27"/>
          <p:cNvSpPr>
            <a:spLocks noGrp="1"/>
          </p:cNvSpPr>
          <p:nvPr/>
        </p:nvSpPr>
        <p:spPr>
          <a:xfrm>
            <a:off x="2381250" y="4667250"/>
            <a:ext cx="4073843" cy="190500"/>
          </a:xfrm>
          <a:prstGeom prst="rect">
            <a:avLst/>
          </a:prstGeom>
          <a:solidFill>
            <a:srgbClr val="D6A83A"/>
          </a:solidFill>
          <a:ln w="0">
            <a:solidFill>
              <a:srgbClr val="000000">
                <a:alpha val="0"/>
              </a:srgbClr>
            </a:solidFill>
            <a:prstDash val="solid"/>
          </a:ln>
        </p:spPr>
      </p:sp>
      <p:sp>
        <p:nvSpPr>
          <p:cNvPr id="29" name="Rectangles 28"/>
          <p:cNvSpPr>
            <a:spLocks noGrp="1"/>
          </p:cNvSpPr>
          <p:nvPr/>
        </p:nvSpPr>
        <p:spPr>
          <a:xfrm>
            <a:off x="6550343" y="4676775"/>
            <a:ext cx="5524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132A2F"/>
                </a:solidFill>
                <a:latin typeface="Avenir Next" panose="020B0803020202020204"/>
                <a:ea typeface="Avenir Next" panose="020B0803020202020204"/>
                <a:cs typeface="Avenir Next" panose="020B0803020202020204"/>
              </a:defRPr>
            </a:pPr>
            <a:r>
              <a:rPr sz="750" b="1">
                <a:solidFill>
                  <a:srgbClr val="132A2F"/>
                </a:solidFill>
                <a:latin typeface="Avenir Next" panose="020B0803020202020204"/>
                <a:ea typeface="Avenir Next" panose="020B0803020202020204"/>
                <a:cs typeface="Avenir Next" panose="020B0803020202020204"/>
              </a:rPr>
              <a:t>65.8%</a:t>
            </a:r>
            <a:endParaRPr sz="750" b="1">
              <a:solidFill>
                <a:srgbClr val="132A2F"/>
              </a:solidFill>
              <a:latin typeface="Avenir Next" panose="020B0803020202020204"/>
              <a:ea typeface="Avenir Next" panose="020B0803020202020204"/>
              <a:cs typeface="Avenir Next" panose="020B0803020202020204"/>
            </a:endParaRPr>
          </a:p>
        </p:txBody>
      </p:sp>
      <p:sp>
        <p:nvSpPr>
          <p:cNvPr id="30" name="Rectangles 29"/>
          <p:cNvSpPr>
            <a:spLocks noGrp="1"/>
          </p:cNvSpPr>
          <p:nvPr/>
        </p:nvSpPr>
        <p:spPr>
          <a:xfrm>
            <a:off x="2381250" y="5067300"/>
            <a:ext cx="6191250" cy="190500"/>
          </a:xfrm>
          <a:prstGeom prst="rect">
            <a:avLst/>
          </a:prstGeom>
          <a:solidFill>
            <a:srgbClr val="D9D2C7"/>
          </a:solidFill>
          <a:ln w="0">
            <a:solidFill>
              <a:srgbClr val="000000">
                <a:alpha val="0"/>
              </a:srgbClr>
            </a:solidFill>
            <a:prstDash val="solid"/>
          </a:ln>
        </p:spPr>
      </p:sp>
      <p:sp>
        <p:nvSpPr>
          <p:cNvPr id="31" name="Rectangles 30"/>
          <p:cNvSpPr>
            <a:spLocks noGrp="1"/>
          </p:cNvSpPr>
          <p:nvPr/>
        </p:nvSpPr>
        <p:spPr>
          <a:xfrm>
            <a:off x="2381250" y="5067300"/>
            <a:ext cx="3813810" cy="190500"/>
          </a:xfrm>
          <a:prstGeom prst="rect">
            <a:avLst/>
          </a:prstGeom>
          <a:solidFill>
            <a:srgbClr val="2A7F78"/>
          </a:solidFill>
          <a:ln w="0">
            <a:solidFill>
              <a:srgbClr val="000000">
                <a:alpha val="0"/>
              </a:srgbClr>
            </a:solidFill>
            <a:prstDash val="solid"/>
          </a:ln>
        </p:spPr>
      </p:sp>
      <p:sp>
        <p:nvSpPr>
          <p:cNvPr id="32" name="Rectangles 31"/>
          <p:cNvSpPr>
            <a:spLocks noGrp="1"/>
          </p:cNvSpPr>
          <p:nvPr/>
        </p:nvSpPr>
        <p:spPr>
          <a:xfrm>
            <a:off x="6290310" y="5076825"/>
            <a:ext cx="5524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132A2F"/>
                </a:solidFill>
                <a:latin typeface="Avenir Next" panose="020B0803020202020204"/>
                <a:ea typeface="Avenir Next" panose="020B0803020202020204"/>
                <a:cs typeface="Avenir Next" panose="020B0803020202020204"/>
              </a:defRPr>
            </a:pPr>
            <a:r>
              <a:rPr sz="750" b="1">
                <a:solidFill>
                  <a:srgbClr val="132A2F"/>
                </a:solidFill>
                <a:latin typeface="Avenir Next" panose="020B0803020202020204"/>
                <a:ea typeface="Avenir Next" panose="020B0803020202020204"/>
                <a:cs typeface="Avenir Next" panose="020B0803020202020204"/>
              </a:rPr>
              <a:t>61.6%</a:t>
            </a:r>
            <a:endParaRPr sz="750" b="1">
              <a:solidFill>
                <a:srgbClr val="132A2F"/>
              </a:solidFill>
              <a:latin typeface="Avenir Next" panose="020B0803020202020204"/>
              <a:ea typeface="Avenir Next" panose="020B0803020202020204"/>
              <a:cs typeface="Avenir Next" panose="020B0803020202020204"/>
            </a:endParaRPr>
          </a:p>
        </p:txBody>
      </p:sp>
      <p:sp>
        <p:nvSpPr>
          <p:cNvPr id="33" name="Rectangles 32"/>
          <p:cNvSpPr>
            <a:spLocks noGrp="1"/>
          </p:cNvSpPr>
          <p:nvPr/>
        </p:nvSpPr>
        <p:spPr>
          <a:xfrm>
            <a:off x="9286875" y="2143125"/>
            <a:ext cx="2066925" cy="3200400"/>
          </a:xfrm>
          <a:prstGeom prst="rect">
            <a:avLst/>
          </a:prstGeom>
          <a:solidFill>
            <a:srgbClr val="132A2F"/>
          </a:solidFill>
          <a:ln w="0">
            <a:solidFill>
              <a:srgbClr val="000000">
                <a:alpha val="0"/>
              </a:srgbClr>
            </a:solidFill>
            <a:prstDash val="solid"/>
          </a:ln>
        </p:spPr>
      </p:sp>
      <p:sp>
        <p:nvSpPr>
          <p:cNvPr id="34" name="Rectangles 33"/>
          <p:cNvSpPr>
            <a:spLocks noGrp="1"/>
          </p:cNvSpPr>
          <p:nvPr/>
        </p:nvSpPr>
        <p:spPr>
          <a:xfrm>
            <a:off x="9496425" y="2352675"/>
            <a:ext cx="16573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EAD9A8"/>
                </a:solidFill>
                <a:latin typeface="Avenir Next" panose="020B0803020202020204"/>
                <a:ea typeface="Avenir Next" panose="020B0803020202020204"/>
                <a:cs typeface="Avenir Next" panose="020B0803020202020204"/>
              </a:defRPr>
            </a:pPr>
            <a:r>
              <a:rPr sz="750" b="1">
                <a:solidFill>
                  <a:srgbClr val="EAD9A8"/>
                </a:solidFill>
                <a:latin typeface="Avenir Next" panose="020B0803020202020204"/>
                <a:ea typeface="Avenir Next" panose="020B0803020202020204"/>
                <a:cs typeface="Avenir Next" panose="020B0803020202020204"/>
              </a:rPr>
              <a:t>RANKING ORDER</a:t>
            </a:r>
            <a:endParaRPr sz="750" b="1">
              <a:solidFill>
                <a:srgbClr val="EAD9A8"/>
              </a:solidFill>
              <a:latin typeface="Avenir Next" panose="020B0803020202020204"/>
              <a:ea typeface="Avenir Next" panose="020B0803020202020204"/>
              <a:cs typeface="Avenir Next" panose="020B0803020202020204"/>
            </a:endParaRPr>
          </a:p>
        </p:txBody>
      </p:sp>
      <p:sp>
        <p:nvSpPr>
          <p:cNvPr id="35" name="Rectangles 34"/>
          <p:cNvSpPr>
            <a:spLocks noGrp="1"/>
          </p:cNvSpPr>
          <p:nvPr/>
        </p:nvSpPr>
        <p:spPr>
          <a:xfrm>
            <a:off x="9496425" y="2743200"/>
            <a:ext cx="266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1">
                <a:solidFill>
                  <a:srgbClr val="B9D7D1"/>
                </a:solidFill>
                <a:latin typeface="Avenir Next" panose="020B0803020202020204"/>
                <a:ea typeface="Avenir Next" panose="020B0803020202020204"/>
                <a:cs typeface="Avenir Next" panose="020B0803020202020204"/>
              </a:defRPr>
            </a:pPr>
            <a:r>
              <a:rPr sz="825" b="1">
                <a:solidFill>
                  <a:srgbClr val="B9D7D1"/>
                </a:solidFill>
                <a:latin typeface="Avenir Next" panose="020B0803020202020204"/>
                <a:ea typeface="Avenir Next" panose="020B0803020202020204"/>
                <a:cs typeface="Avenir Next" panose="020B0803020202020204"/>
              </a:rPr>
              <a:t>01</a:t>
            </a:r>
            <a:endParaRPr sz="825" b="1">
              <a:solidFill>
                <a:srgbClr val="B9D7D1"/>
              </a:solidFill>
              <a:latin typeface="Avenir Next" panose="020B0803020202020204"/>
              <a:ea typeface="Avenir Next" panose="020B0803020202020204"/>
              <a:cs typeface="Avenir Next" panose="020B0803020202020204"/>
            </a:endParaRPr>
          </a:p>
        </p:txBody>
      </p:sp>
      <p:sp>
        <p:nvSpPr>
          <p:cNvPr id="36" name="Rectangles 35"/>
          <p:cNvSpPr>
            <a:spLocks noGrp="1"/>
          </p:cNvSpPr>
          <p:nvPr/>
        </p:nvSpPr>
        <p:spPr>
          <a:xfrm>
            <a:off x="9848850" y="2733675"/>
            <a:ext cx="1304925"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F7F2E9"/>
                </a:solidFill>
                <a:latin typeface="Avenir Next" panose="020B0803020202020204"/>
                <a:ea typeface="Avenir Next" panose="020B0803020202020204"/>
                <a:cs typeface="Avenir Next" panose="020B0803020202020204"/>
              </a:defRPr>
            </a:pPr>
            <a:r>
              <a:rPr sz="715" b="0">
                <a:solidFill>
                  <a:srgbClr val="F7F2E9"/>
                </a:solidFill>
                <a:latin typeface="Avenir Next" panose="020B0803020202020204"/>
                <a:ea typeface="Avenir Next" panose="020B0803020202020204"/>
                <a:cs typeface="Avenir Next" panose="020B0803020202020204"/>
              </a:rPr>
              <a:t>Fewer changed features</a:t>
            </a:r>
            <a:endParaRPr sz="715" b="0">
              <a:solidFill>
                <a:srgbClr val="F7F2E9"/>
              </a:solidFill>
              <a:latin typeface="Avenir Next" panose="020B0803020202020204"/>
              <a:ea typeface="Avenir Next" panose="020B0803020202020204"/>
              <a:cs typeface="Avenir Next" panose="020B0803020202020204"/>
            </a:endParaRPr>
          </a:p>
        </p:txBody>
      </p:sp>
      <p:sp>
        <p:nvSpPr>
          <p:cNvPr id="37" name="Rectangles 36"/>
          <p:cNvSpPr>
            <a:spLocks noGrp="1"/>
          </p:cNvSpPr>
          <p:nvPr/>
        </p:nvSpPr>
        <p:spPr>
          <a:xfrm>
            <a:off x="9496425" y="3171825"/>
            <a:ext cx="266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1">
                <a:solidFill>
                  <a:srgbClr val="F4C1BB"/>
                </a:solidFill>
                <a:latin typeface="Avenir Next" panose="020B0803020202020204"/>
                <a:ea typeface="Avenir Next" panose="020B0803020202020204"/>
                <a:cs typeface="Avenir Next" panose="020B0803020202020204"/>
              </a:defRPr>
            </a:pPr>
            <a:r>
              <a:rPr sz="825" b="1">
                <a:solidFill>
                  <a:srgbClr val="F4C1BB"/>
                </a:solidFill>
                <a:latin typeface="Avenir Next" panose="020B0803020202020204"/>
                <a:ea typeface="Avenir Next" panose="020B0803020202020204"/>
                <a:cs typeface="Avenir Next" panose="020B0803020202020204"/>
              </a:rPr>
              <a:t>02</a:t>
            </a:r>
            <a:endParaRPr sz="825" b="1">
              <a:solidFill>
                <a:srgbClr val="F4C1BB"/>
              </a:solidFill>
              <a:latin typeface="Avenir Next" panose="020B0803020202020204"/>
              <a:ea typeface="Avenir Next" panose="020B0803020202020204"/>
              <a:cs typeface="Avenir Next" panose="020B0803020202020204"/>
            </a:endParaRPr>
          </a:p>
        </p:txBody>
      </p:sp>
      <p:sp>
        <p:nvSpPr>
          <p:cNvPr id="38" name="Rectangles 37"/>
          <p:cNvSpPr>
            <a:spLocks noGrp="1"/>
          </p:cNvSpPr>
          <p:nvPr/>
        </p:nvSpPr>
        <p:spPr>
          <a:xfrm>
            <a:off x="9848850" y="3162300"/>
            <a:ext cx="1304925"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F7F2E9"/>
                </a:solidFill>
                <a:latin typeface="Avenir Next" panose="020B0803020202020204"/>
                <a:ea typeface="Avenir Next" panose="020B0803020202020204"/>
                <a:cs typeface="Avenir Next" panose="020B0803020202020204"/>
              </a:defRPr>
            </a:pPr>
            <a:r>
              <a:rPr sz="715" b="1">
                <a:solidFill>
                  <a:srgbClr val="F7F2E9"/>
                </a:solidFill>
                <a:latin typeface="Avenir Next" panose="020B0803020202020204"/>
                <a:ea typeface="Avenir Next" panose="020B0803020202020204"/>
                <a:cs typeface="Avenir Next" panose="020B0803020202020204"/>
              </a:rPr>
              <a:t>No salary increase</a:t>
            </a:r>
            <a:endParaRPr sz="715" b="1">
              <a:solidFill>
                <a:srgbClr val="F7F2E9"/>
              </a:solidFill>
              <a:latin typeface="Avenir Next" panose="020B0803020202020204"/>
              <a:ea typeface="Avenir Next" panose="020B0803020202020204"/>
              <a:cs typeface="Avenir Next" panose="020B0803020202020204"/>
            </a:endParaRPr>
          </a:p>
        </p:txBody>
      </p:sp>
      <p:sp>
        <p:nvSpPr>
          <p:cNvPr id="39" name="Rectangles 38"/>
          <p:cNvSpPr>
            <a:spLocks noGrp="1"/>
          </p:cNvSpPr>
          <p:nvPr/>
        </p:nvSpPr>
        <p:spPr>
          <a:xfrm>
            <a:off x="9496425" y="3600450"/>
            <a:ext cx="266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1">
                <a:solidFill>
                  <a:srgbClr val="B9D7D1"/>
                </a:solidFill>
                <a:latin typeface="Avenir Next" panose="020B0803020202020204"/>
                <a:ea typeface="Avenir Next" panose="020B0803020202020204"/>
                <a:cs typeface="Avenir Next" panose="020B0803020202020204"/>
              </a:defRPr>
            </a:pPr>
            <a:r>
              <a:rPr sz="825" b="1">
                <a:solidFill>
                  <a:srgbClr val="B9D7D1"/>
                </a:solidFill>
                <a:latin typeface="Avenir Next" panose="020B0803020202020204"/>
                <a:ea typeface="Avenir Next" panose="020B0803020202020204"/>
                <a:cs typeface="Avenir Next" panose="020B0803020202020204"/>
              </a:rPr>
              <a:t>03</a:t>
            </a:r>
            <a:endParaRPr sz="825" b="1">
              <a:solidFill>
                <a:srgbClr val="B9D7D1"/>
              </a:solidFill>
              <a:latin typeface="Avenir Next" panose="020B0803020202020204"/>
              <a:ea typeface="Avenir Next" panose="020B0803020202020204"/>
              <a:cs typeface="Avenir Next" panose="020B0803020202020204"/>
            </a:endParaRPr>
          </a:p>
        </p:txBody>
      </p:sp>
      <p:sp>
        <p:nvSpPr>
          <p:cNvPr id="40" name="Rectangles 39"/>
          <p:cNvSpPr>
            <a:spLocks noGrp="1"/>
          </p:cNvSpPr>
          <p:nvPr/>
        </p:nvSpPr>
        <p:spPr>
          <a:xfrm>
            <a:off x="9848850" y="3590925"/>
            <a:ext cx="1304925"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F7F2E9"/>
                </a:solidFill>
                <a:latin typeface="Avenir Next" panose="020B0803020202020204"/>
                <a:ea typeface="Avenir Next" panose="020B0803020202020204"/>
                <a:cs typeface="Avenir Next" panose="020B0803020202020204"/>
              </a:defRPr>
            </a:pPr>
            <a:r>
              <a:rPr sz="715" b="0">
                <a:solidFill>
                  <a:srgbClr val="F7F2E9"/>
                </a:solidFill>
                <a:latin typeface="Avenir Next" panose="020B0803020202020204"/>
                <a:ea typeface="Avenir Next" panose="020B0803020202020204"/>
                <a:cs typeface="Avenir Next" panose="020B0803020202020204"/>
              </a:rPr>
              <a:t>Smaller stock-option change</a:t>
            </a:r>
            <a:endParaRPr sz="715" b="0">
              <a:solidFill>
                <a:srgbClr val="F7F2E9"/>
              </a:solidFill>
              <a:latin typeface="Avenir Next" panose="020B0803020202020204"/>
              <a:ea typeface="Avenir Next" panose="020B0803020202020204"/>
              <a:cs typeface="Avenir Next" panose="020B0803020202020204"/>
            </a:endParaRPr>
          </a:p>
        </p:txBody>
      </p:sp>
      <p:sp>
        <p:nvSpPr>
          <p:cNvPr id="41" name="Rectangles 40"/>
          <p:cNvSpPr>
            <a:spLocks noGrp="1"/>
          </p:cNvSpPr>
          <p:nvPr/>
        </p:nvSpPr>
        <p:spPr>
          <a:xfrm>
            <a:off x="9496425" y="4029075"/>
            <a:ext cx="266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1">
                <a:solidFill>
                  <a:srgbClr val="B9D7D1"/>
                </a:solidFill>
                <a:latin typeface="Avenir Next" panose="020B0803020202020204"/>
                <a:ea typeface="Avenir Next" panose="020B0803020202020204"/>
                <a:cs typeface="Avenir Next" panose="020B0803020202020204"/>
              </a:defRPr>
            </a:pPr>
            <a:r>
              <a:rPr sz="825" b="1">
                <a:solidFill>
                  <a:srgbClr val="B9D7D1"/>
                </a:solidFill>
                <a:latin typeface="Avenir Next" panose="020B0803020202020204"/>
                <a:ea typeface="Avenir Next" panose="020B0803020202020204"/>
                <a:cs typeface="Avenir Next" panose="020B0803020202020204"/>
              </a:rPr>
              <a:t>04</a:t>
            </a:r>
            <a:endParaRPr sz="825" b="1">
              <a:solidFill>
                <a:srgbClr val="B9D7D1"/>
              </a:solidFill>
              <a:latin typeface="Avenir Next" panose="020B0803020202020204"/>
              <a:ea typeface="Avenir Next" panose="020B0803020202020204"/>
              <a:cs typeface="Avenir Next" panose="020B0803020202020204"/>
            </a:endParaRPr>
          </a:p>
        </p:txBody>
      </p:sp>
      <p:sp>
        <p:nvSpPr>
          <p:cNvPr id="42" name="Rectangles 41"/>
          <p:cNvSpPr>
            <a:spLocks noGrp="1"/>
          </p:cNvSpPr>
          <p:nvPr/>
        </p:nvSpPr>
        <p:spPr>
          <a:xfrm>
            <a:off x="9848850" y="4019550"/>
            <a:ext cx="1304925"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F7F2E9"/>
                </a:solidFill>
                <a:latin typeface="Avenir Next" panose="020B0803020202020204"/>
                <a:ea typeface="Avenir Next" panose="020B0803020202020204"/>
                <a:cs typeface="Avenir Next" panose="020B0803020202020204"/>
              </a:defRPr>
            </a:pPr>
            <a:r>
              <a:rPr sz="715" b="0">
                <a:solidFill>
                  <a:srgbClr val="F7F2E9"/>
                </a:solidFill>
                <a:latin typeface="Avenir Next" panose="020B0803020202020204"/>
                <a:ea typeface="Avenir Next" panose="020B0803020202020204"/>
                <a:cs typeface="Avenir Next" panose="020B0803020202020204"/>
              </a:rPr>
              <a:t>Smaller income increase</a:t>
            </a:r>
            <a:endParaRPr sz="715" b="0">
              <a:solidFill>
                <a:srgbClr val="F7F2E9"/>
              </a:solidFill>
              <a:latin typeface="Avenir Next" panose="020B0803020202020204"/>
              <a:ea typeface="Avenir Next" panose="020B0803020202020204"/>
              <a:cs typeface="Avenir Next" panose="020B0803020202020204"/>
            </a:endParaRPr>
          </a:p>
        </p:txBody>
      </p:sp>
      <p:sp>
        <p:nvSpPr>
          <p:cNvPr id="43" name="Rectangles 42"/>
          <p:cNvSpPr>
            <a:spLocks noGrp="1"/>
          </p:cNvSpPr>
          <p:nvPr/>
        </p:nvSpPr>
        <p:spPr>
          <a:xfrm>
            <a:off x="9496425" y="4457700"/>
            <a:ext cx="266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1">
                <a:solidFill>
                  <a:srgbClr val="B9D7D1"/>
                </a:solidFill>
                <a:latin typeface="Avenir Next" panose="020B0803020202020204"/>
                <a:ea typeface="Avenir Next" panose="020B0803020202020204"/>
                <a:cs typeface="Avenir Next" panose="020B0803020202020204"/>
              </a:defRPr>
            </a:pPr>
            <a:r>
              <a:rPr sz="825" b="1">
                <a:solidFill>
                  <a:srgbClr val="B9D7D1"/>
                </a:solidFill>
                <a:latin typeface="Avenir Next" panose="020B0803020202020204"/>
                <a:ea typeface="Avenir Next" panose="020B0803020202020204"/>
                <a:cs typeface="Avenir Next" panose="020B0803020202020204"/>
              </a:rPr>
              <a:t>05</a:t>
            </a:r>
            <a:endParaRPr sz="825" b="1">
              <a:solidFill>
                <a:srgbClr val="B9D7D1"/>
              </a:solidFill>
              <a:latin typeface="Avenir Next" panose="020B0803020202020204"/>
              <a:ea typeface="Avenir Next" panose="020B0803020202020204"/>
              <a:cs typeface="Avenir Next" panose="020B0803020202020204"/>
            </a:endParaRPr>
          </a:p>
        </p:txBody>
      </p:sp>
      <p:sp>
        <p:nvSpPr>
          <p:cNvPr id="44" name="Rectangles 43"/>
          <p:cNvSpPr>
            <a:spLocks noGrp="1"/>
          </p:cNvSpPr>
          <p:nvPr/>
        </p:nvSpPr>
        <p:spPr>
          <a:xfrm>
            <a:off x="9848850" y="4448175"/>
            <a:ext cx="1304925"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F7F2E9"/>
                </a:solidFill>
                <a:latin typeface="Avenir Next" panose="020B0803020202020204"/>
                <a:ea typeface="Avenir Next" panose="020B0803020202020204"/>
                <a:cs typeface="Avenir Next" panose="020B0803020202020204"/>
              </a:defRPr>
            </a:pPr>
            <a:r>
              <a:rPr sz="715" b="0">
                <a:solidFill>
                  <a:srgbClr val="F7F2E9"/>
                </a:solidFill>
                <a:latin typeface="Avenir Next" panose="020B0803020202020204"/>
                <a:ea typeface="Avenir Next" panose="020B0803020202020204"/>
                <a:cs typeface="Avenir Next" panose="020B0803020202020204"/>
              </a:rPr>
              <a:t>Greater score reduction</a:t>
            </a:r>
            <a:endParaRPr sz="715" b="0">
              <a:solidFill>
                <a:srgbClr val="F7F2E9"/>
              </a:solidFill>
              <a:latin typeface="Avenir Next" panose="020B0803020202020204"/>
              <a:ea typeface="Avenir Next" panose="020B0803020202020204"/>
              <a:cs typeface="Avenir Next" panose="020B0803020202020204"/>
            </a:endParaRPr>
          </a:p>
        </p:txBody>
      </p:sp>
      <p:sp>
        <p:nvSpPr>
          <p:cNvPr id="45" name="Rectangles 44"/>
          <p:cNvSpPr>
            <a:spLocks noGrp="1"/>
          </p:cNvSpPr>
          <p:nvPr/>
        </p:nvSpPr>
        <p:spPr>
          <a:xfrm>
            <a:off x="9496425" y="4791075"/>
            <a:ext cx="16573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F4C1BB"/>
                </a:solidFill>
                <a:latin typeface="Avenir Next" panose="020B0803020202020204"/>
                <a:ea typeface="Avenir Next" panose="020B0803020202020204"/>
                <a:cs typeface="Avenir Next" panose="020B0803020202020204"/>
              </a:defRPr>
            </a:pPr>
            <a:r>
              <a:rPr sz="675" b="1">
                <a:solidFill>
                  <a:srgbClr val="F4C1BB"/>
                </a:solidFill>
                <a:latin typeface="Avenir Next" panose="020B0803020202020204"/>
                <a:ea typeface="Avenir Next" panose="020B0803020202020204"/>
                <a:cs typeface="Avenir Next" panose="020B0803020202020204"/>
              </a:rPr>
              <a:t>Salary appeared in only 2 selected scenarios.</a:t>
            </a:r>
            <a:endParaRPr sz="675" b="1">
              <a:solidFill>
                <a:srgbClr val="F4C1BB"/>
              </a:solidFill>
              <a:latin typeface="Avenir Next" panose="020B0803020202020204"/>
              <a:ea typeface="Avenir Next" panose="020B0803020202020204"/>
              <a:cs typeface="Avenir Next" panose="020B0803020202020204"/>
            </a:endParaRPr>
          </a:p>
        </p:txBody>
      </p:sp>
      <p:sp>
        <p:nvSpPr>
          <p:cNvPr id="46" name="Rectangles 45"/>
          <p:cNvSpPr>
            <a:spLocks noGrp="1"/>
          </p:cNvSpPr>
          <p:nvPr/>
        </p:nvSpPr>
        <p:spPr>
          <a:xfrm>
            <a:off x="552450" y="5924550"/>
            <a:ext cx="10801350" cy="9525"/>
          </a:xfrm>
          <a:prstGeom prst="rect">
            <a:avLst/>
          </a:prstGeom>
          <a:solidFill>
            <a:srgbClr val="D9D2C7"/>
          </a:solidFill>
          <a:ln w="0">
            <a:solidFill>
              <a:srgbClr val="000000">
                <a:alpha val="0"/>
              </a:srgbClr>
            </a:solidFill>
            <a:prstDash val="solid"/>
          </a:ln>
        </p:spPr>
      </p:sp>
      <p:sp>
        <p:nvSpPr>
          <p:cNvPr id="47" name="Rectangles 46"/>
          <p:cNvSpPr>
            <a:spLocks noGrp="1"/>
          </p:cNvSpPr>
          <p:nvPr/>
        </p:nvSpPr>
        <p:spPr>
          <a:xfrm>
            <a:off x="552450" y="6076950"/>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2A7F78"/>
                </a:solidFill>
                <a:latin typeface="Avenir Next" panose="020B0803020202020204"/>
                <a:ea typeface="Avenir Next" panose="020B0803020202020204"/>
                <a:cs typeface="Avenir Next" panose="020B0803020202020204"/>
              </a:defRPr>
            </a:pPr>
            <a:r>
              <a:rPr sz="750" b="1">
                <a:solidFill>
                  <a:srgbClr val="2A7F78"/>
                </a:solidFill>
                <a:latin typeface="Avenir Next" panose="020B0803020202020204"/>
                <a:ea typeface="Avenir Next" panose="020B0803020202020204"/>
                <a:cs typeface="Avenir Next" panose="020B0803020202020204"/>
              </a:rPr>
              <a:t>57 one-feature</a:t>
            </a:r>
            <a:endParaRPr sz="750" b="1">
              <a:solidFill>
                <a:srgbClr val="2A7F78"/>
              </a:solidFill>
              <a:latin typeface="Avenir Next" panose="020B0803020202020204"/>
              <a:ea typeface="Avenir Next" panose="020B0803020202020204"/>
              <a:cs typeface="Avenir Next" panose="020B0803020202020204"/>
            </a:endParaRPr>
          </a:p>
        </p:txBody>
      </p:sp>
      <p:sp>
        <p:nvSpPr>
          <p:cNvPr id="48" name="Rectangles 47"/>
          <p:cNvSpPr>
            <a:spLocks noGrp="1"/>
          </p:cNvSpPr>
          <p:nvPr/>
        </p:nvSpPr>
        <p:spPr>
          <a:xfrm>
            <a:off x="2143125" y="6076950"/>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132A2F"/>
                </a:solidFill>
                <a:latin typeface="Avenir Next" panose="020B0803020202020204"/>
                <a:ea typeface="Avenir Next" panose="020B0803020202020204"/>
                <a:cs typeface="Avenir Next" panose="020B0803020202020204"/>
              </a:defRPr>
            </a:pPr>
            <a:r>
              <a:rPr sz="750" b="1">
                <a:solidFill>
                  <a:srgbClr val="132A2F"/>
                </a:solidFill>
                <a:latin typeface="Avenir Next" panose="020B0803020202020204"/>
                <a:ea typeface="Avenir Next" panose="020B0803020202020204"/>
                <a:cs typeface="Avenir Next" panose="020B0803020202020204"/>
              </a:rPr>
              <a:t>15 two-feature</a:t>
            </a:r>
            <a:endParaRPr sz="750" b="1">
              <a:solidFill>
                <a:srgbClr val="132A2F"/>
              </a:solidFill>
              <a:latin typeface="Avenir Next" panose="020B0803020202020204"/>
              <a:ea typeface="Avenir Next" panose="020B0803020202020204"/>
              <a:cs typeface="Avenir Next" panose="020B0803020202020204"/>
            </a:endParaRPr>
          </a:p>
        </p:txBody>
      </p:sp>
      <p:sp>
        <p:nvSpPr>
          <p:cNvPr id="49" name="Rectangles 48"/>
          <p:cNvSpPr>
            <a:spLocks noGrp="1"/>
          </p:cNvSpPr>
          <p:nvPr/>
        </p:nvSpPr>
        <p:spPr>
          <a:xfrm>
            <a:off x="3733800" y="6076950"/>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132A2F"/>
                </a:solidFill>
                <a:latin typeface="Avenir Next" panose="020B0803020202020204"/>
                <a:ea typeface="Avenir Next" panose="020B0803020202020204"/>
                <a:cs typeface="Avenir Next" panose="020B0803020202020204"/>
              </a:defRPr>
            </a:pPr>
            <a:r>
              <a:rPr sz="750" b="1">
                <a:solidFill>
                  <a:srgbClr val="132A2F"/>
                </a:solidFill>
                <a:latin typeface="Avenir Next" panose="020B0803020202020204"/>
                <a:ea typeface="Avenir Next" panose="020B0803020202020204"/>
                <a:cs typeface="Avenir Next" panose="020B0803020202020204"/>
              </a:rPr>
              <a:t>1 three-feature</a:t>
            </a:r>
            <a:endParaRPr sz="750" b="1">
              <a:solidFill>
                <a:srgbClr val="132A2F"/>
              </a:solidFill>
              <a:latin typeface="Avenir Next" panose="020B0803020202020204"/>
              <a:ea typeface="Avenir Next" panose="020B0803020202020204"/>
              <a:cs typeface="Avenir Next" panose="020B0803020202020204"/>
            </a:endParaRPr>
          </a:p>
        </p:txBody>
      </p:sp>
      <p:sp>
        <p:nvSpPr>
          <p:cNvPr id="50" name="Rectangles 49"/>
          <p:cNvSpPr>
            <a:spLocks noGrp="1"/>
          </p:cNvSpPr>
          <p:nvPr/>
        </p:nvSpPr>
        <p:spPr>
          <a:xfrm>
            <a:off x="6667500" y="6076950"/>
            <a:ext cx="46863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50" b="1">
                <a:solidFill>
                  <a:srgbClr val="E45B4F"/>
                </a:solidFill>
                <a:latin typeface="Avenir Next" panose="020B0803020202020204"/>
                <a:ea typeface="Avenir Next" panose="020B0803020202020204"/>
                <a:cs typeface="Avenir Next" panose="020B0803020202020204"/>
              </a:defRPr>
            </a:pPr>
            <a:r>
              <a:rPr sz="750" b="1">
                <a:solidFill>
                  <a:srgbClr val="E45B4F"/>
                </a:solidFill>
                <a:latin typeface="Avenir Next" panose="020B0803020202020204"/>
                <a:ea typeface="Avenir Next" panose="020B0803020202020204"/>
                <a:cs typeface="Avenir Next" panose="020B0803020202020204"/>
              </a:rPr>
              <a:t>Selection frequency reflects policy—not causal effectiveness.</a:t>
            </a:r>
            <a:endParaRPr sz="750" b="1">
              <a:solidFill>
                <a:srgbClr val="E45B4F"/>
              </a:solidFill>
              <a:latin typeface="Avenir Next" panose="020B0803020202020204"/>
              <a:ea typeface="Avenir Next" panose="020B0803020202020204"/>
              <a:cs typeface="Avenir Next" panose="020B0803020202020204"/>
            </a:endParaRPr>
          </a:p>
        </p:txBody>
      </p:sp>
      <p:sp>
        <p:nvSpPr>
          <p:cNvPr id="51" name="Rectangles 50"/>
          <p:cNvSpPr>
            <a:spLocks noGrp="1"/>
          </p:cNvSpPr>
          <p:nvPr/>
        </p:nvSpPr>
        <p:spPr>
          <a:xfrm>
            <a:off x="552450" y="6486525"/>
            <a:ext cx="11087100" cy="9525"/>
          </a:xfrm>
          <a:prstGeom prst="rect">
            <a:avLst/>
          </a:prstGeom>
          <a:solidFill>
            <a:srgbClr val="D9D2C7"/>
          </a:solidFill>
          <a:ln w="0">
            <a:solidFill>
              <a:srgbClr val="000000">
                <a:alpha val="0"/>
              </a:srgbClr>
            </a:solidFill>
            <a:prstDash val="solid"/>
          </a:ln>
        </p:spPr>
      </p:sp>
      <p:sp>
        <p:nvSpPr>
          <p:cNvPr id="52" name="Rectangles 51"/>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Source: hr_lever_contribution.csv and best_feasible_scenarios.csv</a:t>
            </a:r>
            <a:endParaRPr sz="640" b="0">
              <a:solidFill>
                <a:srgbClr val="5F6D6D"/>
              </a:solidFill>
              <a:latin typeface="Avenir Next" panose="020B0803020202020204"/>
              <a:ea typeface="Avenir Next" panose="020B0803020202020204"/>
              <a:cs typeface="Avenir Next" panose="020B0803020202020204"/>
            </a:endParaRPr>
          </a:p>
        </p:txBody>
      </p:sp>
      <p:sp>
        <p:nvSpPr>
          <p:cNvPr id="53" name="Rectangles 52"/>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11</a:t>
            </a:r>
            <a:endParaRPr sz="675" b="1">
              <a:solidFill>
                <a:srgbClr val="5F6D6D"/>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4F0E8"/>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132A2F"/>
          </a:solidFill>
          <a:ln w="0">
            <a:solidFill>
              <a:srgbClr val="000000">
                <a:alpha val="0"/>
              </a:srgbClr>
            </a:solidFill>
            <a:prstDash val="solid"/>
          </a:ln>
        </p:spPr>
      </p:sp>
      <p:sp>
        <p:nvSpPr>
          <p:cNvPr id="4" name="kicker-10-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10-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EMPLOYEE-LEVEL EVIDENCE</a:t>
            </a:r>
            <a:endParaRPr sz="750" b="1">
              <a:solidFill>
                <a:srgbClr val="5F6D6D"/>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685800"/>
            <a:ext cx="10001250" cy="8382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132A2F"/>
                </a:solidFill>
                <a:latin typeface="New York"/>
                <a:ea typeface="New York"/>
                <a:cs typeface="New York"/>
              </a:defRPr>
            </a:pPr>
            <a:r>
              <a:rPr sz="2550" b="1">
                <a:solidFill>
                  <a:srgbClr val="132A2F"/>
                </a:solidFill>
                <a:latin typeface="New York"/>
                <a:ea typeface="New York"/>
                <a:cs typeface="New York"/>
              </a:rPr>
              <a:t>Employee-level records reveal why aggregate feasibility is not enough.</a:t>
            </a:r>
            <a:endParaRPr sz="2550" b="1">
              <a:solidFill>
                <a:srgbClr val="132A2F"/>
              </a:solidFill>
              <a:latin typeface="New York"/>
              <a:ea typeface="New York"/>
              <a:cs typeface="New York"/>
            </a:endParaRPr>
          </a:p>
        </p:txBody>
      </p:sp>
      <p:sp>
        <p:nvSpPr>
          <p:cNvPr id="7" name="Rectangles 6"/>
          <p:cNvSpPr>
            <a:spLocks noGrp="1"/>
          </p:cNvSpPr>
          <p:nvPr/>
        </p:nvSpPr>
        <p:spPr>
          <a:xfrm>
            <a:off x="552450" y="1819275"/>
            <a:ext cx="5810250" cy="3886200"/>
          </a:xfrm>
          <a:prstGeom prst="rect">
            <a:avLst/>
          </a:prstGeom>
          <a:solidFill>
            <a:srgbClr val="132A2F"/>
          </a:solidFill>
          <a:ln w="0">
            <a:solidFill>
              <a:srgbClr val="000000">
                <a:alpha val="0"/>
              </a:srgbClr>
            </a:solidFill>
            <a:prstDash val="solid"/>
          </a:ln>
        </p:spPr>
      </p:sp>
      <p:sp>
        <p:nvSpPr>
          <p:cNvPr id="8" name="Rectangles 7"/>
          <p:cNvSpPr>
            <a:spLocks noGrp="1"/>
          </p:cNvSpPr>
          <p:nvPr/>
        </p:nvSpPr>
        <p:spPr>
          <a:xfrm>
            <a:off x="781050" y="2038350"/>
            <a:ext cx="1809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B9D7D1"/>
                </a:solidFill>
                <a:latin typeface="Avenir Next" panose="020B0803020202020204"/>
                <a:ea typeface="Avenir Next" panose="020B0803020202020204"/>
                <a:cs typeface="Avenir Next" panose="020B0803020202020204"/>
              </a:defRPr>
            </a:pPr>
            <a:r>
              <a:rPr sz="750" b="1">
                <a:solidFill>
                  <a:srgbClr val="B9D7D1"/>
                </a:solidFill>
                <a:latin typeface="Avenir Next" panose="020B0803020202020204"/>
                <a:ea typeface="Avenir Next" panose="020B0803020202020204"/>
                <a:cs typeface="Avenir Next" panose="020B0803020202020204"/>
              </a:rPr>
              <a:t>ACTIONABLE</a:t>
            </a:r>
            <a:endParaRPr sz="750" b="1">
              <a:solidFill>
                <a:srgbClr val="B9D7D1"/>
              </a:solidFill>
              <a:latin typeface="Avenir Next" panose="020B0803020202020204"/>
              <a:ea typeface="Avenir Next" panose="020B0803020202020204"/>
              <a:cs typeface="Avenir Next" panose="020B0803020202020204"/>
            </a:endParaRPr>
          </a:p>
        </p:txBody>
      </p:sp>
      <p:sp>
        <p:nvSpPr>
          <p:cNvPr id="9" name="Rectangles 8"/>
          <p:cNvSpPr>
            <a:spLocks noGrp="1"/>
          </p:cNvSpPr>
          <p:nvPr/>
        </p:nvSpPr>
        <p:spPr>
          <a:xfrm>
            <a:off x="781050" y="2324100"/>
            <a:ext cx="26670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250" b="1">
                <a:solidFill>
                  <a:srgbClr val="F7F2E9"/>
                </a:solidFill>
                <a:latin typeface="New York"/>
                <a:ea typeface="New York"/>
                <a:cs typeface="New York"/>
              </a:defRPr>
            </a:pPr>
            <a:r>
              <a:rPr sz="2250" b="1">
                <a:solidFill>
                  <a:srgbClr val="F7F2E9"/>
                </a:solidFill>
                <a:latin typeface="New York"/>
                <a:ea typeface="New York"/>
                <a:cs typeface="New York"/>
              </a:rPr>
              <a:t>Employee 144</a:t>
            </a:r>
            <a:endParaRPr sz="2250" b="1">
              <a:solidFill>
                <a:srgbClr val="F7F2E9"/>
              </a:solidFill>
              <a:latin typeface="New York"/>
              <a:ea typeface="New York"/>
              <a:cs typeface="New York"/>
            </a:endParaRPr>
          </a:p>
        </p:txBody>
      </p:sp>
      <p:sp>
        <p:nvSpPr>
          <p:cNvPr id="10" name="Rectangles 9"/>
          <p:cNvSpPr>
            <a:spLocks noGrp="1"/>
          </p:cNvSpPr>
          <p:nvPr/>
        </p:nvSpPr>
        <p:spPr>
          <a:xfrm>
            <a:off x="781050" y="2762250"/>
            <a:ext cx="44767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0">
                <a:solidFill>
                  <a:srgbClr val="EAD9A8"/>
                </a:solidFill>
                <a:latin typeface="Avenir Next" panose="020B0803020202020204"/>
                <a:ea typeface="Avenir Next" panose="020B0803020202020204"/>
                <a:cs typeface="Avenir Next" panose="020B0803020202020204"/>
              </a:defRPr>
            </a:pPr>
            <a:r>
              <a:rPr sz="715" b="0">
                <a:solidFill>
                  <a:srgbClr val="EAD9A8"/>
                </a:solidFill>
                <a:latin typeface="Avenir Next" panose="020B0803020202020204"/>
                <a:ea typeface="Avenir Next" panose="020B0803020202020204"/>
                <a:cs typeface="Avenir Next" panose="020B0803020202020204"/>
              </a:rPr>
              <a:t>Mechanically selected near the actionable-group median score</a:t>
            </a:r>
            <a:endParaRPr sz="715" b="0">
              <a:solidFill>
                <a:srgbClr val="EAD9A8"/>
              </a:solidFill>
              <a:latin typeface="Avenir Next" panose="020B0803020202020204"/>
              <a:ea typeface="Avenir Next" panose="020B0803020202020204"/>
              <a:cs typeface="Avenir Next" panose="020B0803020202020204"/>
            </a:endParaRPr>
          </a:p>
        </p:txBody>
      </p:sp>
      <p:sp>
        <p:nvSpPr>
          <p:cNvPr id="11" name="Rectangles 10"/>
          <p:cNvSpPr>
            <a:spLocks noGrp="1"/>
          </p:cNvSpPr>
          <p:nvPr/>
        </p:nvSpPr>
        <p:spPr>
          <a:xfrm>
            <a:off x="781050" y="3276600"/>
            <a:ext cx="1714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B9D7D1"/>
                </a:solidFill>
                <a:latin typeface="Avenir Next" panose="020B0803020202020204"/>
                <a:ea typeface="Avenir Next" panose="020B0803020202020204"/>
                <a:cs typeface="Avenir Next" panose="020B0803020202020204"/>
              </a:defRPr>
            </a:pPr>
            <a:r>
              <a:rPr sz="675" b="1">
                <a:solidFill>
                  <a:srgbClr val="B9D7D1"/>
                </a:solidFill>
                <a:latin typeface="Avenir Next" panose="020B0803020202020204"/>
                <a:ea typeface="Avenir Next" panose="020B0803020202020204"/>
                <a:cs typeface="Avenir Next" panose="020B0803020202020204"/>
              </a:rPr>
              <a:t>ATTRITION SCORE</a:t>
            </a:r>
            <a:endParaRPr sz="675" b="1">
              <a:solidFill>
                <a:srgbClr val="B9D7D1"/>
              </a:solidFill>
              <a:latin typeface="Avenir Next" panose="020B0803020202020204"/>
              <a:ea typeface="Avenir Next" panose="020B0803020202020204"/>
              <a:cs typeface="Avenir Next" panose="020B0803020202020204"/>
            </a:endParaRPr>
          </a:p>
        </p:txBody>
      </p:sp>
      <p:sp>
        <p:nvSpPr>
          <p:cNvPr id="12" name="Rectangles 11"/>
          <p:cNvSpPr>
            <a:spLocks noGrp="1"/>
          </p:cNvSpPr>
          <p:nvPr/>
        </p:nvSpPr>
        <p:spPr>
          <a:xfrm>
            <a:off x="781050" y="3752850"/>
            <a:ext cx="4762500" cy="47625"/>
          </a:xfrm>
          <a:prstGeom prst="rect">
            <a:avLst/>
          </a:prstGeom>
          <a:solidFill>
            <a:srgbClr val="203D42"/>
          </a:solidFill>
          <a:ln w="0">
            <a:solidFill>
              <a:srgbClr val="000000">
                <a:alpha val="0"/>
              </a:srgbClr>
            </a:solidFill>
            <a:prstDash val="solid"/>
          </a:ln>
        </p:spPr>
      </p:sp>
      <p:sp>
        <p:nvSpPr>
          <p:cNvPr id="13" name="Rectangles 12"/>
          <p:cNvSpPr>
            <a:spLocks noGrp="1"/>
          </p:cNvSpPr>
          <p:nvPr/>
        </p:nvSpPr>
        <p:spPr>
          <a:xfrm>
            <a:off x="2543175" y="3552825"/>
            <a:ext cx="19050" cy="438150"/>
          </a:xfrm>
          <a:prstGeom prst="rect">
            <a:avLst/>
          </a:prstGeom>
          <a:solidFill>
            <a:srgbClr val="E45B4F"/>
          </a:solidFill>
          <a:ln w="0">
            <a:solidFill>
              <a:srgbClr val="000000">
                <a:alpha val="0"/>
              </a:srgbClr>
            </a:solidFill>
            <a:prstDash val="solid"/>
          </a:ln>
        </p:spPr>
      </p:sp>
      <p:sp>
        <p:nvSpPr>
          <p:cNvPr id="14" name="Rectangles 13"/>
          <p:cNvSpPr>
            <a:spLocks noGrp="1"/>
          </p:cNvSpPr>
          <p:nvPr/>
        </p:nvSpPr>
        <p:spPr>
          <a:xfrm>
            <a:off x="2114550" y="4010025"/>
            <a:ext cx="857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40" b="1">
                <a:solidFill>
                  <a:srgbClr val="F4C1BB"/>
                </a:solidFill>
                <a:latin typeface="Avenir Next" panose="020B0803020202020204"/>
                <a:ea typeface="Avenir Next" panose="020B0803020202020204"/>
                <a:cs typeface="Avenir Next" panose="020B0803020202020204"/>
              </a:defRPr>
            </a:pPr>
            <a:r>
              <a:rPr sz="640" b="1">
                <a:solidFill>
                  <a:srgbClr val="F4C1BB"/>
                </a:solidFill>
                <a:latin typeface="Avenir Next" panose="020B0803020202020204"/>
                <a:ea typeface="Avenir Next" panose="020B0803020202020204"/>
                <a:cs typeface="Avenir Next" panose="020B0803020202020204"/>
              </a:rPr>
              <a:t>threshold 0.37</a:t>
            </a:r>
            <a:endParaRPr sz="640" b="1">
              <a:solidFill>
                <a:srgbClr val="F4C1BB"/>
              </a:solidFill>
              <a:latin typeface="Avenir Next" panose="020B0803020202020204"/>
              <a:ea typeface="Avenir Next" panose="020B0803020202020204"/>
              <a:cs typeface="Avenir Next" panose="020B0803020202020204"/>
            </a:endParaRPr>
          </a:p>
        </p:txBody>
      </p:sp>
      <p:sp>
        <p:nvSpPr>
          <p:cNvPr id="15" name="Oval 14"/>
          <p:cNvSpPr>
            <a:spLocks noGrp="1"/>
          </p:cNvSpPr>
          <p:nvPr/>
        </p:nvSpPr>
        <p:spPr>
          <a:xfrm>
            <a:off x="3586163" y="3676650"/>
            <a:ext cx="152400" cy="152400"/>
          </a:xfrm>
          <a:prstGeom prst="ellipse">
            <a:avLst/>
          </a:prstGeom>
          <a:solidFill>
            <a:srgbClr val="D6A83A"/>
          </a:solidFill>
          <a:ln w="0">
            <a:solidFill>
              <a:srgbClr val="000000">
                <a:alpha val="0"/>
              </a:srgbClr>
            </a:solidFill>
            <a:prstDash val="solid"/>
          </a:ln>
        </p:spPr>
      </p:sp>
      <p:sp>
        <p:nvSpPr>
          <p:cNvPr id="16" name="Rectangles 15"/>
          <p:cNvSpPr>
            <a:spLocks noGrp="1"/>
          </p:cNvSpPr>
          <p:nvPr/>
        </p:nvSpPr>
        <p:spPr>
          <a:xfrm>
            <a:off x="3186113" y="3381375"/>
            <a:ext cx="952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EAD9A8"/>
                </a:solidFill>
                <a:latin typeface="Avenir Next" panose="020B0803020202020204"/>
                <a:ea typeface="Avenir Next" panose="020B0803020202020204"/>
                <a:cs typeface="Avenir Next" panose="020B0803020202020204"/>
              </a:defRPr>
            </a:pPr>
            <a:r>
              <a:rPr sz="675" b="1">
                <a:solidFill>
                  <a:srgbClr val="EAD9A8"/>
                </a:solidFill>
                <a:latin typeface="Avenir Next" panose="020B0803020202020204"/>
                <a:ea typeface="Avenir Next" panose="020B0803020202020204"/>
                <a:cs typeface="Avenir Next" panose="020B0803020202020204"/>
              </a:rPr>
              <a:t>0.605 before</a:t>
            </a:r>
            <a:endParaRPr sz="675" b="1">
              <a:solidFill>
                <a:srgbClr val="EAD9A8"/>
              </a:solidFill>
              <a:latin typeface="Avenir Next" panose="020B0803020202020204"/>
              <a:ea typeface="Avenir Next" panose="020B0803020202020204"/>
              <a:cs typeface="Avenir Next" panose="020B0803020202020204"/>
            </a:endParaRPr>
          </a:p>
        </p:txBody>
      </p:sp>
      <p:sp>
        <p:nvSpPr>
          <p:cNvPr id="17" name="Oval 16"/>
          <p:cNvSpPr>
            <a:spLocks noGrp="1"/>
          </p:cNvSpPr>
          <p:nvPr/>
        </p:nvSpPr>
        <p:spPr>
          <a:xfrm>
            <a:off x="2052638" y="3676650"/>
            <a:ext cx="152400" cy="152400"/>
          </a:xfrm>
          <a:prstGeom prst="ellipse">
            <a:avLst/>
          </a:prstGeom>
          <a:solidFill>
            <a:srgbClr val="2A7F78"/>
          </a:solidFill>
          <a:ln w="0">
            <a:solidFill>
              <a:srgbClr val="000000">
                <a:alpha val="0"/>
              </a:srgbClr>
            </a:solidFill>
            <a:prstDash val="solid"/>
          </a:ln>
        </p:spPr>
      </p:sp>
      <p:sp>
        <p:nvSpPr>
          <p:cNvPr id="18" name="Rectangles 17"/>
          <p:cNvSpPr>
            <a:spLocks noGrp="1"/>
          </p:cNvSpPr>
          <p:nvPr/>
        </p:nvSpPr>
        <p:spPr>
          <a:xfrm>
            <a:off x="1652588" y="4257675"/>
            <a:ext cx="952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B9D7D1"/>
                </a:solidFill>
                <a:latin typeface="Avenir Next" panose="020B0803020202020204"/>
                <a:ea typeface="Avenir Next" panose="020B0803020202020204"/>
                <a:cs typeface="Avenir Next" panose="020B0803020202020204"/>
              </a:defRPr>
            </a:pPr>
            <a:r>
              <a:rPr sz="675" b="1">
                <a:solidFill>
                  <a:srgbClr val="B9D7D1"/>
                </a:solidFill>
                <a:latin typeface="Avenir Next" panose="020B0803020202020204"/>
                <a:ea typeface="Avenir Next" panose="020B0803020202020204"/>
                <a:cs typeface="Avenir Next" panose="020B0803020202020204"/>
              </a:rPr>
              <a:t>0.283 after</a:t>
            </a:r>
            <a:endParaRPr sz="675" b="1">
              <a:solidFill>
                <a:srgbClr val="B9D7D1"/>
              </a:solidFill>
              <a:latin typeface="Avenir Next" panose="020B0803020202020204"/>
              <a:ea typeface="Avenir Next" panose="020B0803020202020204"/>
              <a:cs typeface="Avenir Next" panose="020B0803020202020204"/>
            </a:endParaRPr>
          </a:p>
        </p:txBody>
      </p:sp>
      <p:sp>
        <p:nvSpPr>
          <p:cNvPr id="19" name="Rectangles 18"/>
          <p:cNvSpPr>
            <a:spLocks noGrp="1"/>
          </p:cNvSpPr>
          <p:nvPr/>
        </p:nvSpPr>
        <p:spPr>
          <a:xfrm>
            <a:off x="781050" y="4552950"/>
            <a:ext cx="4762500" cy="781050"/>
          </a:xfrm>
          <a:prstGeom prst="rect">
            <a:avLst/>
          </a:prstGeom>
          <a:solidFill>
            <a:srgbClr val="203D42"/>
          </a:solidFill>
          <a:ln w="0">
            <a:solidFill>
              <a:srgbClr val="000000">
                <a:alpha val="0"/>
              </a:srgbClr>
            </a:solidFill>
            <a:prstDash val="solid"/>
          </a:ln>
        </p:spPr>
      </p:sp>
      <p:sp>
        <p:nvSpPr>
          <p:cNvPr id="20" name="Rectangles 19"/>
          <p:cNvSpPr>
            <a:spLocks noGrp="1"/>
          </p:cNvSpPr>
          <p:nvPr/>
        </p:nvSpPr>
        <p:spPr>
          <a:xfrm>
            <a:off x="971550" y="4714875"/>
            <a:ext cx="1524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B9D7D1"/>
                </a:solidFill>
                <a:latin typeface="Avenir Next" panose="020B0803020202020204"/>
                <a:ea typeface="Avenir Next" panose="020B0803020202020204"/>
                <a:cs typeface="Avenir Next" panose="020B0803020202020204"/>
              </a:defRPr>
            </a:pPr>
            <a:r>
              <a:rPr sz="675" b="1">
                <a:solidFill>
                  <a:srgbClr val="B9D7D1"/>
                </a:solidFill>
                <a:latin typeface="Avenir Next" panose="020B0803020202020204"/>
                <a:ea typeface="Avenir Next" panose="020B0803020202020204"/>
                <a:cs typeface="Avenir Next" panose="020B0803020202020204"/>
              </a:rPr>
              <a:t>SELECTED CHANGE</a:t>
            </a:r>
            <a:endParaRPr sz="675" b="1">
              <a:solidFill>
                <a:srgbClr val="B9D7D1"/>
              </a:solidFill>
              <a:latin typeface="Avenir Next" panose="020B0803020202020204"/>
              <a:ea typeface="Avenir Next" panose="020B0803020202020204"/>
              <a:cs typeface="Avenir Next" panose="020B0803020202020204"/>
            </a:endParaRPr>
          </a:p>
        </p:txBody>
      </p:sp>
      <p:sp>
        <p:nvSpPr>
          <p:cNvPr id="21" name="Rectangles 20"/>
          <p:cNvSpPr>
            <a:spLocks noGrp="1"/>
          </p:cNvSpPr>
          <p:nvPr/>
        </p:nvSpPr>
        <p:spPr>
          <a:xfrm>
            <a:off x="971550" y="4991100"/>
            <a:ext cx="26670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F7F2E9"/>
                </a:solidFill>
                <a:latin typeface="New York"/>
                <a:ea typeface="New York"/>
                <a:cs typeface="New York"/>
              </a:defRPr>
            </a:pPr>
            <a:r>
              <a:rPr sz="1275" b="1">
                <a:solidFill>
                  <a:srgbClr val="F7F2E9"/>
                </a:solidFill>
                <a:latin typeface="New York"/>
                <a:ea typeface="New York"/>
                <a:cs typeface="New York"/>
              </a:rPr>
              <a:t>StockOptionLevel 0 → 3</a:t>
            </a:r>
            <a:endParaRPr sz="1275" b="1">
              <a:solidFill>
                <a:srgbClr val="F7F2E9"/>
              </a:solidFill>
              <a:latin typeface="New York"/>
              <a:ea typeface="New York"/>
              <a:cs typeface="New York"/>
            </a:endParaRPr>
          </a:p>
        </p:txBody>
      </p:sp>
      <p:sp>
        <p:nvSpPr>
          <p:cNvPr id="22" name="Rectangles 21"/>
          <p:cNvSpPr>
            <a:spLocks noGrp="1"/>
          </p:cNvSpPr>
          <p:nvPr/>
        </p:nvSpPr>
        <p:spPr>
          <a:xfrm>
            <a:off x="3695700" y="5010150"/>
            <a:ext cx="16383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15" b="0">
                <a:solidFill>
                  <a:srgbClr val="EAD9A8"/>
                </a:solidFill>
                <a:latin typeface="Avenir Next" panose="020B0803020202020204"/>
                <a:ea typeface="Avenir Next" panose="020B0803020202020204"/>
                <a:cs typeface="Avenir Next" panose="020B0803020202020204"/>
              </a:defRPr>
            </a:pPr>
            <a:r>
              <a:rPr sz="715" b="0">
                <a:solidFill>
                  <a:srgbClr val="EAD9A8"/>
                </a:solidFill>
                <a:latin typeface="Avenir Next" panose="020B0803020202020204"/>
                <a:ea typeface="Avenir Next" panose="020B0803020202020204"/>
                <a:cs typeface="Avenir Next" panose="020B0803020202020204"/>
              </a:rPr>
              <a:t>No income or overtime change</a:t>
            </a:r>
            <a:endParaRPr sz="715" b="0">
              <a:solidFill>
                <a:srgbClr val="EAD9A8"/>
              </a:solidFill>
              <a:latin typeface="Avenir Next" panose="020B0803020202020204"/>
              <a:ea typeface="Avenir Next" panose="020B0803020202020204"/>
              <a:cs typeface="Avenir Next" panose="020B0803020202020204"/>
            </a:endParaRPr>
          </a:p>
        </p:txBody>
      </p:sp>
      <p:sp>
        <p:nvSpPr>
          <p:cNvPr id="23" name="Rectangles 22"/>
          <p:cNvSpPr>
            <a:spLocks noGrp="1"/>
          </p:cNvSpPr>
          <p:nvPr/>
        </p:nvSpPr>
        <p:spPr>
          <a:xfrm>
            <a:off x="6686550" y="1819275"/>
            <a:ext cx="4667250" cy="3886200"/>
          </a:xfrm>
          <a:prstGeom prst="rect">
            <a:avLst/>
          </a:prstGeom>
          <a:solidFill>
            <a:srgbClr val="FBF8F2"/>
          </a:solidFill>
          <a:ln w="19050">
            <a:solidFill>
              <a:srgbClr val="F4C1BB"/>
            </a:solidFill>
            <a:prstDash val="solid"/>
          </a:ln>
        </p:spPr>
      </p:sp>
      <p:sp>
        <p:nvSpPr>
          <p:cNvPr id="24" name="Rectangles 23"/>
          <p:cNvSpPr>
            <a:spLocks noGrp="1"/>
          </p:cNvSpPr>
          <p:nvPr/>
        </p:nvSpPr>
        <p:spPr>
          <a:xfrm>
            <a:off x="6686550" y="1819275"/>
            <a:ext cx="76200" cy="3886200"/>
          </a:xfrm>
          <a:prstGeom prst="rect">
            <a:avLst/>
          </a:prstGeom>
          <a:solidFill>
            <a:srgbClr val="E45B4F"/>
          </a:solidFill>
          <a:ln w="0">
            <a:solidFill>
              <a:srgbClr val="000000">
                <a:alpha val="0"/>
              </a:srgbClr>
            </a:solidFill>
            <a:prstDash val="solid"/>
          </a:ln>
        </p:spPr>
      </p:sp>
      <p:sp>
        <p:nvSpPr>
          <p:cNvPr id="25" name="Rectangles 24"/>
          <p:cNvSpPr>
            <a:spLocks noGrp="1"/>
          </p:cNvSpPr>
          <p:nvPr/>
        </p:nvSpPr>
        <p:spPr>
          <a:xfrm>
            <a:off x="6972300" y="2038350"/>
            <a:ext cx="3143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E45B4F"/>
                </a:solidFill>
                <a:latin typeface="Avenir Next" panose="020B0803020202020204"/>
                <a:ea typeface="Avenir Next" panose="020B0803020202020204"/>
                <a:cs typeface="Avenir Next" panose="020B0803020202020204"/>
              </a:defRPr>
            </a:pPr>
            <a:r>
              <a:rPr sz="750" b="1">
                <a:solidFill>
                  <a:srgbClr val="E45B4F"/>
                </a:solidFill>
                <a:latin typeface="Avenir Next" panose="020B0803020202020204"/>
                <a:ea typeface="Avenir Next" panose="020B0803020202020204"/>
                <a:cs typeface="Avenir Next" panose="020B0803020202020204"/>
              </a:rPr>
              <a:t>MODEL-VALID · NOT HR-FEASIBLE</a:t>
            </a:r>
            <a:endParaRPr sz="750" b="1">
              <a:solidFill>
                <a:srgbClr val="E45B4F"/>
              </a:solidFill>
              <a:latin typeface="Avenir Next" panose="020B0803020202020204"/>
              <a:ea typeface="Avenir Next" panose="020B0803020202020204"/>
              <a:cs typeface="Avenir Next" panose="020B0803020202020204"/>
            </a:endParaRPr>
          </a:p>
        </p:txBody>
      </p:sp>
      <p:sp>
        <p:nvSpPr>
          <p:cNvPr id="26" name="Rectangles 25"/>
          <p:cNvSpPr>
            <a:spLocks noGrp="1"/>
          </p:cNvSpPr>
          <p:nvPr/>
        </p:nvSpPr>
        <p:spPr>
          <a:xfrm>
            <a:off x="6972300" y="2324100"/>
            <a:ext cx="266700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250" b="1">
                <a:solidFill>
                  <a:srgbClr val="132A2F"/>
                </a:solidFill>
                <a:latin typeface="New York"/>
                <a:ea typeface="New York"/>
                <a:cs typeface="New York"/>
              </a:defRPr>
            </a:pPr>
            <a:r>
              <a:rPr sz="2250" b="1">
                <a:solidFill>
                  <a:srgbClr val="132A2F"/>
                </a:solidFill>
                <a:latin typeface="New York"/>
                <a:ea typeface="New York"/>
                <a:cs typeface="New York"/>
              </a:rPr>
              <a:t>Employee 269</a:t>
            </a:r>
            <a:endParaRPr sz="2250" b="1">
              <a:solidFill>
                <a:srgbClr val="132A2F"/>
              </a:solidFill>
              <a:latin typeface="New York"/>
              <a:ea typeface="New York"/>
              <a:cs typeface="New York"/>
            </a:endParaRPr>
          </a:p>
        </p:txBody>
      </p:sp>
      <p:sp>
        <p:nvSpPr>
          <p:cNvPr id="27" name="Rectangles 26"/>
          <p:cNvSpPr>
            <a:spLocks noGrp="1"/>
          </p:cNvSpPr>
          <p:nvPr/>
        </p:nvSpPr>
        <p:spPr>
          <a:xfrm>
            <a:off x="6972300" y="2790825"/>
            <a:ext cx="3810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Initial score 0.844 · diagnostic recourse found</a:t>
            </a:r>
            <a:endParaRPr sz="750" b="1">
              <a:solidFill>
                <a:srgbClr val="5F6D6D"/>
              </a:solidFill>
              <a:latin typeface="Avenir Next" panose="020B0803020202020204"/>
              <a:ea typeface="Avenir Next" panose="020B0803020202020204"/>
              <a:cs typeface="Avenir Next" panose="020B0803020202020204"/>
            </a:endParaRPr>
          </a:p>
        </p:txBody>
      </p:sp>
      <p:sp>
        <p:nvSpPr>
          <p:cNvPr id="28" name="Rectangles 27"/>
          <p:cNvSpPr>
            <a:spLocks noGrp="1"/>
          </p:cNvSpPr>
          <p:nvPr/>
        </p:nvSpPr>
        <p:spPr>
          <a:xfrm>
            <a:off x="6972300" y="3276600"/>
            <a:ext cx="28575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E45B4F"/>
                </a:solidFill>
                <a:latin typeface="Avenir Next" panose="020B0803020202020204"/>
                <a:ea typeface="Avenir Next" panose="020B0803020202020204"/>
                <a:cs typeface="Avenir Next" panose="020B0803020202020204"/>
              </a:defRPr>
            </a:pPr>
            <a:r>
              <a:rPr sz="675" b="1">
                <a:solidFill>
                  <a:srgbClr val="E45B4F"/>
                </a:solidFill>
                <a:latin typeface="Avenir Next" panose="020B0803020202020204"/>
                <a:ea typeface="Avenir Next" panose="020B0803020202020204"/>
                <a:cs typeface="Avenir Next" panose="020B0803020202020204"/>
              </a:rPr>
              <a:t>WHY NO LEVEL 3 SCENARIO?</a:t>
            </a:r>
            <a:endParaRPr sz="675" b="1">
              <a:solidFill>
                <a:srgbClr val="E45B4F"/>
              </a:solidFill>
              <a:latin typeface="Avenir Next" panose="020B0803020202020204"/>
              <a:ea typeface="Avenir Next" panose="020B0803020202020204"/>
              <a:cs typeface="Avenir Next" panose="020B0803020202020204"/>
            </a:endParaRPr>
          </a:p>
        </p:txBody>
      </p:sp>
      <p:sp>
        <p:nvSpPr>
          <p:cNvPr id="29" name="Rectangles 28"/>
          <p:cNvSpPr>
            <a:spLocks noGrp="1"/>
          </p:cNvSpPr>
          <p:nvPr/>
        </p:nvSpPr>
        <p:spPr>
          <a:xfrm>
            <a:off x="6972300" y="3638550"/>
            <a:ext cx="38100" cy="209550"/>
          </a:xfrm>
          <a:prstGeom prst="rect">
            <a:avLst/>
          </a:prstGeom>
          <a:solidFill>
            <a:srgbClr val="E45B4F"/>
          </a:solidFill>
          <a:ln w="0">
            <a:solidFill>
              <a:srgbClr val="000000">
                <a:alpha val="0"/>
              </a:srgbClr>
            </a:solidFill>
            <a:prstDash val="solid"/>
          </a:ln>
        </p:spPr>
      </p:sp>
      <p:sp>
        <p:nvSpPr>
          <p:cNvPr id="30" name="Rectangles 29"/>
          <p:cNvSpPr>
            <a:spLocks noGrp="1"/>
          </p:cNvSpPr>
          <p:nvPr/>
        </p:nvSpPr>
        <p:spPr>
          <a:xfrm>
            <a:off x="7124700" y="3629025"/>
            <a:ext cx="3524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90" b="1">
                <a:solidFill>
                  <a:srgbClr val="132A2F"/>
                </a:solidFill>
                <a:latin typeface="Avenir Next" panose="020B0803020202020204"/>
                <a:ea typeface="Avenir Next" panose="020B0803020202020204"/>
                <a:cs typeface="Avenir Next" panose="020B0803020202020204"/>
              </a:defRPr>
            </a:pPr>
            <a:r>
              <a:rPr sz="790" b="1">
                <a:solidFill>
                  <a:srgbClr val="132A2F"/>
                </a:solidFill>
                <a:latin typeface="Avenir Next" panose="020B0803020202020204"/>
                <a:ea typeface="Avenir Next" panose="020B0803020202020204"/>
                <a:cs typeface="Avenir Next" panose="020B0803020202020204"/>
              </a:rPr>
              <a:t>Job structure outside scope</a:t>
            </a:r>
            <a:endParaRPr sz="790" b="1">
              <a:solidFill>
                <a:srgbClr val="132A2F"/>
              </a:solidFill>
              <a:latin typeface="Avenir Next" panose="020B0803020202020204"/>
              <a:ea typeface="Avenir Next" panose="020B0803020202020204"/>
              <a:cs typeface="Avenir Next" panose="020B0803020202020204"/>
            </a:endParaRPr>
          </a:p>
        </p:txBody>
      </p:sp>
      <p:sp>
        <p:nvSpPr>
          <p:cNvPr id="31" name="Rectangles 30"/>
          <p:cNvSpPr>
            <a:spLocks noGrp="1"/>
          </p:cNvSpPr>
          <p:nvPr/>
        </p:nvSpPr>
        <p:spPr>
          <a:xfrm>
            <a:off x="6972300" y="3971925"/>
            <a:ext cx="38100" cy="209550"/>
          </a:xfrm>
          <a:prstGeom prst="rect">
            <a:avLst/>
          </a:prstGeom>
          <a:solidFill>
            <a:srgbClr val="E45B4F"/>
          </a:solidFill>
          <a:ln w="0">
            <a:solidFill>
              <a:srgbClr val="000000">
                <a:alpha val="0"/>
              </a:srgbClr>
            </a:solidFill>
            <a:prstDash val="solid"/>
          </a:ln>
        </p:spPr>
      </p:sp>
      <p:sp>
        <p:nvSpPr>
          <p:cNvPr id="32" name="Rectangles 31"/>
          <p:cNvSpPr>
            <a:spLocks noGrp="1"/>
          </p:cNvSpPr>
          <p:nvPr/>
        </p:nvSpPr>
        <p:spPr>
          <a:xfrm>
            <a:off x="7124700" y="3962400"/>
            <a:ext cx="3524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90" b="0">
                <a:solidFill>
                  <a:srgbClr val="132A2F"/>
                </a:solidFill>
                <a:latin typeface="Avenir Next" panose="020B0803020202020204"/>
                <a:ea typeface="Avenir Next" panose="020B0803020202020204"/>
                <a:cs typeface="Avenir Next" panose="020B0803020202020204"/>
              </a:defRPr>
            </a:pPr>
            <a:r>
              <a:rPr sz="790" b="0">
                <a:solidFill>
                  <a:srgbClr val="132A2F"/>
                </a:solidFill>
                <a:latin typeface="Avenir Next" panose="020B0803020202020204"/>
                <a:ea typeface="Avenir Next" panose="020B0803020202020204"/>
                <a:cs typeface="Avenir Next" panose="020B0803020202020204"/>
              </a:rPr>
              <a:t>Historical feature changed</a:t>
            </a:r>
            <a:endParaRPr sz="790" b="0">
              <a:solidFill>
                <a:srgbClr val="132A2F"/>
              </a:solidFill>
              <a:latin typeface="Avenir Next" panose="020B0803020202020204"/>
              <a:ea typeface="Avenir Next" panose="020B0803020202020204"/>
              <a:cs typeface="Avenir Next" panose="020B0803020202020204"/>
            </a:endParaRPr>
          </a:p>
        </p:txBody>
      </p:sp>
      <p:sp>
        <p:nvSpPr>
          <p:cNvPr id="33" name="Rectangles 32"/>
          <p:cNvSpPr>
            <a:spLocks noGrp="1"/>
          </p:cNvSpPr>
          <p:nvPr/>
        </p:nvSpPr>
        <p:spPr>
          <a:xfrm>
            <a:off x="6972300" y="4305300"/>
            <a:ext cx="38100" cy="209550"/>
          </a:xfrm>
          <a:prstGeom prst="rect">
            <a:avLst/>
          </a:prstGeom>
          <a:solidFill>
            <a:srgbClr val="D6A83A"/>
          </a:solidFill>
          <a:ln w="0">
            <a:solidFill>
              <a:srgbClr val="000000">
                <a:alpha val="0"/>
              </a:srgbClr>
            </a:solidFill>
            <a:prstDash val="solid"/>
          </a:ln>
        </p:spPr>
      </p:sp>
      <p:sp>
        <p:nvSpPr>
          <p:cNvPr id="34" name="Rectangles 33"/>
          <p:cNvSpPr>
            <a:spLocks noGrp="1"/>
          </p:cNvSpPr>
          <p:nvPr/>
        </p:nvSpPr>
        <p:spPr>
          <a:xfrm>
            <a:off x="7124700" y="4295775"/>
            <a:ext cx="3524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90" b="0">
                <a:solidFill>
                  <a:srgbClr val="132A2F"/>
                </a:solidFill>
                <a:latin typeface="Avenir Next" panose="020B0803020202020204"/>
                <a:ea typeface="Avenir Next" panose="020B0803020202020204"/>
                <a:cs typeface="Avenir Next" panose="020B0803020202020204"/>
              </a:defRPr>
            </a:pPr>
            <a:r>
              <a:rPr sz="790" b="0">
                <a:solidFill>
                  <a:srgbClr val="132A2F"/>
                </a:solidFill>
                <a:latin typeface="Avenir Next" panose="020B0803020202020204"/>
                <a:ea typeface="Avenir Next" panose="020B0803020202020204"/>
                <a:cs typeface="Avenir Next" panose="020B0803020202020204"/>
              </a:rPr>
              <a:t>Perception treated as action</a:t>
            </a:r>
            <a:endParaRPr sz="790" b="0">
              <a:solidFill>
                <a:srgbClr val="132A2F"/>
              </a:solidFill>
              <a:latin typeface="Avenir Next" panose="020B0803020202020204"/>
              <a:ea typeface="Avenir Next" panose="020B0803020202020204"/>
              <a:cs typeface="Avenir Next" panose="020B0803020202020204"/>
            </a:endParaRPr>
          </a:p>
        </p:txBody>
      </p:sp>
      <p:sp>
        <p:nvSpPr>
          <p:cNvPr id="35" name="Rectangles 34"/>
          <p:cNvSpPr>
            <a:spLocks noGrp="1"/>
          </p:cNvSpPr>
          <p:nvPr/>
        </p:nvSpPr>
        <p:spPr>
          <a:xfrm>
            <a:off x="6972300" y="4638675"/>
            <a:ext cx="38100" cy="209550"/>
          </a:xfrm>
          <a:prstGeom prst="rect">
            <a:avLst/>
          </a:prstGeom>
          <a:solidFill>
            <a:srgbClr val="D6A83A"/>
          </a:solidFill>
          <a:ln w="0">
            <a:solidFill>
              <a:srgbClr val="000000">
                <a:alpha val="0"/>
              </a:srgbClr>
            </a:solidFill>
            <a:prstDash val="solid"/>
          </a:ln>
        </p:spPr>
      </p:sp>
      <p:sp>
        <p:nvSpPr>
          <p:cNvPr id="36" name="Rectangles 35"/>
          <p:cNvSpPr>
            <a:spLocks noGrp="1"/>
          </p:cNvSpPr>
          <p:nvPr/>
        </p:nvSpPr>
        <p:spPr>
          <a:xfrm>
            <a:off x="7124700" y="4629150"/>
            <a:ext cx="3524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90" b="0">
                <a:solidFill>
                  <a:srgbClr val="132A2F"/>
                </a:solidFill>
                <a:latin typeface="Avenir Next" panose="020B0803020202020204"/>
                <a:ea typeface="Avenir Next" panose="020B0803020202020204"/>
                <a:cs typeface="Avenir Next" panose="020B0803020202020204"/>
              </a:defRPr>
            </a:pPr>
            <a:r>
              <a:rPr sz="790" b="0">
                <a:solidFill>
                  <a:srgbClr val="132A2F"/>
                </a:solidFill>
                <a:latin typeface="Avenir Next" panose="020B0803020202020204"/>
                <a:ea typeface="Avenir Next" panose="020B0803020202020204"/>
                <a:cs typeface="Avenir Next" panose="020B0803020202020204"/>
              </a:rPr>
              <a:t>Tenure inconsistency</a:t>
            </a:r>
            <a:endParaRPr sz="790" b="0">
              <a:solidFill>
                <a:srgbClr val="132A2F"/>
              </a:solidFill>
              <a:latin typeface="Avenir Next" panose="020B0803020202020204"/>
              <a:ea typeface="Avenir Next" panose="020B0803020202020204"/>
              <a:cs typeface="Avenir Next" panose="020B0803020202020204"/>
            </a:endParaRPr>
          </a:p>
        </p:txBody>
      </p:sp>
      <p:sp>
        <p:nvSpPr>
          <p:cNvPr id="37" name="Rectangles 36"/>
          <p:cNvSpPr>
            <a:spLocks noGrp="1"/>
          </p:cNvSpPr>
          <p:nvPr/>
        </p:nvSpPr>
        <p:spPr>
          <a:xfrm>
            <a:off x="6972300" y="4972050"/>
            <a:ext cx="38100" cy="209550"/>
          </a:xfrm>
          <a:prstGeom prst="rect">
            <a:avLst/>
          </a:prstGeom>
          <a:solidFill>
            <a:srgbClr val="D6A83A"/>
          </a:solidFill>
          <a:ln w="0">
            <a:solidFill>
              <a:srgbClr val="000000">
                <a:alpha val="0"/>
              </a:srgbClr>
            </a:solidFill>
            <a:prstDash val="solid"/>
          </a:ln>
        </p:spPr>
      </p:sp>
      <p:sp>
        <p:nvSpPr>
          <p:cNvPr id="38" name="Rectangles 37"/>
          <p:cNvSpPr>
            <a:spLocks noGrp="1"/>
          </p:cNvSpPr>
          <p:nvPr/>
        </p:nvSpPr>
        <p:spPr>
          <a:xfrm>
            <a:off x="7124700" y="4962525"/>
            <a:ext cx="3524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90" b="0">
                <a:solidFill>
                  <a:srgbClr val="132A2F"/>
                </a:solidFill>
                <a:latin typeface="Avenir Next" panose="020B0803020202020204"/>
                <a:ea typeface="Avenir Next" panose="020B0803020202020204"/>
                <a:cs typeface="Avenir Next" panose="020B0803020202020204"/>
              </a:defRPr>
            </a:pPr>
            <a:r>
              <a:rPr sz="790" b="0">
                <a:solidFill>
                  <a:srgbClr val="132A2F"/>
                </a:solidFill>
                <a:latin typeface="Avenir Next" panose="020B0803020202020204"/>
                <a:ea typeface="Avenir Next" panose="020B0803020202020204"/>
                <a:cs typeface="Avenir Next" panose="020B0803020202020204"/>
              </a:rPr>
              <a:t>Salary cap exceeded</a:t>
            </a:r>
            <a:endParaRPr sz="790" b="0">
              <a:solidFill>
                <a:srgbClr val="132A2F"/>
              </a:solidFill>
              <a:latin typeface="Avenir Next" panose="020B0803020202020204"/>
              <a:ea typeface="Avenir Next" panose="020B0803020202020204"/>
              <a:cs typeface="Avenir Next" panose="020B0803020202020204"/>
            </a:endParaRPr>
          </a:p>
        </p:txBody>
      </p:sp>
      <p:sp>
        <p:nvSpPr>
          <p:cNvPr id="39" name="Rectangles 38"/>
          <p:cNvSpPr>
            <a:spLocks noGrp="1"/>
          </p:cNvSpPr>
          <p:nvPr/>
        </p:nvSpPr>
        <p:spPr>
          <a:xfrm>
            <a:off x="6972300" y="5314950"/>
            <a:ext cx="3905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E45B4F"/>
                </a:solidFill>
                <a:latin typeface="Avenir Next" panose="020B0803020202020204"/>
                <a:ea typeface="Avenir Next" panose="020B0803020202020204"/>
                <a:cs typeface="Avenir Next" panose="020B0803020202020204"/>
              </a:defRPr>
            </a:pPr>
            <a:r>
              <a:rPr sz="750" b="1">
                <a:solidFill>
                  <a:srgbClr val="E45B4F"/>
                </a:solidFill>
                <a:latin typeface="Avenir Next" panose="020B0803020202020204"/>
                <a:ea typeface="Avenir Next" panose="020B0803020202020204"/>
                <a:cs typeface="Avenir Next" panose="020B0803020202020204"/>
              </a:rPr>
              <a:t>Requires qualitative diagnosis—not a mechanically generated offer.</a:t>
            </a:r>
            <a:endParaRPr sz="750" b="1">
              <a:solidFill>
                <a:srgbClr val="E45B4F"/>
              </a:solidFill>
              <a:latin typeface="Avenir Next" panose="020B0803020202020204"/>
              <a:ea typeface="Avenir Next" panose="020B0803020202020204"/>
              <a:cs typeface="Avenir Next" panose="020B0803020202020204"/>
            </a:endParaRPr>
          </a:p>
        </p:txBody>
      </p:sp>
      <p:sp>
        <p:nvSpPr>
          <p:cNvPr id="40" name="Rectangles 39"/>
          <p:cNvSpPr>
            <a:spLocks noGrp="1"/>
          </p:cNvSpPr>
          <p:nvPr/>
        </p:nvSpPr>
        <p:spPr>
          <a:xfrm>
            <a:off x="552450" y="6000750"/>
            <a:ext cx="1080135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125" b="1">
                <a:solidFill>
                  <a:srgbClr val="132A2F"/>
                </a:solidFill>
                <a:latin typeface="New York"/>
                <a:ea typeface="New York"/>
                <a:cs typeface="New York"/>
              </a:defRPr>
            </a:pPr>
            <a:r>
              <a:rPr sz="1125" b="1">
                <a:solidFill>
                  <a:srgbClr val="132A2F"/>
                </a:solidFill>
                <a:latin typeface="New York"/>
                <a:ea typeface="New York"/>
                <a:cs typeface="New York"/>
              </a:rPr>
              <a:t>A score change is evidence about model logic, not proof that the employee will stay.</a:t>
            </a:r>
            <a:endParaRPr sz="1125" b="1">
              <a:solidFill>
                <a:srgbClr val="132A2F"/>
              </a:solidFill>
              <a:latin typeface="New York"/>
              <a:ea typeface="New York"/>
              <a:cs typeface="New York"/>
            </a:endParaRPr>
          </a:p>
        </p:txBody>
      </p:sp>
      <p:sp>
        <p:nvSpPr>
          <p:cNvPr id="41" name="Rectangles 40"/>
          <p:cNvSpPr>
            <a:spLocks noGrp="1"/>
          </p:cNvSpPr>
          <p:nvPr/>
        </p:nvSpPr>
        <p:spPr>
          <a:xfrm>
            <a:off x="552450" y="6486525"/>
            <a:ext cx="11087100" cy="9525"/>
          </a:xfrm>
          <a:prstGeom prst="rect">
            <a:avLst/>
          </a:prstGeom>
          <a:solidFill>
            <a:srgbClr val="D9D2C7"/>
          </a:solidFill>
          <a:ln w="0">
            <a:solidFill>
              <a:srgbClr val="000000">
                <a:alpha val="0"/>
              </a:srgbClr>
            </a:solidFill>
            <a:prstDash val="solid"/>
          </a:ln>
        </p:spPr>
      </p:sp>
      <p:sp>
        <p:nvSpPr>
          <p:cNvPr id="42" name="Rectangles 41"/>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Source: case_study_details.csv; cases are closest to median score within their observed final groups</a:t>
            </a:r>
            <a:endParaRPr sz="640" b="0">
              <a:solidFill>
                <a:srgbClr val="5F6D6D"/>
              </a:solidFill>
              <a:latin typeface="Avenir Next" panose="020B0803020202020204"/>
              <a:ea typeface="Avenir Next" panose="020B0803020202020204"/>
              <a:cs typeface="Avenir Next" panose="020B0803020202020204"/>
            </a:endParaRPr>
          </a:p>
        </p:txBody>
      </p:sp>
      <p:sp>
        <p:nvSpPr>
          <p:cNvPr id="43" name="Rectangles 42"/>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12</a:t>
            </a:r>
            <a:endParaRPr sz="675" b="1">
              <a:solidFill>
                <a:srgbClr val="5F6D6D"/>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F4F0E8"/>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132A2F"/>
          </a:solidFill>
          <a:ln w="0">
            <a:solidFill>
              <a:srgbClr val="000000">
                <a:alpha val="0"/>
              </a:srgbClr>
            </a:solidFill>
            <a:prstDash val="solid"/>
          </a:ln>
        </p:spPr>
      </p:sp>
      <p:sp>
        <p:nvSpPr>
          <p:cNvPr id="4" name="kicker-11-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11-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SENSITIVITY &amp; STABILITY</a:t>
            </a:r>
            <a:endParaRPr sz="750" b="1">
              <a:solidFill>
                <a:srgbClr val="5F6D6D"/>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685800"/>
            <a:ext cx="10763250" cy="933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132A2F"/>
                </a:solidFill>
                <a:latin typeface="New York"/>
                <a:ea typeface="New York"/>
                <a:cs typeface="New York"/>
              </a:defRPr>
            </a:pPr>
            <a:r>
              <a:rPr sz="2550" b="1">
                <a:solidFill>
                  <a:srgbClr val="132A2F"/>
                </a:solidFill>
                <a:latin typeface="New York"/>
                <a:ea typeface="New York"/>
                <a:cs typeface="New York"/>
              </a:rPr>
              <a:t>Overtime flexibility matters more than the salary-cap percentile; split choice still moves the estimate.</a:t>
            </a:r>
            <a:endParaRPr sz="2550" b="1">
              <a:solidFill>
                <a:srgbClr val="132A2F"/>
              </a:solidFill>
              <a:latin typeface="New York"/>
              <a:ea typeface="New York"/>
              <a:cs typeface="New York"/>
            </a:endParaRPr>
          </a:p>
        </p:txBody>
      </p:sp>
      <p:sp>
        <p:nvSpPr>
          <p:cNvPr id="7" name="Rectangles 6"/>
          <p:cNvSpPr>
            <a:spLocks noGrp="1"/>
          </p:cNvSpPr>
          <p:nvPr/>
        </p:nvSpPr>
        <p:spPr>
          <a:xfrm>
            <a:off x="552450" y="1838325"/>
            <a:ext cx="2762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OVERTIME POLICY</a:t>
            </a:r>
            <a:endParaRPr sz="750" b="1">
              <a:solidFill>
                <a:srgbClr val="5F6D6D"/>
              </a:solidFill>
              <a:latin typeface="Avenir Next" panose="020B0803020202020204"/>
              <a:ea typeface="Avenir Next" panose="020B0803020202020204"/>
              <a:cs typeface="Avenir Next" panose="020B0803020202020204"/>
            </a:endParaRPr>
          </a:p>
        </p:txBody>
      </p:sp>
      <p:sp>
        <p:nvSpPr>
          <p:cNvPr id="8" name="Rectangles 7"/>
          <p:cNvSpPr>
            <a:spLocks noGrp="1"/>
          </p:cNvSpPr>
          <p:nvPr/>
        </p:nvSpPr>
        <p:spPr>
          <a:xfrm>
            <a:off x="552450" y="2133600"/>
            <a:ext cx="2762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E45B4F"/>
                </a:solidFill>
                <a:latin typeface="New York"/>
                <a:ea typeface="New York"/>
                <a:cs typeface="New York"/>
              </a:defRPr>
            </a:pPr>
            <a:r>
              <a:rPr sz="2175" b="1">
                <a:solidFill>
                  <a:srgbClr val="E45B4F"/>
                </a:solidFill>
                <a:latin typeface="New York"/>
                <a:ea typeface="New York"/>
                <a:cs typeface="New York"/>
              </a:rPr>
              <a:t>−26.5 pp</a:t>
            </a:r>
            <a:endParaRPr sz="2175" b="1">
              <a:solidFill>
                <a:srgbClr val="E45B4F"/>
              </a:solidFill>
              <a:latin typeface="New York"/>
              <a:ea typeface="New York"/>
              <a:cs typeface="New York"/>
            </a:endParaRPr>
          </a:p>
        </p:txBody>
      </p:sp>
      <p:sp>
        <p:nvSpPr>
          <p:cNvPr id="9" name="Rectangles 8"/>
          <p:cNvSpPr>
            <a:spLocks noGrp="1"/>
          </p:cNvSpPr>
          <p:nvPr/>
        </p:nvSpPr>
        <p:spPr>
          <a:xfrm>
            <a:off x="904875" y="2809875"/>
            <a:ext cx="704850" cy="2000250"/>
          </a:xfrm>
          <a:prstGeom prst="rect">
            <a:avLst/>
          </a:prstGeom>
          <a:solidFill>
            <a:srgbClr val="D9D2C7"/>
          </a:solidFill>
          <a:ln w="0">
            <a:solidFill>
              <a:srgbClr val="000000">
                <a:alpha val="0"/>
              </a:srgbClr>
            </a:solidFill>
            <a:prstDash val="solid"/>
          </a:ln>
        </p:spPr>
      </p:sp>
      <p:sp>
        <p:nvSpPr>
          <p:cNvPr id="10" name="Rectangles 9"/>
          <p:cNvSpPr>
            <a:spLocks noGrp="1"/>
          </p:cNvSpPr>
          <p:nvPr/>
        </p:nvSpPr>
        <p:spPr>
          <a:xfrm>
            <a:off x="904875" y="3249930"/>
            <a:ext cx="704850" cy="1560195"/>
          </a:xfrm>
          <a:prstGeom prst="rect">
            <a:avLst/>
          </a:prstGeom>
          <a:solidFill>
            <a:srgbClr val="2A7F78"/>
          </a:solidFill>
          <a:ln w="0">
            <a:solidFill>
              <a:srgbClr val="000000">
                <a:alpha val="0"/>
              </a:srgbClr>
            </a:solidFill>
            <a:prstDash val="solid"/>
          </a:ln>
        </p:spPr>
      </p:sp>
      <p:sp>
        <p:nvSpPr>
          <p:cNvPr id="11" name="Rectangles 10"/>
          <p:cNvSpPr>
            <a:spLocks noGrp="1"/>
          </p:cNvSpPr>
          <p:nvPr/>
        </p:nvSpPr>
        <p:spPr>
          <a:xfrm>
            <a:off x="828675" y="2992755"/>
            <a:ext cx="857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62.4%</a:t>
            </a:r>
            <a:endParaRPr sz="825" b="1">
              <a:solidFill>
                <a:srgbClr val="132A2F"/>
              </a:solidFill>
              <a:latin typeface="Avenir Next" panose="020B0803020202020204"/>
              <a:ea typeface="Avenir Next" panose="020B0803020202020204"/>
              <a:cs typeface="Avenir Next" panose="020B0803020202020204"/>
            </a:endParaRPr>
          </a:p>
        </p:txBody>
      </p:sp>
      <p:sp>
        <p:nvSpPr>
          <p:cNvPr id="12" name="Rectangles 11"/>
          <p:cNvSpPr>
            <a:spLocks noGrp="1"/>
          </p:cNvSpPr>
          <p:nvPr/>
        </p:nvSpPr>
        <p:spPr>
          <a:xfrm>
            <a:off x="733425" y="4924425"/>
            <a:ext cx="1047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Allowed</a:t>
            </a:r>
            <a:endParaRPr sz="675" b="1">
              <a:solidFill>
                <a:srgbClr val="5F6D6D"/>
              </a:solidFill>
              <a:latin typeface="Avenir Next" panose="020B0803020202020204"/>
              <a:ea typeface="Avenir Next" panose="020B0803020202020204"/>
              <a:cs typeface="Avenir Next" panose="020B0803020202020204"/>
            </a:endParaRPr>
          </a:p>
        </p:txBody>
      </p:sp>
      <p:sp>
        <p:nvSpPr>
          <p:cNvPr id="13" name="Rectangles 12"/>
          <p:cNvSpPr>
            <a:spLocks noGrp="1"/>
          </p:cNvSpPr>
          <p:nvPr/>
        </p:nvSpPr>
        <p:spPr>
          <a:xfrm>
            <a:off x="2190750" y="2809875"/>
            <a:ext cx="704850" cy="2000250"/>
          </a:xfrm>
          <a:prstGeom prst="rect">
            <a:avLst/>
          </a:prstGeom>
          <a:solidFill>
            <a:srgbClr val="D9D2C7"/>
          </a:solidFill>
          <a:ln w="0">
            <a:solidFill>
              <a:srgbClr val="000000">
                <a:alpha val="0"/>
              </a:srgbClr>
            </a:solidFill>
            <a:prstDash val="solid"/>
          </a:ln>
        </p:spPr>
      </p:sp>
      <p:sp>
        <p:nvSpPr>
          <p:cNvPr id="14" name="Rectangles 13"/>
          <p:cNvSpPr>
            <a:spLocks noGrp="1"/>
          </p:cNvSpPr>
          <p:nvPr/>
        </p:nvSpPr>
        <p:spPr>
          <a:xfrm>
            <a:off x="2190750" y="3912513"/>
            <a:ext cx="704850" cy="897612"/>
          </a:xfrm>
          <a:prstGeom prst="rect">
            <a:avLst/>
          </a:prstGeom>
          <a:solidFill>
            <a:srgbClr val="E45B4F"/>
          </a:solidFill>
          <a:ln w="0">
            <a:solidFill>
              <a:srgbClr val="000000">
                <a:alpha val="0"/>
              </a:srgbClr>
            </a:solidFill>
            <a:prstDash val="solid"/>
          </a:ln>
        </p:spPr>
      </p:sp>
      <p:sp>
        <p:nvSpPr>
          <p:cNvPr id="15" name="Rectangles 14"/>
          <p:cNvSpPr>
            <a:spLocks noGrp="1"/>
          </p:cNvSpPr>
          <p:nvPr/>
        </p:nvSpPr>
        <p:spPr>
          <a:xfrm>
            <a:off x="2114550" y="3655338"/>
            <a:ext cx="857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35.9%</a:t>
            </a:r>
            <a:endParaRPr sz="825" b="1">
              <a:solidFill>
                <a:srgbClr val="132A2F"/>
              </a:solidFill>
              <a:latin typeface="Avenir Next" panose="020B0803020202020204"/>
              <a:ea typeface="Avenir Next" panose="020B0803020202020204"/>
              <a:cs typeface="Avenir Next" panose="020B0803020202020204"/>
            </a:endParaRPr>
          </a:p>
        </p:txBody>
      </p:sp>
      <p:sp>
        <p:nvSpPr>
          <p:cNvPr id="16" name="Rectangles 15"/>
          <p:cNvSpPr>
            <a:spLocks noGrp="1"/>
          </p:cNvSpPr>
          <p:nvPr/>
        </p:nvSpPr>
        <p:spPr>
          <a:xfrm>
            <a:off x="2019300" y="4924425"/>
            <a:ext cx="10477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Locked</a:t>
            </a:r>
            <a:endParaRPr sz="675" b="1">
              <a:solidFill>
                <a:srgbClr val="5F6D6D"/>
              </a:solidFill>
              <a:latin typeface="Avenir Next" panose="020B0803020202020204"/>
              <a:ea typeface="Avenir Next" panose="020B0803020202020204"/>
              <a:cs typeface="Avenir Next" panose="020B0803020202020204"/>
            </a:endParaRPr>
          </a:p>
        </p:txBody>
      </p:sp>
      <p:sp>
        <p:nvSpPr>
          <p:cNvPr id="17" name="Rectangles 16"/>
          <p:cNvSpPr>
            <a:spLocks noGrp="1"/>
          </p:cNvSpPr>
          <p:nvPr/>
        </p:nvSpPr>
        <p:spPr>
          <a:xfrm>
            <a:off x="3686175" y="1809750"/>
            <a:ext cx="9525" cy="3476625"/>
          </a:xfrm>
          <a:prstGeom prst="rect">
            <a:avLst/>
          </a:prstGeom>
          <a:solidFill>
            <a:srgbClr val="D9D2C7"/>
          </a:solidFill>
          <a:ln w="0">
            <a:solidFill>
              <a:srgbClr val="000000">
                <a:alpha val="0"/>
              </a:srgbClr>
            </a:solidFill>
            <a:prstDash val="solid"/>
          </a:ln>
        </p:spPr>
      </p:sp>
      <p:sp>
        <p:nvSpPr>
          <p:cNvPr id="18" name="Rectangles 17"/>
          <p:cNvSpPr>
            <a:spLocks noGrp="1"/>
          </p:cNvSpPr>
          <p:nvPr/>
        </p:nvSpPr>
        <p:spPr>
          <a:xfrm>
            <a:off x="4000500" y="1838325"/>
            <a:ext cx="3143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SALARY-CAP PERCENTILE</a:t>
            </a:r>
            <a:endParaRPr sz="750" b="1">
              <a:solidFill>
                <a:srgbClr val="5F6D6D"/>
              </a:solidFill>
              <a:latin typeface="Avenir Next" panose="020B0803020202020204"/>
              <a:ea typeface="Avenir Next" panose="020B0803020202020204"/>
              <a:cs typeface="Avenir Next" panose="020B0803020202020204"/>
            </a:endParaRPr>
          </a:p>
        </p:txBody>
      </p:sp>
      <p:sp>
        <p:nvSpPr>
          <p:cNvPr id="19" name="Rectangles 18"/>
          <p:cNvSpPr>
            <a:spLocks noGrp="1"/>
          </p:cNvSpPr>
          <p:nvPr/>
        </p:nvSpPr>
        <p:spPr>
          <a:xfrm>
            <a:off x="4000500" y="2133600"/>
            <a:ext cx="314325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2A7F78"/>
                </a:solidFill>
                <a:latin typeface="New York"/>
                <a:ea typeface="New York"/>
                <a:cs typeface="New York"/>
              </a:defRPr>
            </a:pPr>
            <a:r>
              <a:rPr sz="2175" b="1">
                <a:solidFill>
                  <a:srgbClr val="2A7F78"/>
                </a:solidFill>
                <a:latin typeface="New York"/>
                <a:ea typeface="New York"/>
                <a:cs typeface="New York"/>
              </a:rPr>
              <a:t>Nearly flat</a:t>
            </a:r>
            <a:endParaRPr sz="2175" b="1">
              <a:solidFill>
                <a:srgbClr val="2A7F78"/>
              </a:solidFill>
              <a:latin typeface="New York"/>
              <a:ea typeface="New York"/>
              <a:cs typeface="New York"/>
            </a:endParaRPr>
          </a:p>
        </p:txBody>
      </p:sp>
      <p:sp>
        <p:nvSpPr>
          <p:cNvPr id="20" name="Rectangles 19"/>
          <p:cNvSpPr>
            <a:spLocks noGrp="1"/>
          </p:cNvSpPr>
          <p:nvPr/>
        </p:nvSpPr>
        <p:spPr>
          <a:xfrm>
            <a:off x="4191000" y="2809875"/>
            <a:ext cx="552450" cy="2000250"/>
          </a:xfrm>
          <a:prstGeom prst="rect">
            <a:avLst/>
          </a:prstGeom>
          <a:solidFill>
            <a:srgbClr val="D9D2C7"/>
          </a:solidFill>
          <a:ln w="0">
            <a:solidFill>
              <a:srgbClr val="000000">
                <a:alpha val="0"/>
              </a:srgbClr>
            </a:solidFill>
            <a:prstDash val="solid"/>
          </a:ln>
        </p:spPr>
      </p:sp>
      <p:sp>
        <p:nvSpPr>
          <p:cNvPr id="21" name="Rectangles 20"/>
          <p:cNvSpPr>
            <a:spLocks noGrp="1"/>
          </p:cNvSpPr>
          <p:nvPr/>
        </p:nvSpPr>
        <p:spPr>
          <a:xfrm>
            <a:off x="4191000" y="3249930"/>
            <a:ext cx="552450" cy="1560195"/>
          </a:xfrm>
          <a:prstGeom prst="rect">
            <a:avLst/>
          </a:prstGeom>
          <a:solidFill>
            <a:srgbClr val="D6A83A"/>
          </a:solidFill>
          <a:ln w="0">
            <a:solidFill>
              <a:srgbClr val="000000">
                <a:alpha val="0"/>
              </a:srgbClr>
            </a:solidFill>
            <a:prstDash val="solid"/>
          </a:ln>
        </p:spPr>
      </p:sp>
      <p:sp>
        <p:nvSpPr>
          <p:cNvPr id="22" name="Rectangles 21"/>
          <p:cNvSpPr>
            <a:spLocks noGrp="1"/>
          </p:cNvSpPr>
          <p:nvPr/>
        </p:nvSpPr>
        <p:spPr>
          <a:xfrm>
            <a:off x="4114800" y="2992755"/>
            <a:ext cx="704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62.4%</a:t>
            </a:r>
            <a:endParaRPr sz="825" b="1">
              <a:solidFill>
                <a:srgbClr val="132A2F"/>
              </a:solidFill>
              <a:latin typeface="Avenir Next" panose="020B0803020202020204"/>
              <a:ea typeface="Avenir Next" panose="020B0803020202020204"/>
              <a:cs typeface="Avenir Next" panose="020B0803020202020204"/>
            </a:endParaRPr>
          </a:p>
        </p:txBody>
      </p:sp>
      <p:sp>
        <p:nvSpPr>
          <p:cNvPr id="23" name="Rectangles 22"/>
          <p:cNvSpPr>
            <a:spLocks noGrp="1"/>
          </p:cNvSpPr>
          <p:nvPr/>
        </p:nvSpPr>
        <p:spPr>
          <a:xfrm>
            <a:off x="4019550" y="4924425"/>
            <a:ext cx="895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p60</a:t>
            </a:r>
            <a:endParaRPr sz="675" b="1">
              <a:solidFill>
                <a:srgbClr val="5F6D6D"/>
              </a:solidFill>
              <a:latin typeface="Avenir Next" panose="020B0803020202020204"/>
              <a:ea typeface="Avenir Next" panose="020B0803020202020204"/>
              <a:cs typeface="Avenir Next" panose="020B0803020202020204"/>
            </a:endParaRPr>
          </a:p>
        </p:txBody>
      </p:sp>
      <p:sp>
        <p:nvSpPr>
          <p:cNvPr id="24" name="Rectangles 23"/>
          <p:cNvSpPr>
            <a:spLocks noGrp="1"/>
          </p:cNvSpPr>
          <p:nvPr/>
        </p:nvSpPr>
        <p:spPr>
          <a:xfrm>
            <a:off x="5191125" y="2809875"/>
            <a:ext cx="552450" cy="2000250"/>
          </a:xfrm>
          <a:prstGeom prst="rect">
            <a:avLst/>
          </a:prstGeom>
          <a:solidFill>
            <a:srgbClr val="D9D2C7"/>
          </a:solidFill>
          <a:ln w="0">
            <a:solidFill>
              <a:srgbClr val="000000">
                <a:alpha val="0"/>
              </a:srgbClr>
            </a:solidFill>
            <a:prstDash val="solid"/>
          </a:ln>
        </p:spPr>
      </p:sp>
      <p:sp>
        <p:nvSpPr>
          <p:cNvPr id="25" name="Rectangles 24"/>
          <p:cNvSpPr>
            <a:spLocks noGrp="1"/>
          </p:cNvSpPr>
          <p:nvPr/>
        </p:nvSpPr>
        <p:spPr>
          <a:xfrm>
            <a:off x="5191125" y="3249930"/>
            <a:ext cx="552450" cy="1560195"/>
          </a:xfrm>
          <a:prstGeom prst="rect">
            <a:avLst/>
          </a:prstGeom>
          <a:solidFill>
            <a:srgbClr val="D6A83A"/>
          </a:solidFill>
          <a:ln w="0">
            <a:solidFill>
              <a:srgbClr val="000000">
                <a:alpha val="0"/>
              </a:srgbClr>
            </a:solidFill>
            <a:prstDash val="solid"/>
          </a:ln>
        </p:spPr>
      </p:sp>
      <p:sp>
        <p:nvSpPr>
          <p:cNvPr id="26" name="Rectangles 25"/>
          <p:cNvSpPr>
            <a:spLocks noGrp="1"/>
          </p:cNvSpPr>
          <p:nvPr/>
        </p:nvSpPr>
        <p:spPr>
          <a:xfrm>
            <a:off x="5114925" y="2992755"/>
            <a:ext cx="704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62.4%</a:t>
            </a:r>
            <a:endParaRPr sz="825" b="1">
              <a:solidFill>
                <a:srgbClr val="132A2F"/>
              </a:solidFill>
              <a:latin typeface="Avenir Next" panose="020B0803020202020204"/>
              <a:ea typeface="Avenir Next" panose="020B0803020202020204"/>
              <a:cs typeface="Avenir Next" panose="020B0803020202020204"/>
            </a:endParaRPr>
          </a:p>
        </p:txBody>
      </p:sp>
      <p:sp>
        <p:nvSpPr>
          <p:cNvPr id="27" name="Rectangles 26"/>
          <p:cNvSpPr>
            <a:spLocks noGrp="1"/>
          </p:cNvSpPr>
          <p:nvPr/>
        </p:nvSpPr>
        <p:spPr>
          <a:xfrm>
            <a:off x="5019675" y="4924425"/>
            <a:ext cx="895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p75</a:t>
            </a:r>
            <a:endParaRPr sz="675" b="1">
              <a:solidFill>
                <a:srgbClr val="5F6D6D"/>
              </a:solidFill>
              <a:latin typeface="Avenir Next" panose="020B0803020202020204"/>
              <a:ea typeface="Avenir Next" panose="020B0803020202020204"/>
              <a:cs typeface="Avenir Next" panose="020B0803020202020204"/>
            </a:endParaRPr>
          </a:p>
        </p:txBody>
      </p:sp>
      <p:sp>
        <p:nvSpPr>
          <p:cNvPr id="28" name="Rectangles 27"/>
          <p:cNvSpPr>
            <a:spLocks noGrp="1"/>
          </p:cNvSpPr>
          <p:nvPr/>
        </p:nvSpPr>
        <p:spPr>
          <a:xfrm>
            <a:off x="6191250" y="2809875"/>
            <a:ext cx="552450" cy="2000250"/>
          </a:xfrm>
          <a:prstGeom prst="rect">
            <a:avLst/>
          </a:prstGeom>
          <a:solidFill>
            <a:srgbClr val="D9D2C7"/>
          </a:solidFill>
          <a:ln w="0">
            <a:solidFill>
              <a:srgbClr val="000000">
                <a:alpha val="0"/>
              </a:srgbClr>
            </a:solidFill>
            <a:prstDash val="solid"/>
          </a:ln>
        </p:spPr>
      </p:sp>
      <p:sp>
        <p:nvSpPr>
          <p:cNvPr id="29" name="Rectangles 28"/>
          <p:cNvSpPr>
            <a:spLocks noGrp="1"/>
          </p:cNvSpPr>
          <p:nvPr/>
        </p:nvSpPr>
        <p:spPr>
          <a:xfrm>
            <a:off x="6191250" y="3207425"/>
            <a:ext cx="552450" cy="1602700"/>
          </a:xfrm>
          <a:prstGeom prst="rect">
            <a:avLst/>
          </a:prstGeom>
          <a:solidFill>
            <a:srgbClr val="2A7F78"/>
          </a:solidFill>
          <a:ln w="0">
            <a:solidFill>
              <a:srgbClr val="000000">
                <a:alpha val="0"/>
              </a:srgbClr>
            </a:solidFill>
            <a:prstDash val="solid"/>
          </a:ln>
        </p:spPr>
      </p:sp>
      <p:sp>
        <p:nvSpPr>
          <p:cNvPr id="30" name="Rectangles 29"/>
          <p:cNvSpPr>
            <a:spLocks noGrp="1"/>
          </p:cNvSpPr>
          <p:nvPr/>
        </p:nvSpPr>
        <p:spPr>
          <a:xfrm>
            <a:off x="6115050" y="2950250"/>
            <a:ext cx="704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64.1%</a:t>
            </a:r>
            <a:endParaRPr sz="825" b="1">
              <a:solidFill>
                <a:srgbClr val="132A2F"/>
              </a:solidFill>
              <a:latin typeface="Avenir Next" panose="020B0803020202020204"/>
              <a:ea typeface="Avenir Next" panose="020B0803020202020204"/>
              <a:cs typeface="Avenir Next" panose="020B0803020202020204"/>
            </a:endParaRPr>
          </a:p>
        </p:txBody>
      </p:sp>
      <p:sp>
        <p:nvSpPr>
          <p:cNvPr id="31" name="Rectangles 30"/>
          <p:cNvSpPr>
            <a:spLocks noGrp="1"/>
          </p:cNvSpPr>
          <p:nvPr/>
        </p:nvSpPr>
        <p:spPr>
          <a:xfrm>
            <a:off x="6019800" y="4924425"/>
            <a:ext cx="895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p90</a:t>
            </a:r>
            <a:endParaRPr sz="675" b="1">
              <a:solidFill>
                <a:srgbClr val="5F6D6D"/>
              </a:solidFill>
              <a:latin typeface="Avenir Next" panose="020B0803020202020204"/>
              <a:ea typeface="Avenir Next" panose="020B0803020202020204"/>
              <a:cs typeface="Avenir Next" panose="020B0803020202020204"/>
            </a:endParaRPr>
          </a:p>
        </p:txBody>
      </p:sp>
      <p:sp>
        <p:nvSpPr>
          <p:cNvPr id="32" name="Rectangles 31"/>
          <p:cNvSpPr>
            <a:spLocks noGrp="1"/>
          </p:cNvSpPr>
          <p:nvPr/>
        </p:nvSpPr>
        <p:spPr>
          <a:xfrm>
            <a:off x="7362825" y="1809750"/>
            <a:ext cx="9525" cy="3476625"/>
          </a:xfrm>
          <a:prstGeom prst="rect">
            <a:avLst/>
          </a:prstGeom>
          <a:solidFill>
            <a:srgbClr val="D9D2C7"/>
          </a:solidFill>
          <a:ln w="0">
            <a:solidFill>
              <a:srgbClr val="000000">
                <a:alpha val="0"/>
              </a:srgbClr>
            </a:solidFill>
            <a:prstDash val="solid"/>
          </a:ln>
        </p:spPr>
      </p:sp>
      <p:sp>
        <p:nvSpPr>
          <p:cNvPr id="33" name="Rectangles 32"/>
          <p:cNvSpPr>
            <a:spLocks noGrp="1"/>
          </p:cNvSpPr>
          <p:nvPr/>
        </p:nvSpPr>
        <p:spPr>
          <a:xfrm>
            <a:off x="7677150" y="1838325"/>
            <a:ext cx="3429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1">
                <a:solidFill>
                  <a:srgbClr val="5F6D6D"/>
                </a:solidFill>
                <a:latin typeface="Avenir Next" panose="020B0803020202020204"/>
                <a:ea typeface="Avenir Next" panose="020B0803020202020204"/>
                <a:cs typeface="Avenir Next" panose="020B0803020202020204"/>
              </a:defRPr>
            </a:pPr>
            <a:r>
              <a:rPr sz="750" b="1">
                <a:solidFill>
                  <a:srgbClr val="5F6D6D"/>
                </a:solidFill>
                <a:latin typeface="Avenir Next" panose="020B0803020202020204"/>
                <a:ea typeface="Avenir Next" panose="020B0803020202020204"/>
                <a:cs typeface="Avenir Next" panose="020B0803020202020204"/>
              </a:rPr>
              <a:t>STRATIFIED SPLIT SEED</a:t>
            </a:r>
            <a:endParaRPr sz="750" b="1">
              <a:solidFill>
                <a:srgbClr val="5F6D6D"/>
              </a:solidFill>
              <a:latin typeface="Avenir Next" panose="020B0803020202020204"/>
              <a:ea typeface="Avenir Next" panose="020B0803020202020204"/>
              <a:cs typeface="Avenir Next" panose="020B0803020202020204"/>
            </a:endParaRPr>
          </a:p>
        </p:txBody>
      </p:sp>
      <p:sp>
        <p:nvSpPr>
          <p:cNvPr id="34" name="Rectangles 33"/>
          <p:cNvSpPr>
            <a:spLocks noGrp="1"/>
          </p:cNvSpPr>
          <p:nvPr/>
        </p:nvSpPr>
        <p:spPr>
          <a:xfrm>
            <a:off x="7677150" y="2133600"/>
            <a:ext cx="3429000" cy="361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75" b="1">
                <a:solidFill>
                  <a:srgbClr val="132A2F"/>
                </a:solidFill>
                <a:latin typeface="New York"/>
                <a:ea typeface="New York"/>
                <a:cs typeface="New York"/>
              </a:defRPr>
            </a:pPr>
            <a:r>
              <a:rPr sz="2175" b="1">
                <a:solidFill>
                  <a:srgbClr val="132A2F"/>
                </a:solidFill>
                <a:latin typeface="New York"/>
                <a:ea typeface="New York"/>
                <a:cs typeface="New York"/>
              </a:rPr>
              <a:t>55.7–68.7%</a:t>
            </a:r>
            <a:endParaRPr sz="2175" b="1">
              <a:solidFill>
                <a:srgbClr val="132A2F"/>
              </a:solidFill>
              <a:latin typeface="New York"/>
              <a:ea typeface="New York"/>
              <a:cs typeface="New York"/>
            </a:endParaRPr>
          </a:p>
        </p:txBody>
      </p:sp>
      <p:sp>
        <p:nvSpPr>
          <p:cNvPr id="35" name="Rectangles 34"/>
          <p:cNvSpPr>
            <a:spLocks noGrp="1"/>
          </p:cNvSpPr>
          <p:nvPr/>
        </p:nvSpPr>
        <p:spPr>
          <a:xfrm>
            <a:off x="7858125" y="2809875"/>
            <a:ext cx="552450" cy="2000250"/>
          </a:xfrm>
          <a:prstGeom prst="rect">
            <a:avLst/>
          </a:prstGeom>
          <a:solidFill>
            <a:srgbClr val="D9D2C7"/>
          </a:solidFill>
          <a:ln w="0">
            <a:solidFill>
              <a:srgbClr val="000000">
                <a:alpha val="0"/>
              </a:srgbClr>
            </a:solidFill>
            <a:prstDash val="solid"/>
          </a:ln>
        </p:spPr>
      </p:sp>
      <p:sp>
        <p:nvSpPr>
          <p:cNvPr id="36" name="Rectangles 35"/>
          <p:cNvSpPr>
            <a:spLocks noGrp="1"/>
          </p:cNvSpPr>
          <p:nvPr/>
        </p:nvSpPr>
        <p:spPr>
          <a:xfrm>
            <a:off x="7858125" y="3249930"/>
            <a:ext cx="552450" cy="1560195"/>
          </a:xfrm>
          <a:prstGeom prst="rect">
            <a:avLst/>
          </a:prstGeom>
          <a:solidFill>
            <a:srgbClr val="2A7F78"/>
          </a:solidFill>
          <a:ln w="0">
            <a:solidFill>
              <a:srgbClr val="000000">
                <a:alpha val="0"/>
              </a:srgbClr>
            </a:solidFill>
            <a:prstDash val="solid"/>
          </a:ln>
        </p:spPr>
      </p:sp>
      <p:sp>
        <p:nvSpPr>
          <p:cNvPr id="37" name="Rectangles 36"/>
          <p:cNvSpPr>
            <a:spLocks noGrp="1"/>
          </p:cNvSpPr>
          <p:nvPr/>
        </p:nvSpPr>
        <p:spPr>
          <a:xfrm>
            <a:off x="7781925" y="2992755"/>
            <a:ext cx="704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62.4%</a:t>
            </a:r>
            <a:endParaRPr sz="825" b="1">
              <a:solidFill>
                <a:srgbClr val="132A2F"/>
              </a:solidFill>
              <a:latin typeface="Avenir Next" panose="020B0803020202020204"/>
              <a:ea typeface="Avenir Next" panose="020B0803020202020204"/>
              <a:cs typeface="Avenir Next" panose="020B0803020202020204"/>
            </a:endParaRPr>
          </a:p>
        </p:txBody>
      </p:sp>
      <p:sp>
        <p:nvSpPr>
          <p:cNvPr id="38" name="Rectangles 37"/>
          <p:cNvSpPr>
            <a:spLocks noGrp="1"/>
          </p:cNvSpPr>
          <p:nvPr/>
        </p:nvSpPr>
        <p:spPr>
          <a:xfrm>
            <a:off x="7686675" y="4924425"/>
            <a:ext cx="895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42</a:t>
            </a:r>
            <a:endParaRPr sz="675" b="1">
              <a:solidFill>
                <a:srgbClr val="5F6D6D"/>
              </a:solidFill>
              <a:latin typeface="Avenir Next" panose="020B0803020202020204"/>
              <a:ea typeface="Avenir Next" panose="020B0803020202020204"/>
              <a:cs typeface="Avenir Next" panose="020B0803020202020204"/>
            </a:endParaRPr>
          </a:p>
          <a:p>
            <a:pPr algn="ct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Logistic</a:t>
            </a:r>
            <a:endParaRPr sz="675" b="1">
              <a:solidFill>
                <a:srgbClr val="5F6D6D"/>
              </a:solidFill>
              <a:latin typeface="Avenir Next" panose="020B0803020202020204"/>
              <a:ea typeface="Avenir Next" panose="020B0803020202020204"/>
              <a:cs typeface="Avenir Next" panose="020B0803020202020204"/>
            </a:endParaRPr>
          </a:p>
        </p:txBody>
      </p:sp>
      <p:sp>
        <p:nvSpPr>
          <p:cNvPr id="39" name="Rectangles 38"/>
          <p:cNvSpPr>
            <a:spLocks noGrp="1"/>
          </p:cNvSpPr>
          <p:nvPr/>
        </p:nvSpPr>
        <p:spPr>
          <a:xfrm>
            <a:off x="8953500" y="2809875"/>
            <a:ext cx="552450" cy="2000250"/>
          </a:xfrm>
          <a:prstGeom prst="rect">
            <a:avLst/>
          </a:prstGeom>
          <a:solidFill>
            <a:srgbClr val="D9D2C7"/>
          </a:solidFill>
          <a:ln w="0">
            <a:solidFill>
              <a:srgbClr val="000000">
                <a:alpha val="0"/>
              </a:srgbClr>
            </a:solidFill>
            <a:prstDash val="solid"/>
          </a:ln>
        </p:spPr>
      </p:sp>
      <p:sp>
        <p:nvSpPr>
          <p:cNvPr id="40" name="Rectangles 39"/>
          <p:cNvSpPr>
            <a:spLocks noGrp="1"/>
          </p:cNvSpPr>
          <p:nvPr/>
        </p:nvSpPr>
        <p:spPr>
          <a:xfrm>
            <a:off x="8953500" y="3417451"/>
            <a:ext cx="552450" cy="1392674"/>
          </a:xfrm>
          <a:prstGeom prst="rect">
            <a:avLst/>
          </a:prstGeom>
          <a:solidFill>
            <a:srgbClr val="E45B4F"/>
          </a:solidFill>
          <a:ln w="0">
            <a:solidFill>
              <a:srgbClr val="000000">
                <a:alpha val="0"/>
              </a:srgbClr>
            </a:solidFill>
            <a:prstDash val="solid"/>
          </a:ln>
        </p:spPr>
      </p:sp>
      <p:sp>
        <p:nvSpPr>
          <p:cNvPr id="41" name="Rectangles 40"/>
          <p:cNvSpPr>
            <a:spLocks noGrp="1"/>
          </p:cNvSpPr>
          <p:nvPr/>
        </p:nvSpPr>
        <p:spPr>
          <a:xfrm>
            <a:off x="8877300" y="3160276"/>
            <a:ext cx="704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55.7%</a:t>
            </a:r>
            <a:endParaRPr sz="825" b="1">
              <a:solidFill>
                <a:srgbClr val="132A2F"/>
              </a:solidFill>
              <a:latin typeface="Avenir Next" panose="020B0803020202020204"/>
              <a:ea typeface="Avenir Next" panose="020B0803020202020204"/>
              <a:cs typeface="Avenir Next" panose="020B0803020202020204"/>
            </a:endParaRPr>
          </a:p>
        </p:txBody>
      </p:sp>
      <p:sp>
        <p:nvSpPr>
          <p:cNvPr id="42" name="Rectangles 41"/>
          <p:cNvSpPr>
            <a:spLocks noGrp="1"/>
          </p:cNvSpPr>
          <p:nvPr/>
        </p:nvSpPr>
        <p:spPr>
          <a:xfrm>
            <a:off x="8782050" y="4924425"/>
            <a:ext cx="895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17</a:t>
            </a:r>
            <a:endParaRPr sz="675" b="1">
              <a:solidFill>
                <a:srgbClr val="5F6D6D"/>
              </a:solidFill>
              <a:latin typeface="Avenir Next" panose="020B0803020202020204"/>
              <a:ea typeface="Avenir Next" panose="020B0803020202020204"/>
              <a:cs typeface="Avenir Next" panose="020B0803020202020204"/>
            </a:endParaRPr>
          </a:p>
          <a:p>
            <a:pPr algn="ct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XGBoost</a:t>
            </a:r>
            <a:endParaRPr sz="675" b="1">
              <a:solidFill>
                <a:srgbClr val="5F6D6D"/>
              </a:solidFill>
              <a:latin typeface="Avenir Next" panose="020B0803020202020204"/>
              <a:ea typeface="Avenir Next" panose="020B0803020202020204"/>
              <a:cs typeface="Avenir Next" panose="020B0803020202020204"/>
            </a:endParaRPr>
          </a:p>
        </p:txBody>
      </p:sp>
      <p:sp>
        <p:nvSpPr>
          <p:cNvPr id="43" name="Rectangles 42"/>
          <p:cNvSpPr>
            <a:spLocks noGrp="1"/>
          </p:cNvSpPr>
          <p:nvPr/>
        </p:nvSpPr>
        <p:spPr>
          <a:xfrm>
            <a:off x="10048875" y="2809875"/>
            <a:ext cx="552450" cy="2000250"/>
          </a:xfrm>
          <a:prstGeom prst="rect">
            <a:avLst/>
          </a:prstGeom>
          <a:solidFill>
            <a:srgbClr val="D9D2C7"/>
          </a:solidFill>
          <a:ln w="0">
            <a:solidFill>
              <a:srgbClr val="000000">
                <a:alpha val="0"/>
              </a:srgbClr>
            </a:solidFill>
            <a:prstDash val="solid"/>
          </a:ln>
        </p:spPr>
      </p:sp>
      <p:sp>
        <p:nvSpPr>
          <p:cNvPr id="44" name="Rectangles 43"/>
          <p:cNvSpPr>
            <a:spLocks noGrp="1"/>
          </p:cNvSpPr>
          <p:nvPr/>
        </p:nvSpPr>
        <p:spPr>
          <a:xfrm>
            <a:off x="10048875" y="3092410"/>
            <a:ext cx="552450" cy="1717715"/>
          </a:xfrm>
          <a:prstGeom prst="rect">
            <a:avLst/>
          </a:prstGeom>
          <a:solidFill>
            <a:srgbClr val="D6A83A"/>
          </a:solidFill>
          <a:ln w="0">
            <a:solidFill>
              <a:srgbClr val="000000">
                <a:alpha val="0"/>
              </a:srgbClr>
            </a:solidFill>
            <a:prstDash val="solid"/>
          </a:ln>
        </p:spPr>
      </p:sp>
      <p:sp>
        <p:nvSpPr>
          <p:cNvPr id="45" name="Rectangles 44"/>
          <p:cNvSpPr>
            <a:spLocks noGrp="1"/>
          </p:cNvSpPr>
          <p:nvPr/>
        </p:nvSpPr>
        <p:spPr>
          <a:xfrm>
            <a:off x="9972675" y="2835235"/>
            <a:ext cx="7048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132A2F"/>
                </a:solidFill>
                <a:latin typeface="Avenir Next" panose="020B0803020202020204"/>
                <a:ea typeface="Avenir Next" panose="020B0803020202020204"/>
                <a:cs typeface="Avenir Next" panose="020B0803020202020204"/>
              </a:defRPr>
            </a:pPr>
            <a:r>
              <a:rPr sz="825" b="1">
                <a:solidFill>
                  <a:srgbClr val="132A2F"/>
                </a:solidFill>
                <a:latin typeface="Avenir Next" panose="020B0803020202020204"/>
                <a:ea typeface="Avenir Next" panose="020B0803020202020204"/>
                <a:cs typeface="Avenir Next" panose="020B0803020202020204"/>
              </a:rPr>
              <a:t>68.7%</a:t>
            </a:r>
            <a:endParaRPr sz="825" b="1">
              <a:solidFill>
                <a:srgbClr val="132A2F"/>
              </a:solidFill>
              <a:latin typeface="Avenir Next" panose="020B0803020202020204"/>
              <a:ea typeface="Avenir Next" panose="020B0803020202020204"/>
              <a:cs typeface="Avenir Next" panose="020B0803020202020204"/>
            </a:endParaRPr>
          </a:p>
        </p:txBody>
      </p:sp>
      <p:sp>
        <p:nvSpPr>
          <p:cNvPr id="46" name="Rectangles 45"/>
          <p:cNvSpPr>
            <a:spLocks noGrp="1"/>
          </p:cNvSpPr>
          <p:nvPr/>
        </p:nvSpPr>
        <p:spPr>
          <a:xfrm>
            <a:off x="9877425" y="4924425"/>
            <a:ext cx="89535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73</a:t>
            </a:r>
            <a:endParaRPr sz="675" b="1">
              <a:solidFill>
                <a:srgbClr val="5F6D6D"/>
              </a:solidFill>
              <a:latin typeface="Avenir Next" panose="020B0803020202020204"/>
              <a:ea typeface="Avenir Next" panose="020B0803020202020204"/>
              <a:cs typeface="Avenir Next" panose="020B0803020202020204"/>
            </a:endParaRPr>
          </a:p>
          <a:p>
            <a:pPr algn="ct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Forest</a:t>
            </a:r>
            <a:endParaRPr sz="675" b="1">
              <a:solidFill>
                <a:srgbClr val="5F6D6D"/>
              </a:solidFill>
              <a:latin typeface="Avenir Next" panose="020B0803020202020204"/>
              <a:ea typeface="Avenir Next" panose="020B0803020202020204"/>
              <a:cs typeface="Avenir Next" panose="020B0803020202020204"/>
            </a:endParaRPr>
          </a:p>
        </p:txBody>
      </p:sp>
      <p:sp>
        <p:nvSpPr>
          <p:cNvPr id="47" name="Rectangles 46"/>
          <p:cNvSpPr>
            <a:spLocks noGrp="1"/>
          </p:cNvSpPr>
          <p:nvPr/>
        </p:nvSpPr>
        <p:spPr>
          <a:xfrm>
            <a:off x="552450" y="5610225"/>
            <a:ext cx="10801350" cy="9525"/>
          </a:xfrm>
          <a:prstGeom prst="rect">
            <a:avLst/>
          </a:prstGeom>
          <a:solidFill>
            <a:srgbClr val="D9D2C7"/>
          </a:solidFill>
          <a:ln w="0">
            <a:solidFill>
              <a:srgbClr val="000000">
                <a:alpha val="0"/>
              </a:srgbClr>
            </a:solidFill>
            <a:prstDash val="solid"/>
          </a:ln>
        </p:spPr>
      </p:sp>
      <p:sp>
        <p:nvSpPr>
          <p:cNvPr id="48" name="Rectangles 47"/>
          <p:cNvSpPr>
            <a:spLocks noGrp="1"/>
          </p:cNvSpPr>
          <p:nvPr/>
        </p:nvSpPr>
        <p:spPr>
          <a:xfrm>
            <a:off x="552450" y="5791200"/>
            <a:ext cx="10801350" cy="457200"/>
          </a:xfrm>
          <a:prstGeom prst="rect">
            <a:avLst/>
          </a:prstGeom>
          <a:solidFill>
            <a:srgbClr val="FBF8F2"/>
          </a:solidFill>
          <a:ln w="9525">
            <a:solidFill>
              <a:srgbClr val="D9D2C7"/>
            </a:solidFill>
            <a:prstDash val="solid"/>
          </a:ln>
        </p:spPr>
      </p:sp>
      <p:sp>
        <p:nvSpPr>
          <p:cNvPr id="49" name="Rectangles 48"/>
          <p:cNvSpPr>
            <a:spLocks noGrp="1"/>
          </p:cNvSpPr>
          <p:nvPr/>
        </p:nvSpPr>
        <p:spPr>
          <a:xfrm>
            <a:off x="742950" y="5943600"/>
            <a:ext cx="12954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75" b="1">
                <a:solidFill>
                  <a:srgbClr val="E45B4F"/>
                </a:solidFill>
                <a:latin typeface="Avenir Next" panose="020B0803020202020204"/>
                <a:ea typeface="Avenir Next" panose="020B0803020202020204"/>
                <a:cs typeface="Avenir Next" panose="020B0803020202020204"/>
              </a:defRPr>
            </a:pPr>
            <a:r>
              <a:rPr sz="675" b="1">
                <a:solidFill>
                  <a:srgbClr val="E45B4F"/>
                </a:solidFill>
                <a:latin typeface="Avenir Next" panose="020B0803020202020204"/>
                <a:ea typeface="Avenir Next" panose="020B0803020202020204"/>
                <a:cs typeface="Avenir Next" panose="020B0803020202020204"/>
              </a:rPr>
              <a:t>THRESHOLD NOTE</a:t>
            </a:r>
            <a:endParaRPr sz="675" b="1">
              <a:solidFill>
                <a:srgbClr val="E45B4F"/>
              </a:solidFill>
              <a:latin typeface="Avenir Next" panose="020B0803020202020204"/>
              <a:ea typeface="Avenir Next" panose="020B0803020202020204"/>
              <a:cs typeface="Avenir Next" panose="020B0803020202020204"/>
            </a:endParaRPr>
          </a:p>
        </p:txBody>
      </p:sp>
      <p:sp>
        <p:nvSpPr>
          <p:cNvPr id="50" name="Rectangles 49"/>
          <p:cNvSpPr>
            <a:spLocks noGrp="1"/>
          </p:cNvSpPr>
          <p:nvPr/>
        </p:nvSpPr>
        <p:spPr>
          <a:xfrm>
            <a:off x="2143125" y="5905500"/>
            <a:ext cx="8953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132A2F"/>
                </a:solidFill>
                <a:latin typeface="Avenir Next" panose="020B0803020202020204"/>
                <a:ea typeface="Avenir Next" panose="020B0803020202020204"/>
                <a:cs typeface="Avenir Next" panose="020B0803020202020204"/>
              </a:defRPr>
            </a:pPr>
            <a:r>
              <a:rPr sz="715" b="1">
                <a:solidFill>
                  <a:srgbClr val="132A2F"/>
                </a:solidFill>
                <a:latin typeface="Avenir Next" panose="020B0803020202020204"/>
                <a:ea typeface="Avenir Next" panose="020B0803020202020204"/>
                <a:cs typeface="Avenir Next" panose="020B0803020202020204"/>
              </a:rPr>
              <a:t>Threshold 0.27 → 0.47 changed both the cohort (144 → 98 employees) and feasibility (58.3% → 77.6%); this is not a within-employee effect.</a:t>
            </a:r>
            <a:endParaRPr sz="715" b="1">
              <a:solidFill>
                <a:srgbClr val="132A2F"/>
              </a:solidFill>
              <a:latin typeface="Avenir Next" panose="020B0803020202020204"/>
              <a:ea typeface="Avenir Next" panose="020B0803020202020204"/>
              <a:cs typeface="Avenir Next" panose="020B0803020202020204"/>
            </a:endParaRPr>
          </a:p>
        </p:txBody>
      </p:sp>
      <p:sp>
        <p:nvSpPr>
          <p:cNvPr id="51" name="Rectangles 50"/>
          <p:cNvSpPr>
            <a:spLocks noGrp="1"/>
          </p:cNvSpPr>
          <p:nvPr/>
        </p:nvSpPr>
        <p:spPr>
          <a:xfrm>
            <a:off x="552450" y="6486525"/>
            <a:ext cx="11087100" cy="9525"/>
          </a:xfrm>
          <a:prstGeom prst="rect">
            <a:avLst/>
          </a:prstGeom>
          <a:solidFill>
            <a:srgbClr val="D9D2C7"/>
          </a:solidFill>
          <a:ln w="0">
            <a:solidFill>
              <a:srgbClr val="000000">
                <a:alpha val="0"/>
              </a:srgbClr>
            </a:solidFill>
            <a:prstDash val="solid"/>
          </a:ln>
        </p:spPr>
      </p:sp>
      <p:sp>
        <p:nvSpPr>
          <p:cNvPr id="52" name="Rectangles 51"/>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5F6D6D"/>
                </a:solidFill>
                <a:latin typeface="Avenir Next" panose="020B0803020202020204"/>
                <a:ea typeface="Avenir Next" panose="020B0803020202020204"/>
                <a:cs typeface="Avenir Next" panose="020B0803020202020204"/>
              </a:defRPr>
            </a:pPr>
            <a:r>
              <a:rPr sz="640" b="0">
                <a:solidFill>
                  <a:srgbClr val="5F6D6D"/>
                </a:solidFill>
                <a:latin typeface="Avenir Next" panose="020B0803020202020204"/>
                <a:ea typeface="Avenir Next" panose="020B0803020202020204"/>
                <a:cs typeface="Avenir Next" panose="020B0803020202020204"/>
              </a:rPr>
              <a:t>Source: sensitivity_overtime.csv, sensitivity_salary_cap.csv, sensitivity_threshold.csv, and stability_by_seed.csv</a:t>
            </a:r>
            <a:endParaRPr sz="640" b="0">
              <a:solidFill>
                <a:srgbClr val="5F6D6D"/>
              </a:solidFill>
              <a:latin typeface="Avenir Next" panose="020B0803020202020204"/>
              <a:ea typeface="Avenir Next" panose="020B0803020202020204"/>
              <a:cs typeface="Avenir Next" panose="020B0803020202020204"/>
            </a:endParaRPr>
          </a:p>
        </p:txBody>
      </p:sp>
      <p:sp>
        <p:nvSpPr>
          <p:cNvPr id="53" name="Rectangles 52"/>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5F6D6D"/>
                </a:solidFill>
                <a:latin typeface="Avenir Next" panose="020B0803020202020204"/>
                <a:ea typeface="Avenir Next" panose="020B0803020202020204"/>
                <a:cs typeface="Avenir Next" panose="020B0803020202020204"/>
              </a:defRPr>
            </a:pPr>
            <a:r>
              <a:rPr sz="675" b="1">
                <a:solidFill>
                  <a:srgbClr val="5F6D6D"/>
                </a:solidFill>
                <a:latin typeface="Avenir Next" panose="020B0803020202020204"/>
                <a:ea typeface="Avenir Next" panose="020B0803020202020204"/>
                <a:cs typeface="Avenir Next" panose="020B0803020202020204"/>
              </a:rPr>
              <a:t>13</a:t>
            </a:r>
            <a:endParaRPr sz="675" b="1">
              <a:solidFill>
                <a:srgbClr val="5F6D6D"/>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132A2F"/>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E45B4F"/>
          </a:solidFill>
          <a:ln w="0">
            <a:solidFill>
              <a:srgbClr val="000000">
                <a:alpha val="0"/>
              </a:srgbClr>
            </a:solidFill>
            <a:prstDash val="solid"/>
          </a:ln>
        </p:spPr>
      </p:sp>
      <p:sp>
        <p:nvSpPr>
          <p:cNvPr id="4" name="kicker-12-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12-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EAD9A8"/>
                </a:solidFill>
                <a:latin typeface="Avenir Next" panose="020B0803020202020204"/>
                <a:ea typeface="Avenir Next" panose="020B0803020202020204"/>
                <a:cs typeface="Avenir Next" panose="020B0803020202020204"/>
              </a:defRPr>
            </a:pPr>
            <a:r>
              <a:rPr sz="750" b="1">
                <a:solidFill>
                  <a:srgbClr val="EAD9A8"/>
                </a:solidFill>
                <a:latin typeface="Avenir Next" panose="020B0803020202020204"/>
                <a:ea typeface="Avenir Next" panose="020B0803020202020204"/>
                <a:cs typeface="Avenir Next" panose="020B0803020202020204"/>
              </a:rPr>
              <a:t>CONCLUSION</a:t>
            </a:r>
            <a:endParaRPr sz="750" b="1">
              <a:solidFill>
                <a:srgbClr val="EAD9A8"/>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685800"/>
            <a:ext cx="10477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F7F2E9"/>
                </a:solidFill>
                <a:latin typeface="New York"/>
                <a:ea typeface="New York"/>
                <a:cs typeface="New York"/>
              </a:defRPr>
            </a:pPr>
            <a:r>
              <a:rPr sz="2550" b="1">
                <a:solidFill>
                  <a:srgbClr val="F7F2E9"/>
                </a:solidFill>
                <a:latin typeface="New York"/>
                <a:ea typeface="New York"/>
                <a:cs typeface="New York"/>
              </a:rPr>
              <a:t>Use the system to audit and prioritize—not to prescribe retention decisions.</a:t>
            </a:r>
            <a:endParaRPr sz="2550" b="1">
              <a:solidFill>
                <a:srgbClr val="F7F2E9"/>
              </a:solidFill>
              <a:latin typeface="New York"/>
              <a:ea typeface="New York"/>
              <a:cs typeface="New York"/>
            </a:endParaRPr>
          </a:p>
        </p:txBody>
      </p:sp>
      <p:sp>
        <p:nvSpPr>
          <p:cNvPr id="7" name="Rectangles 6"/>
          <p:cNvSpPr>
            <a:spLocks noGrp="1"/>
          </p:cNvSpPr>
          <p:nvPr/>
        </p:nvSpPr>
        <p:spPr>
          <a:xfrm>
            <a:off x="552450" y="2076450"/>
            <a:ext cx="38100" cy="2266950"/>
          </a:xfrm>
          <a:prstGeom prst="rect">
            <a:avLst/>
          </a:prstGeom>
          <a:solidFill>
            <a:srgbClr val="D6A83A"/>
          </a:solidFill>
          <a:ln w="0">
            <a:solidFill>
              <a:srgbClr val="000000">
                <a:alpha val="0"/>
              </a:srgbClr>
            </a:solidFill>
            <a:prstDash val="solid"/>
          </a:ln>
        </p:spPr>
      </p:sp>
      <p:sp>
        <p:nvSpPr>
          <p:cNvPr id="8" name="Rectangles 7"/>
          <p:cNvSpPr>
            <a:spLocks noGrp="1"/>
          </p:cNvSpPr>
          <p:nvPr/>
        </p:nvSpPr>
        <p:spPr>
          <a:xfrm>
            <a:off x="742950" y="2047875"/>
            <a:ext cx="4953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D6A83A"/>
                </a:solidFill>
                <a:latin typeface="New York"/>
                <a:ea typeface="New York"/>
                <a:cs typeface="New York"/>
              </a:defRPr>
            </a:pPr>
            <a:r>
              <a:rPr sz="1800" b="1">
                <a:solidFill>
                  <a:srgbClr val="D6A83A"/>
                </a:solidFill>
                <a:latin typeface="New York"/>
                <a:ea typeface="New York"/>
                <a:cs typeface="New York"/>
              </a:rPr>
              <a:t>01</a:t>
            </a:r>
            <a:endParaRPr sz="1800" b="1">
              <a:solidFill>
                <a:srgbClr val="D6A83A"/>
              </a:solidFill>
              <a:latin typeface="New York"/>
              <a:ea typeface="New York"/>
              <a:cs typeface="New York"/>
            </a:endParaRPr>
          </a:p>
        </p:txBody>
      </p:sp>
      <p:sp>
        <p:nvSpPr>
          <p:cNvPr id="9" name="Rectangles 8"/>
          <p:cNvSpPr>
            <a:spLocks noGrp="1"/>
          </p:cNvSpPr>
          <p:nvPr/>
        </p:nvSpPr>
        <p:spPr>
          <a:xfrm>
            <a:off x="742950" y="2533650"/>
            <a:ext cx="3048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F7F2E9"/>
                </a:solidFill>
                <a:latin typeface="New York"/>
                <a:ea typeface="New York"/>
                <a:cs typeface="New York"/>
              </a:defRPr>
            </a:pPr>
            <a:r>
              <a:rPr sz="1350" b="1">
                <a:solidFill>
                  <a:srgbClr val="F7F2E9"/>
                </a:solidFill>
                <a:latin typeface="New York"/>
                <a:ea typeface="New York"/>
                <a:cs typeface="New York"/>
              </a:rPr>
              <a:t>Prediction is uncertain</a:t>
            </a:r>
            <a:endParaRPr sz="1350" b="1">
              <a:solidFill>
                <a:srgbClr val="F7F2E9"/>
              </a:solidFill>
              <a:latin typeface="New York"/>
              <a:ea typeface="New York"/>
              <a:cs typeface="New York"/>
            </a:endParaRPr>
          </a:p>
        </p:txBody>
      </p:sp>
      <p:sp>
        <p:nvSpPr>
          <p:cNvPr id="10" name="Rectangles 9"/>
          <p:cNvSpPr>
            <a:spLocks noGrp="1"/>
          </p:cNvSpPr>
          <p:nvPr/>
        </p:nvSpPr>
        <p:spPr>
          <a:xfrm>
            <a:off x="742950" y="2952750"/>
            <a:ext cx="3048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0">
                <a:solidFill>
                  <a:srgbClr val="B9D7D1"/>
                </a:solidFill>
                <a:latin typeface="Avenir Next" panose="020B0803020202020204"/>
                <a:ea typeface="Avenir Next" panose="020B0803020202020204"/>
                <a:cs typeface="Avenir Next" panose="020B0803020202020204"/>
              </a:defRPr>
            </a:pPr>
            <a:r>
              <a:rPr sz="825" b="0">
                <a:solidFill>
                  <a:srgbClr val="B9D7D1"/>
                </a:solidFill>
                <a:latin typeface="Avenir Next" panose="020B0803020202020204"/>
                <a:ea typeface="Avenir Next" panose="020B0803020202020204"/>
                <a:cs typeface="Avenir Next" panose="020B0803020202020204"/>
              </a:rPr>
              <a:t>Recall reached 78.7%, but precision was 31.6%; a flag should initiate review, not label an employee.</a:t>
            </a:r>
            <a:endParaRPr sz="825" b="0">
              <a:solidFill>
                <a:srgbClr val="B9D7D1"/>
              </a:solidFill>
              <a:latin typeface="Avenir Next" panose="020B0803020202020204"/>
              <a:ea typeface="Avenir Next" panose="020B0803020202020204"/>
              <a:cs typeface="Avenir Next" panose="020B0803020202020204"/>
            </a:endParaRPr>
          </a:p>
        </p:txBody>
      </p:sp>
      <p:sp>
        <p:nvSpPr>
          <p:cNvPr id="11" name="Rectangles 10"/>
          <p:cNvSpPr>
            <a:spLocks noGrp="1"/>
          </p:cNvSpPr>
          <p:nvPr/>
        </p:nvSpPr>
        <p:spPr>
          <a:xfrm>
            <a:off x="4171950" y="2076450"/>
            <a:ext cx="38100" cy="2266950"/>
          </a:xfrm>
          <a:prstGeom prst="rect">
            <a:avLst/>
          </a:prstGeom>
          <a:solidFill>
            <a:srgbClr val="2A7F78"/>
          </a:solidFill>
          <a:ln w="0">
            <a:solidFill>
              <a:srgbClr val="000000">
                <a:alpha val="0"/>
              </a:srgbClr>
            </a:solidFill>
            <a:prstDash val="solid"/>
          </a:ln>
        </p:spPr>
      </p:sp>
      <p:sp>
        <p:nvSpPr>
          <p:cNvPr id="12" name="Rectangles 11"/>
          <p:cNvSpPr>
            <a:spLocks noGrp="1"/>
          </p:cNvSpPr>
          <p:nvPr/>
        </p:nvSpPr>
        <p:spPr>
          <a:xfrm>
            <a:off x="4362450" y="2047875"/>
            <a:ext cx="4953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2A7F78"/>
                </a:solidFill>
                <a:latin typeface="New York"/>
                <a:ea typeface="New York"/>
                <a:cs typeface="New York"/>
              </a:defRPr>
            </a:pPr>
            <a:r>
              <a:rPr sz="1800" b="1">
                <a:solidFill>
                  <a:srgbClr val="2A7F78"/>
                </a:solidFill>
                <a:latin typeface="New York"/>
                <a:ea typeface="New York"/>
                <a:cs typeface="New York"/>
              </a:rPr>
              <a:t>02</a:t>
            </a:r>
            <a:endParaRPr sz="1800" b="1">
              <a:solidFill>
                <a:srgbClr val="2A7F78"/>
              </a:solidFill>
              <a:latin typeface="New York"/>
              <a:ea typeface="New York"/>
              <a:cs typeface="New York"/>
            </a:endParaRPr>
          </a:p>
        </p:txBody>
      </p:sp>
      <p:sp>
        <p:nvSpPr>
          <p:cNvPr id="13" name="Rectangles 12"/>
          <p:cNvSpPr>
            <a:spLocks noGrp="1"/>
          </p:cNvSpPr>
          <p:nvPr/>
        </p:nvSpPr>
        <p:spPr>
          <a:xfrm>
            <a:off x="4362450" y="2533650"/>
            <a:ext cx="3048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F7F2E9"/>
                </a:solidFill>
                <a:latin typeface="New York"/>
                <a:ea typeface="New York"/>
                <a:cs typeface="New York"/>
              </a:defRPr>
            </a:pPr>
            <a:r>
              <a:rPr sz="1350" b="1">
                <a:solidFill>
                  <a:srgbClr val="F7F2E9"/>
                </a:solidFill>
                <a:latin typeface="New York"/>
                <a:ea typeface="New York"/>
                <a:cs typeface="New York"/>
              </a:rPr>
              <a:t>Recourse has a feasibility gap</a:t>
            </a:r>
            <a:endParaRPr sz="1350" b="1">
              <a:solidFill>
                <a:srgbClr val="F7F2E9"/>
              </a:solidFill>
              <a:latin typeface="New York"/>
              <a:ea typeface="New York"/>
              <a:cs typeface="New York"/>
            </a:endParaRPr>
          </a:p>
        </p:txBody>
      </p:sp>
      <p:sp>
        <p:nvSpPr>
          <p:cNvPr id="14" name="Rectangles 13"/>
          <p:cNvSpPr>
            <a:spLocks noGrp="1"/>
          </p:cNvSpPr>
          <p:nvPr/>
        </p:nvSpPr>
        <p:spPr>
          <a:xfrm>
            <a:off x="4362450" y="2952750"/>
            <a:ext cx="3048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0">
                <a:solidFill>
                  <a:srgbClr val="B9D7D1"/>
                </a:solidFill>
                <a:latin typeface="Avenir Next" panose="020B0803020202020204"/>
                <a:ea typeface="Avenir Next" panose="020B0803020202020204"/>
                <a:cs typeface="Avenir Next" panose="020B0803020202020204"/>
              </a:defRPr>
            </a:pPr>
            <a:r>
              <a:rPr sz="825" b="0">
                <a:solidFill>
                  <a:srgbClr val="B9D7D1"/>
                </a:solidFill>
                <a:latin typeface="Avenir Next" panose="020B0803020202020204"/>
                <a:ea typeface="Avenir Next" panose="020B0803020202020204"/>
                <a:cs typeface="Avenir Next" panose="020B0803020202020204"/>
              </a:rPr>
              <a:t>Diagnostic coverage was 100%; only 62.4% survived the bounded HR intervention rules.</a:t>
            </a:r>
            <a:endParaRPr sz="825" b="0">
              <a:solidFill>
                <a:srgbClr val="B9D7D1"/>
              </a:solidFill>
              <a:latin typeface="Avenir Next" panose="020B0803020202020204"/>
              <a:ea typeface="Avenir Next" panose="020B0803020202020204"/>
              <a:cs typeface="Avenir Next" panose="020B0803020202020204"/>
            </a:endParaRPr>
          </a:p>
        </p:txBody>
      </p:sp>
      <p:sp>
        <p:nvSpPr>
          <p:cNvPr id="15" name="Rectangles 14"/>
          <p:cNvSpPr>
            <a:spLocks noGrp="1"/>
          </p:cNvSpPr>
          <p:nvPr/>
        </p:nvSpPr>
        <p:spPr>
          <a:xfrm>
            <a:off x="7791450" y="2076450"/>
            <a:ext cx="38100" cy="2266950"/>
          </a:xfrm>
          <a:prstGeom prst="rect">
            <a:avLst/>
          </a:prstGeom>
          <a:solidFill>
            <a:srgbClr val="E45B4F"/>
          </a:solidFill>
          <a:ln w="0">
            <a:solidFill>
              <a:srgbClr val="000000">
                <a:alpha val="0"/>
              </a:srgbClr>
            </a:solidFill>
            <a:prstDash val="solid"/>
          </a:ln>
        </p:spPr>
      </p:sp>
      <p:sp>
        <p:nvSpPr>
          <p:cNvPr id="16" name="Rectangles 15"/>
          <p:cNvSpPr>
            <a:spLocks noGrp="1"/>
          </p:cNvSpPr>
          <p:nvPr/>
        </p:nvSpPr>
        <p:spPr>
          <a:xfrm>
            <a:off x="7981950" y="2047875"/>
            <a:ext cx="4953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E45B4F"/>
                </a:solidFill>
                <a:latin typeface="New York"/>
                <a:ea typeface="New York"/>
                <a:cs typeface="New York"/>
              </a:defRPr>
            </a:pPr>
            <a:r>
              <a:rPr sz="1800" b="1">
                <a:solidFill>
                  <a:srgbClr val="E45B4F"/>
                </a:solidFill>
                <a:latin typeface="New York"/>
                <a:ea typeface="New York"/>
                <a:cs typeface="New York"/>
              </a:rPr>
              <a:t>03</a:t>
            </a:r>
            <a:endParaRPr sz="1800" b="1">
              <a:solidFill>
                <a:srgbClr val="E45B4F"/>
              </a:solidFill>
              <a:latin typeface="New York"/>
              <a:ea typeface="New York"/>
              <a:cs typeface="New York"/>
            </a:endParaRPr>
          </a:p>
        </p:txBody>
      </p:sp>
      <p:sp>
        <p:nvSpPr>
          <p:cNvPr id="17" name="Rectangles 16"/>
          <p:cNvSpPr>
            <a:spLocks noGrp="1"/>
          </p:cNvSpPr>
          <p:nvPr/>
        </p:nvSpPr>
        <p:spPr>
          <a:xfrm>
            <a:off x="7981950" y="2533650"/>
            <a:ext cx="3048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F7F2E9"/>
                </a:solidFill>
                <a:latin typeface="New York"/>
                <a:ea typeface="New York"/>
                <a:cs typeface="New York"/>
              </a:defRPr>
            </a:pPr>
            <a:r>
              <a:rPr sz="1350" b="1">
                <a:solidFill>
                  <a:srgbClr val="F7F2E9"/>
                </a:solidFill>
                <a:latin typeface="New York"/>
                <a:ea typeface="New York"/>
                <a:cs typeface="New York"/>
              </a:rPr>
              <a:t>Assumptions govern coverage</a:t>
            </a:r>
            <a:endParaRPr sz="1350" b="1">
              <a:solidFill>
                <a:srgbClr val="F7F2E9"/>
              </a:solidFill>
              <a:latin typeface="New York"/>
              <a:ea typeface="New York"/>
              <a:cs typeface="New York"/>
            </a:endParaRPr>
          </a:p>
        </p:txBody>
      </p:sp>
      <p:sp>
        <p:nvSpPr>
          <p:cNvPr id="18" name="Rectangles 17"/>
          <p:cNvSpPr>
            <a:spLocks noGrp="1"/>
          </p:cNvSpPr>
          <p:nvPr/>
        </p:nvSpPr>
        <p:spPr>
          <a:xfrm>
            <a:off x="7981950" y="2952750"/>
            <a:ext cx="3048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0">
                <a:solidFill>
                  <a:srgbClr val="B9D7D1"/>
                </a:solidFill>
                <a:latin typeface="Avenir Next" panose="020B0803020202020204"/>
                <a:ea typeface="Avenir Next" panose="020B0803020202020204"/>
                <a:cs typeface="Avenir Next" panose="020B0803020202020204"/>
              </a:defRPr>
            </a:pPr>
            <a:r>
              <a:rPr sz="825" b="0">
                <a:solidFill>
                  <a:srgbClr val="B9D7D1"/>
                </a:solidFill>
                <a:latin typeface="Avenir Next" panose="020B0803020202020204"/>
                <a:ea typeface="Avenir Next" panose="020B0803020202020204"/>
                <a:cs typeface="Avenir Next" panose="020B0803020202020204"/>
              </a:rPr>
              <a:t>Locking overtime reduced feasibility to 35.9%, and split seeds changed both model and rate.</a:t>
            </a:r>
            <a:endParaRPr sz="825" b="0">
              <a:solidFill>
                <a:srgbClr val="B9D7D1"/>
              </a:solidFill>
              <a:latin typeface="Avenir Next" panose="020B0803020202020204"/>
              <a:ea typeface="Avenir Next" panose="020B0803020202020204"/>
              <a:cs typeface="Avenir Next" panose="020B0803020202020204"/>
            </a:endParaRPr>
          </a:p>
        </p:txBody>
      </p:sp>
      <p:sp>
        <p:nvSpPr>
          <p:cNvPr id="19" name="Rectangles 18"/>
          <p:cNvSpPr>
            <a:spLocks noGrp="1"/>
          </p:cNvSpPr>
          <p:nvPr/>
        </p:nvSpPr>
        <p:spPr>
          <a:xfrm>
            <a:off x="552450" y="4457700"/>
            <a:ext cx="10801350" cy="9525"/>
          </a:xfrm>
          <a:prstGeom prst="rect">
            <a:avLst/>
          </a:prstGeom>
          <a:solidFill>
            <a:srgbClr val="203D42"/>
          </a:solidFill>
          <a:ln w="0">
            <a:solidFill>
              <a:srgbClr val="000000">
                <a:alpha val="0"/>
              </a:srgbClr>
            </a:solidFill>
            <a:prstDash val="solid"/>
          </a:ln>
        </p:spPr>
      </p:sp>
      <p:sp>
        <p:nvSpPr>
          <p:cNvPr id="20" name="Rectangles 19"/>
          <p:cNvSpPr>
            <a:spLocks noGrp="1"/>
          </p:cNvSpPr>
          <p:nvPr/>
        </p:nvSpPr>
        <p:spPr>
          <a:xfrm>
            <a:off x="552450" y="4752975"/>
            <a:ext cx="4953000" cy="895350"/>
          </a:xfrm>
          <a:prstGeom prst="rect">
            <a:avLst/>
          </a:prstGeom>
          <a:solidFill>
            <a:srgbClr val="2A7F78"/>
          </a:solidFill>
          <a:ln w="0">
            <a:solidFill>
              <a:srgbClr val="000000">
                <a:alpha val="0"/>
              </a:srgbClr>
            </a:solidFill>
            <a:prstDash val="solid"/>
          </a:ln>
        </p:spPr>
      </p:sp>
      <p:sp>
        <p:nvSpPr>
          <p:cNvPr id="21" name="Rectangles 20"/>
          <p:cNvSpPr>
            <a:spLocks noGrp="1"/>
          </p:cNvSpPr>
          <p:nvPr/>
        </p:nvSpPr>
        <p:spPr>
          <a:xfrm>
            <a:off x="781050" y="4933950"/>
            <a:ext cx="1143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F7F2E9"/>
                </a:solidFill>
                <a:latin typeface="Avenir Next" panose="020B0803020202020204"/>
                <a:ea typeface="Avenir Next" panose="020B0803020202020204"/>
                <a:cs typeface="Avenir Next" panose="020B0803020202020204"/>
              </a:defRPr>
            </a:pPr>
            <a:r>
              <a:rPr sz="715" b="1">
                <a:solidFill>
                  <a:srgbClr val="F7F2E9"/>
                </a:solidFill>
                <a:latin typeface="Avenir Next" panose="020B0803020202020204"/>
                <a:ea typeface="Avenir Next" panose="020B0803020202020204"/>
                <a:cs typeface="Avenir Next" panose="020B0803020202020204"/>
              </a:rPr>
              <a:t>USE FOR</a:t>
            </a:r>
            <a:endParaRPr sz="715" b="1">
              <a:solidFill>
                <a:srgbClr val="F7F2E9"/>
              </a:solidFill>
              <a:latin typeface="Avenir Next" panose="020B0803020202020204"/>
              <a:ea typeface="Avenir Next" panose="020B0803020202020204"/>
              <a:cs typeface="Avenir Next" panose="020B0803020202020204"/>
            </a:endParaRPr>
          </a:p>
        </p:txBody>
      </p:sp>
      <p:sp>
        <p:nvSpPr>
          <p:cNvPr id="22" name="Rectangles 21"/>
          <p:cNvSpPr>
            <a:spLocks noGrp="1"/>
          </p:cNvSpPr>
          <p:nvPr/>
        </p:nvSpPr>
        <p:spPr>
          <a:xfrm>
            <a:off x="781050" y="5219700"/>
            <a:ext cx="4381500" cy="2571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F7F2E9"/>
                </a:solidFill>
                <a:latin typeface="New York"/>
                <a:ea typeface="New York"/>
                <a:cs typeface="New York"/>
              </a:defRPr>
            </a:pPr>
            <a:r>
              <a:rPr sz="1125" b="1">
                <a:solidFill>
                  <a:srgbClr val="F7F2E9"/>
                </a:solidFill>
                <a:latin typeface="New York"/>
                <a:ea typeface="New York"/>
                <a:cs typeface="New York"/>
              </a:rPr>
              <a:t>Transparent triage · model audit · structured human review</a:t>
            </a:r>
            <a:endParaRPr sz="1125" b="1">
              <a:solidFill>
                <a:srgbClr val="F7F2E9"/>
              </a:solidFill>
              <a:latin typeface="New York"/>
              <a:ea typeface="New York"/>
              <a:cs typeface="New York"/>
            </a:endParaRPr>
          </a:p>
        </p:txBody>
      </p:sp>
      <p:sp>
        <p:nvSpPr>
          <p:cNvPr id="23" name="Rectangles 22"/>
          <p:cNvSpPr>
            <a:spLocks noGrp="1"/>
          </p:cNvSpPr>
          <p:nvPr/>
        </p:nvSpPr>
        <p:spPr>
          <a:xfrm>
            <a:off x="5829300" y="4752975"/>
            <a:ext cx="5524500" cy="895350"/>
          </a:xfrm>
          <a:prstGeom prst="rect">
            <a:avLst/>
          </a:prstGeom>
          <a:solidFill>
            <a:srgbClr val="E45B4F"/>
          </a:solidFill>
          <a:ln w="0">
            <a:solidFill>
              <a:srgbClr val="000000">
                <a:alpha val="0"/>
              </a:srgbClr>
            </a:solidFill>
            <a:prstDash val="solid"/>
          </a:ln>
        </p:spPr>
      </p:sp>
      <p:sp>
        <p:nvSpPr>
          <p:cNvPr id="24" name="Rectangles 23"/>
          <p:cNvSpPr>
            <a:spLocks noGrp="1"/>
          </p:cNvSpPr>
          <p:nvPr/>
        </p:nvSpPr>
        <p:spPr>
          <a:xfrm>
            <a:off x="6057900" y="4933950"/>
            <a:ext cx="1524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F7F2E9"/>
                </a:solidFill>
                <a:latin typeface="Avenir Next" panose="020B0803020202020204"/>
                <a:ea typeface="Avenir Next" panose="020B0803020202020204"/>
                <a:cs typeface="Avenir Next" panose="020B0803020202020204"/>
              </a:defRPr>
            </a:pPr>
            <a:r>
              <a:rPr sz="715" b="1">
                <a:solidFill>
                  <a:srgbClr val="F7F2E9"/>
                </a:solidFill>
                <a:latin typeface="Avenir Next" panose="020B0803020202020204"/>
                <a:ea typeface="Avenir Next" panose="020B0803020202020204"/>
                <a:cs typeface="Avenir Next" panose="020B0803020202020204"/>
              </a:rPr>
              <a:t>DO NOT USE FOR</a:t>
            </a:r>
            <a:endParaRPr sz="715" b="1">
              <a:solidFill>
                <a:srgbClr val="F7F2E9"/>
              </a:solidFill>
              <a:latin typeface="Avenir Next" panose="020B0803020202020204"/>
              <a:ea typeface="Avenir Next" panose="020B0803020202020204"/>
              <a:cs typeface="Avenir Next" panose="020B0803020202020204"/>
            </a:endParaRPr>
          </a:p>
        </p:txBody>
      </p:sp>
      <p:sp>
        <p:nvSpPr>
          <p:cNvPr id="25" name="Rectangles 24"/>
          <p:cNvSpPr>
            <a:spLocks noGrp="1"/>
          </p:cNvSpPr>
          <p:nvPr/>
        </p:nvSpPr>
        <p:spPr>
          <a:xfrm>
            <a:off x="6057900" y="5219700"/>
            <a:ext cx="4953000" cy="2571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F7F2E9"/>
                </a:solidFill>
                <a:latin typeface="New York"/>
                <a:ea typeface="New York"/>
                <a:cs typeface="New York"/>
              </a:defRPr>
            </a:pPr>
            <a:r>
              <a:rPr sz="1125" b="1">
                <a:solidFill>
                  <a:srgbClr val="F7F2E9"/>
                </a:solidFill>
                <a:latin typeface="New York"/>
                <a:ea typeface="New York"/>
                <a:cs typeface="New York"/>
              </a:rPr>
              <a:t>Automated HR decisions · causal claims · guaranteed retention</a:t>
            </a:r>
            <a:endParaRPr sz="1125" b="1">
              <a:solidFill>
                <a:srgbClr val="F7F2E9"/>
              </a:solidFill>
              <a:latin typeface="New York"/>
              <a:ea typeface="New York"/>
              <a:cs typeface="New York"/>
            </a:endParaRPr>
          </a:p>
        </p:txBody>
      </p:sp>
      <p:sp>
        <p:nvSpPr>
          <p:cNvPr id="26" name="Rectangles 25"/>
          <p:cNvSpPr>
            <a:spLocks noGrp="1"/>
          </p:cNvSpPr>
          <p:nvPr/>
        </p:nvSpPr>
        <p:spPr>
          <a:xfrm>
            <a:off x="552450" y="5981700"/>
            <a:ext cx="10801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EAD9A8"/>
                </a:solidFill>
                <a:latin typeface="Avenir Next" panose="020B0803020202020204"/>
                <a:ea typeface="Avenir Next" panose="020B0803020202020204"/>
                <a:cs typeface="Avenir Next" panose="020B0803020202020204"/>
              </a:defRPr>
            </a:pPr>
            <a:r>
              <a:rPr sz="825" b="1">
                <a:solidFill>
                  <a:srgbClr val="EAD9A8"/>
                </a:solidFill>
                <a:latin typeface="Avenir Next" panose="020B0803020202020204"/>
                <a:ea typeface="Avenir Next" panose="020B0803020202020204"/>
                <a:cs typeface="Avenir Next" panose="020B0803020202020204"/>
              </a:rPr>
              <a:t>Next: longitudinal organizational data · employee-informed constraints · fairness and causal analysis</a:t>
            </a:r>
            <a:endParaRPr sz="825" b="1">
              <a:solidFill>
                <a:srgbClr val="EAD9A8"/>
              </a:solidFill>
              <a:latin typeface="Avenir Next" panose="020B0803020202020204"/>
              <a:ea typeface="Avenir Next" panose="020B0803020202020204"/>
              <a:cs typeface="Avenir Next" panose="020B0803020202020204"/>
            </a:endParaRPr>
          </a:p>
        </p:txBody>
      </p:sp>
      <p:sp>
        <p:nvSpPr>
          <p:cNvPr id="27" name="Rectangles 26"/>
          <p:cNvSpPr>
            <a:spLocks noGrp="1"/>
          </p:cNvSpPr>
          <p:nvPr/>
        </p:nvSpPr>
        <p:spPr>
          <a:xfrm>
            <a:off x="552450" y="6486525"/>
            <a:ext cx="11087100" cy="9525"/>
          </a:xfrm>
          <a:prstGeom prst="rect">
            <a:avLst/>
          </a:prstGeom>
          <a:solidFill>
            <a:srgbClr val="203D42"/>
          </a:solidFill>
          <a:ln w="0">
            <a:solidFill>
              <a:srgbClr val="000000">
                <a:alpha val="0"/>
              </a:srgbClr>
            </a:solidFill>
            <a:prstDash val="solid"/>
          </a:ln>
        </p:spPr>
      </p:sp>
      <p:sp>
        <p:nvSpPr>
          <p:cNvPr id="28" name="Rectangles 27"/>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B9D7D1"/>
                </a:solidFill>
                <a:latin typeface="Avenir Next" panose="020B0803020202020204"/>
                <a:ea typeface="Avenir Next" panose="020B0803020202020204"/>
                <a:cs typeface="Avenir Next" panose="020B0803020202020204"/>
              </a:defRPr>
            </a:pPr>
            <a:r>
              <a:rPr sz="640" b="0">
                <a:solidFill>
                  <a:srgbClr val="B9D7D1"/>
                </a:solidFill>
                <a:latin typeface="Avenir Next" panose="020B0803020202020204"/>
                <a:ea typeface="Avenir Next" panose="020B0803020202020204"/>
                <a:cs typeface="Avenir Next" panose="020B0803020202020204"/>
              </a:rPr>
              <a:t>Synthetic, cross-sectional data: the study audits model behavior rather than intervention effects</a:t>
            </a:r>
            <a:endParaRPr sz="640" b="0">
              <a:solidFill>
                <a:srgbClr val="B9D7D1"/>
              </a:solidFill>
              <a:latin typeface="Avenir Next" panose="020B0803020202020204"/>
              <a:ea typeface="Avenir Next" panose="020B0803020202020204"/>
              <a:cs typeface="Avenir Next" panose="020B0803020202020204"/>
            </a:endParaRPr>
          </a:p>
        </p:txBody>
      </p:sp>
      <p:sp>
        <p:nvSpPr>
          <p:cNvPr id="29" name="Rectangles 28"/>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EAD9A8"/>
                </a:solidFill>
                <a:latin typeface="Avenir Next" panose="020B0803020202020204"/>
                <a:ea typeface="Avenir Next" panose="020B0803020202020204"/>
                <a:cs typeface="Avenir Next" panose="020B0803020202020204"/>
              </a:defRPr>
            </a:pPr>
            <a:r>
              <a:rPr sz="675" b="1">
                <a:solidFill>
                  <a:srgbClr val="EAD9A8"/>
                </a:solidFill>
                <a:latin typeface="Avenir Next" panose="020B0803020202020204"/>
                <a:ea typeface="Avenir Next" panose="020B0803020202020204"/>
                <a:cs typeface="Avenir Next" panose="020B0803020202020204"/>
              </a:rPr>
              <a:t>14</a:t>
            </a:r>
            <a:endParaRPr sz="675" b="1">
              <a:solidFill>
                <a:srgbClr val="EAD9A8"/>
              </a:solidFill>
              <a:latin typeface="Avenir Next" panose="020B0803020202020204"/>
              <a:ea typeface="Avenir Next" panose="020B0803020202020204"/>
              <a:cs typeface="Avenir Next" panose="020B0803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s 1"/>
          <p:cNvSpPr>
            <a:spLocks noGrp="1"/>
          </p:cNvSpPr>
          <p:nvPr/>
        </p:nvSpPr>
        <p:spPr>
          <a:xfrm>
            <a:off x="0" y="0"/>
            <a:ext cx="12192000" cy="6858000"/>
          </a:xfrm>
          <a:prstGeom prst="rect">
            <a:avLst/>
          </a:prstGeom>
          <a:solidFill>
            <a:srgbClr val="132A2F"/>
          </a:solidFill>
          <a:ln w="0">
            <a:solidFill>
              <a:srgbClr val="000000">
                <a:alpha val="0"/>
              </a:srgbClr>
            </a:solidFill>
            <a:prstDash val="solid"/>
          </a:ln>
        </p:spPr>
      </p:sp>
      <p:sp>
        <p:nvSpPr>
          <p:cNvPr id="3" name="Rectangles 2"/>
          <p:cNvSpPr>
            <a:spLocks noGrp="1"/>
          </p:cNvSpPr>
          <p:nvPr/>
        </p:nvSpPr>
        <p:spPr>
          <a:xfrm>
            <a:off x="0" y="0"/>
            <a:ext cx="152400" cy="6858000"/>
          </a:xfrm>
          <a:prstGeom prst="rect">
            <a:avLst/>
          </a:prstGeom>
          <a:solidFill>
            <a:srgbClr val="E45B4F"/>
          </a:solidFill>
          <a:ln w="0">
            <a:solidFill>
              <a:srgbClr val="000000">
                <a:alpha val="0"/>
              </a:srgbClr>
            </a:solidFill>
            <a:prstDash val="solid"/>
          </a:ln>
        </p:spPr>
      </p:sp>
      <p:sp>
        <p:nvSpPr>
          <p:cNvPr id="4" name="kicker-12-marker"/>
          <p:cNvSpPr>
            <a:spLocks noGrp="1"/>
          </p:cNvSpPr>
          <p:nvPr/>
        </p:nvSpPr>
        <p:spPr>
          <a:xfrm>
            <a:off x="552450" y="428625"/>
            <a:ext cx="57150" cy="57150"/>
          </a:xfrm>
          <a:prstGeom prst="ellipse">
            <a:avLst/>
          </a:prstGeom>
          <a:solidFill>
            <a:srgbClr val="E45B4F"/>
          </a:solidFill>
          <a:ln w="0">
            <a:solidFill>
              <a:srgbClr val="000000">
                <a:alpha val="0"/>
              </a:srgbClr>
            </a:solidFill>
            <a:prstDash val="solid"/>
          </a:ln>
        </p:spPr>
      </p:sp>
      <p:sp>
        <p:nvSpPr>
          <p:cNvPr id="5" name="kicker-12-label"/>
          <p:cNvSpPr>
            <a:spLocks noGrp="1"/>
          </p:cNvSpPr>
          <p:nvPr/>
        </p:nvSpPr>
        <p:spPr>
          <a:xfrm>
            <a:off x="723900" y="400050"/>
            <a:ext cx="4095750" cy="1333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750" b="1">
                <a:solidFill>
                  <a:srgbClr val="EAD9A8"/>
                </a:solidFill>
                <a:latin typeface="Avenir Next" panose="020B0803020202020204"/>
                <a:ea typeface="Avenir Next" panose="020B0803020202020204"/>
                <a:cs typeface="Avenir Next" panose="020B0803020202020204"/>
              </a:defRPr>
            </a:pPr>
            <a:r>
              <a:rPr sz="750" b="1">
                <a:solidFill>
                  <a:srgbClr val="EAD9A8"/>
                </a:solidFill>
                <a:latin typeface="Avenir Next" panose="020B0803020202020204"/>
                <a:ea typeface="Avenir Next" panose="020B0803020202020204"/>
                <a:cs typeface="Avenir Next" panose="020B0803020202020204"/>
              </a:rPr>
              <a:t>Q&amp;A</a:t>
            </a:r>
            <a:endParaRPr sz="750" b="1">
              <a:solidFill>
                <a:srgbClr val="EAD9A8"/>
              </a:solidFill>
              <a:latin typeface="Avenir Next" panose="020B0803020202020204"/>
              <a:ea typeface="Avenir Next" panose="020B0803020202020204"/>
              <a:cs typeface="Avenir Next" panose="020B0803020202020204"/>
            </a:endParaRPr>
          </a:p>
        </p:txBody>
      </p:sp>
      <p:sp>
        <p:nvSpPr>
          <p:cNvPr id="6" name="Rectangles 5"/>
          <p:cNvSpPr>
            <a:spLocks noGrp="1"/>
          </p:cNvSpPr>
          <p:nvPr/>
        </p:nvSpPr>
        <p:spPr>
          <a:xfrm>
            <a:off x="552450" y="685800"/>
            <a:ext cx="10477500" cy="895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550" b="1">
                <a:solidFill>
                  <a:srgbClr val="F7F2E9"/>
                </a:solidFill>
                <a:latin typeface="New York"/>
                <a:ea typeface="New York"/>
                <a:cs typeface="New York"/>
              </a:defRPr>
            </a:pPr>
            <a:r>
              <a:rPr sz="2550" b="1">
                <a:solidFill>
                  <a:srgbClr val="F7F2E9"/>
                </a:solidFill>
                <a:latin typeface="New York"/>
                <a:ea typeface="New York"/>
                <a:cs typeface="New York"/>
              </a:rPr>
              <a:t>Thank you — questions and discussion.</a:t>
            </a:r>
            <a:endParaRPr sz="2550" b="1">
              <a:solidFill>
                <a:srgbClr val="F7F2E9"/>
              </a:solidFill>
              <a:latin typeface="New York"/>
              <a:ea typeface="New York"/>
              <a:cs typeface="New York"/>
            </a:endParaRPr>
          </a:p>
        </p:txBody>
      </p:sp>
      <p:sp>
        <p:nvSpPr>
          <p:cNvPr id="7" name="Rectangles 6"/>
          <p:cNvSpPr>
            <a:spLocks noGrp="1"/>
          </p:cNvSpPr>
          <p:nvPr/>
        </p:nvSpPr>
        <p:spPr>
          <a:xfrm>
            <a:off x="552450" y="2076450"/>
            <a:ext cx="38100" cy="2266950"/>
          </a:xfrm>
          <a:prstGeom prst="rect">
            <a:avLst/>
          </a:prstGeom>
          <a:solidFill>
            <a:srgbClr val="D6A83A"/>
          </a:solidFill>
          <a:ln w="0">
            <a:solidFill>
              <a:srgbClr val="000000">
                <a:alpha val="0"/>
              </a:srgbClr>
            </a:solidFill>
            <a:prstDash val="solid"/>
          </a:ln>
        </p:spPr>
      </p:sp>
      <p:sp>
        <p:nvSpPr>
          <p:cNvPr id="8" name="Rectangles 7"/>
          <p:cNvSpPr>
            <a:spLocks noGrp="1"/>
          </p:cNvSpPr>
          <p:nvPr/>
        </p:nvSpPr>
        <p:spPr>
          <a:xfrm>
            <a:off x="742950" y="2047875"/>
            <a:ext cx="4953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D6A83A"/>
                </a:solidFill>
                <a:latin typeface="New York"/>
                <a:ea typeface="New York"/>
                <a:cs typeface="New York"/>
              </a:defRPr>
            </a:pPr>
            <a:r>
              <a:rPr sz="1800" b="1">
                <a:solidFill>
                  <a:srgbClr val="D6A83A"/>
                </a:solidFill>
                <a:latin typeface="New York"/>
                <a:ea typeface="New York"/>
                <a:cs typeface="New York"/>
              </a:rPr>
              <a:t>01</a:t>
            </a:r>
            <a:endParaRPr sz="1800" b="1">
              <a:solidFill>
                <a:srgbClr val="D6A83A"/>
              </a:solidFill>
              <a:latin typeface="New York"/>
              <a:ea typeface="New York"/>
              <a:cs typeface="New York"/>
            </a:endParaRPr>
          </a:p>
        </p:txBody>
      </p:sp>
      <p:sp>
        <p:nvSpPr>
          <p:cNvPr id="9" name="Rectangles 8"/>
          <p:cNvSpPr>
            <a:spLocks noGrp="1"/>
          </p:cNvSpPr>
          <p:nvPr/>
        </p:nvSpPr>
        <p:spPr>
          <a:xfrm>
            <a:off x="742950" y="2533650"/>
            <a:ext cx="3048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F7F2E9"/>
                </a:solidFill>
                <a:latin typeface="New York"/>
                <a:ea typeface="New York"/>
                <a:cs typeface="New York"/>
              </a:defRPr>
            </a:pPr>
            <a:r>
              <a:rPr sz="1350" b="1">
                <a:solidFill>
                  <a:srgbClr val="F7F2E9"/>
                </a:solidFill>
                <a:latin typeface="New York"/>
                <a:ea typeface="New York"/>
                <a:cs typeface="New York"/>
              </a:rPr>
              <a:t>Core finding</a:t>
            </a:r>
            <a:endParaRPr sz="1350" b="1">
              <a:solidFill>
                <a:srgbClr val="F7F2E9"/>
              </a:solidFill>
              <a:latin typeface="New York"/>
              <a:ea typeface="New York"/>
              <a:cs typeface="New York"/>
            </a:endParaRPr>
          </a:p>
        </p:txBody>
      </p:sp>
      <p:sp>
        <p:nvSpPr>
          <p:cNvPr id="10" name="Rectangles 9"/>
          <p:cNvSpPr>
            <a:spLocks noGrp="1"/>
          </p:cNvSpPr>
          <p:nvPr/>
        </p:nvSpPr>
        <p:spPr>
          <a:xfrm>
            <a:off x="742950" y="2952750"/>
            <a:ext cx="3048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0">
                <a:solidFill>
                  <a:srgbClr val="B9D7D1"/>
                </a:solidFill>
                <a:latin typeface="Avenir Next" panose="020B0803020202020204"/>
                <a:ea typeface="Avenir Next" panose="020B0803020202020204"/>
                <a:cs typeface="Avenir Next" panose="020B0803020202020204"/>
              </a:defRPr>
            </a:pPr>
            <a:r>
              <a:rPr sz="825" b="0">
                <a:solidFill>
                  <a:srgbClr val="B9D7D1"/>
                </a:solidFill>
                <a:latin typeface="Avenir Next" panose="020B0803020202020204"/>
                <a:ea typeface="Avenir Next" panose="020B0803020202020204"/>
                <a:cs typeface="Avenir Next" panose="020B0803020202020204"/>
              </a:rPr>
              <a:t>Only 62.4% of high-risk employees had recourse within the bounded HR grid.</a:t>
            </a:r>
            <a:endParaRPr sz="825" b="0">
              <a:solidFill>
                <a:srgbClr val="B9D7D1"/>
              </a:solidFill>
              <a:latin typeface="Avenir Next" panose="020B0803020202020204"/>
              <a:ea typeface="Avenir Next" panose="020B0803020202020204"/>
              <a:cs typeface="Avenir Next" panose="020B0803020202020204"/>
            </a:endParaRPr>
          </a:p>
        </p:txBody>
      </p:sp>
      <p:sp>
        <p:nvSpPr>
          <p:cNvPr id="11" name="Rectangles 10"/>
          <p:cNvSpPr>
            <a:spLocks noGrp="1"/>
          </p:cNvSpPr>
          <p:nvPr/>
        </p:nvSpPr>
        <p:spPr>
          <a:xfrm>
            <a:off x="4171950" y="2076450"/>
            <a:ext cx="38100" cy="2266950"/>
          </a:xfrm>
          <a:prstGeom prst="rect">
            <a:avLst/>
          </a:prstGeom>
          <a:solidFill>
            <a:srgbClr val="2A7F78"/>
          </a:solidFill>
          <a:ln w="0">
            <a:solidFill>
              <a:srgbClr val="000000">
                <a:alpha val="0"/>
              </a:srgbClr>
            </a:solidFill>
            <a:prstDash val="solid"/>
          </a:ln>
        </p:spPr>
      </p:sp>
      <p:sp>
        <p:nvSpPr>
          <p:cNvPr id="12" name="Rectangles 11"/>
          <p:cNvSpPr>
            <a:spLocks noGrp="1"/>
          </p:cNvSpPr>
          <p:nvPr/>
        </p:nvSpPr>
        <p:spPr>
          <a:xfrm>
            <a:off x="4362450" y="2047875"/>
            <a:ext cx="4953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2A7F78"/>
                </a:solidFill>
                <a:latin typeface="New York"/>
                <a:ea typeface="New York"/>
                <a:cs typeface="New York"/>
              </a:defRPr>
            </a:pPr>
            <a:r>
              <a:rPr sz="1800" b="1">
                <a:solidFill>
                  <a:srgbClr val="2A7F78"/>
                </a:solidFill>
                <a:latin typeface="New York"/>
                <a:ea typeface="New York"/>
                <a:cs typeface="New York"/>
              </a:rPr>
              <a:t>02</a:t>
            </a:r>
            <a:endParaRPr sz="1800" b="1">
              <a:solidFill>
                <a:srgbClr val="2A7F78"/>
              </a:solidFill>
              <a:latin typeface="New York"/>
              <a:ea typeface="New York"/>
              <a:cs typeface="New York"/>
            </a:endParaRPr>
          </a:p>
        </p:txBody>
      </p:sp>
      <p:sp>
        <p:nvSpPr>
          <p:cNvPr id="13" name="Rectangles 12"/>
          <p:cNvSpPr>
            <a:spLocks noGrp="1"/>
          </p:cNvSpPr>
          <p:nvPr/>
        </p:nvSpPr>
        <p:spPr>
          <a:xfrm>
            <a:off x="4362450" y="2533650"/>
            <a:ext cx="3048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F7F2E9"/>
                </a:solidFill>
                <a:latin typeface="New York"/>
                <a:ea typeface="New York"/>
                <a:cs typeface="New York"/>
              </a:defRPr>
            </a:pPr>
            <a:r>
              <a:rPr sz="1350" b="1">
                <a:solidFill>
                  <a:srgbClr val="F7F2E9"/>
                </a:solidFill>
                <a:latin typeface="New York"/>
                <a:ea typeface="New York"/>
                <a:cs typeface="New York"/>
              </a:rPr>
              <a:t>Responsible interpretation</a:t>
            </a:r>
            <a:endParaRPr sz="1350" b="1">
              <a:solidFill>
                <a:srgbClr val="F7F2E9"/>
              </a:solidFill>
              <a:latin typeface="New York"/>
              <a:ea typeface="New York"/>
              <a:cs typeface="New York"/>
            </a:endParaRPr>
          </a:p>
        </p:txBody>
      </p:sp>
      <p:sp>
        <p:nvSpPr>
          <p:cNvPr id="14" name="Rectangles 13"/>
          <p:cNvSpPr>
            <a:spLocks noGrp="1"/>
          </p:cNvSpPr>
          <p:nvPr/>
        </p:nvSpPr>
        <p:spPr>
          <a:xfrm>
            <a:off x="4362450" y="2952750"/>
            <a:ext cx="3048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0">
                <a:solidFill>
                  <a:srgbClr val="B9D7D1"/>
                </a:solidFill>
                <a:latin typeface="Avenir Next" panose="020B0803020202020204"/>
                <a:ea typeface="Avenir Next" panose="020B0803020202020204"/>
                <a:cs typeface="Avenir Next" panose="020B0803020202020204"/>
              </a:defRPr>
            </a:pPr>
            <a:r>
              <a:rPr sz="825" b="0">
                <a:solidFill>
                  <a:srgbClr val="B9D7D1"/>
                </a:solidFill>
                <a:latin typeface="Avenir Next" panose="020B0803020202020204"/>
                <a:ea typeface="Avenir Next" panose="020B0803020202020204"/>
                <a:cs typeface="Avenir Next" panose="020B0803020202020204"/>
              </a:rPr>
              <a:t>Counterfactual score changes audit model logic; they do not prove causal retention effects.</a:t>
            </a:r>
            <a:endParaRPr sz="825" b="0">
              <a:solidFill>
                <a:srgbClr val="B9D7D1"/>
              </a:solidFill>
              <a:latin typeface="Avenir Next" panose="020B0803020202020204"/>
              <a:ea typeface="Avenir Next" panose="020B0803020202020204"/>
              <a:cs typeface="Avenir Next" panose="020B0803020202020204"/>
            </a:endParaRPr>
          </a:p>
        </p:txBody>
      </p:sp>
      <p:sp>
        <p:nvSpPr>
          <p:cNvPr id="15" name="Rectangles 14"/>
          <p:cNvSpPr>
            <a:spLocks noGrp="1"/>
          </p:cNvSpPr>
          <p:nvPr/>
        </p:nvSpPr>
        <p:spPr>
          <a:xfrm>
            <a:off x="7791450" y="2076450"/>
            <a:ext cx="38100" cy="2266950"/>
          </a:xfrm>
          <a:prstGeom prst="rect">
            <a:avLst/>
          </a:prstGeom>
          <a:solidFill>
            <a:srgbClr val="E45B4F"/>
          </a:solidFill>
          <a:ln w="0">
            <a:solidFill>
              <a:srgbClr val="000000">
                <a:alpha val="0"/>
              </a:srgbClr>
            </a:solidFill>
            <a:prstDash val="solid"/>
          </a:ln>
        </p:spPr>
      </p:sp>
      <p:sp>
        <p:nvSpPr>
          <p:cNvPr id="16" name="Rectangles 15"/>
          <p:cNvSpPr>
            <a:spLocks noGrp="1"/>
          </p:cNvSpPr>
          <p:nvPr/>
        </p:nvSpPr>
        <p:spPr>
          <a:xfrm>
            <a:off x="7981950" y="2047875"/>
            <a:ext cx="4953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800" b="1">
                <a:solidFill>
                  <a:srgbClr val="E45B4F"/>
                </a:solidFill>
                <a:latin typeface="New York"/>
                <a:ea typeface="New York"/>
                <a:cs typeface="New York"/>
              </a:defRPr>
            </a:pPr>
            <a:r>
              <a:rPr sz="1800" b="1">
                <a:solidFill>
                  <a:srgbClr val="E45B4F"/>
                </a:solidFill>
                <a:latin typeface="New York"/>
                <a:ea typeface="New York"/>
                <a:cs typeface="New York"/>
              </a:rPr>
              <a:t>03</a:t>
            </a:r>
            <a:endParaRPr sz="1800" b="1">
              <a:solidFill>
                <a:srgbClr val="E45B4F"/>
              </a:solidFill>
              <a:latin typeface="New York"/>
              <a:ea typeface="New York"/>
              <a:cs typeface="New York"/>
            </a:endParaRPr>
          </a:p>
        </p:txBody>
      </p:sp>
      <p:sp>
        <p:nvSpPr>
          <p:cNvPr id="17" name="Rectangles 16"/>
          <p:cNvSpPr>
            <a:spLocks noGrp="1"/>
          </p:cNvSpPr>
          <p:nvPr/>
        </p:nvSpPr>
        <p:spPr>
          <a:xfrm>
            <a:off x="7981950" y="2533650"/>
            <a:ext cx="3048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F7F2E9"/>
                </a:solidFill>
                <a:latin typeface="New York"/>
                <a:ea typeface="New York"/>
                <a:cs typeface="New York"/>
              </a:defRPr>
            </a:pPr>
            <a:r>
              <a:rPr sz="1350" b="1">
                <a:solidFill>
                  <a:srgbClr val="F7F2E9"/>
                </a:solidFill>
                <a:latin typeface="New York"/>
                <a:ea typeface="New York"/>
                <a:cs typeface="New York"/>
              </a:rPr>
              <a:t>Next step</a:t>
            </a:r>
            <a:endParaRPr sz="1350" b="1">
              <a:solidFill>
                <a:srgbClr val="F7F2E9"/>
              </a:solidFill>
              <a:latin typeface="New York"/>
              <a:ea typeface="New York"/>
              <a:cs typeface="New York"/>
            </a:endParaRPr>
          </a:p>
        </p:txBody>
      </p:sp>
      <p:sp>
        <p:nvSpPr>
          <p:cNvPr id="18" name="Rectangles 17"/>
          <p:cNvSpPr>
            <a:spLocks noGrp="1"/>
          </p:cNvSpPr>
          <p:nvPr/>
        </p:nvSpPr>
        <p:spPr>
          <a:xfrm>
            <a:off x="7981950" y="2952750"/>
            <a:ext cx="3048000" cy="8191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0">
                <a:solidFill>
                  <a:srgbClr val="B9D7D1"/>
                </a:solidFill>
                <a:latin typeface="Avenir Next" panose="020B0803020202020204"/>
                <a:ea typeface="Avenir Next" panose="020B0803020202020204"/>
                <a:cs typeface="Avenir Next" panose="020B0803020202020204"/>
              </a:defRPr>
            </a:pPr>
            <a:r>
              <a:rPr sz="825" b="0">
                <a:solidFill>
                  <a:srgbClr val="B9D7D1"/>
                </a:solidFill>
                <a:latin typeface="Avenir Next" panose="020B0803020202020204"/>
                <a:ea typeface="Avenir Next" panose="020B0803020202020204"/>
                <a:cs typeface="Avenir Next" panose="020B0803020202020204"/>
              </a:rPr>
              <a:t>Validate with longitudinal data, fairness analysis, and employee-informed constraints.</a:t>
            </a:r>
            <a:endParaRPr sz="825" b="0">
              <a:solidFill>
                <a:srgbClr val="B9D7D1"/>
              </a:solidFill>
              <a:latin typeface="Avenir Next" panose="020B0803020202020204"/>
              <a:ea typeface="Avenir Next" panose="020B0803020202020204"/>
              <a:cs typeface="Avenir Next" panose="020B0803020202020204"/>
            </a:endParaRPr>
          </a:p>
        </p:txBody>
      </p:sp>
      <p:sp>
        <p:nvSpPr>
          <p:cNvPr id="19" name="Rectangles 18"/>
          <p:cNvSpPr>
            <a:spLocks noGrp="1"/>
          </p:cNvSpPr>
          <p:nvPr/>
        </p:nvSpPr>
        <p:spPr>
          <a:xfrm>
            <a:off x="552450" y="4457700"/>
            <a:ext cx="10801350" cy="9525"/>
          </a:xfrm>
          <a:prstGeom prst="rect">
            <a:avLst/>
          </a:prstGeom>
          <a:solidFill>
            <a:srgbClr val="203D42"/>
          </a:solidFill>
          <a:ln w="0">
            <a:solidFill>
              <a:srgbClr val="000000">
                <a:alpha val="0"/>
              </a:srgbClr>
            </a:solidFill>
            <a:prstDash val="solid"/>
          </a:ln>
        </p:spPr>
      </p:sp>
      <p:sp>
        <p:nvSpPr>
          <p:cNvPr id="20" name="Rectangles 19"/>
          <p:cNvSpPr>
            <a:spLocks noGrp="1"/>
          </p:cNvSpPr>
          <p:nvPr/>
        </p:nvSpPr>
        <p:spPr>
          <a:xfrm>
            <a:off x="552450" y="4752975"/>
            <a:ext cx="4953000" cy="895350"/>
          </a:xfrm>
          <a:prstGeom prst="rect">
            <a:avLst/>
          </a:prstGeom>
          <a:solidFill>
            <a:srgbClr val="2A7F78"/>
          </a:solidFill>
          <a:ln w="0">
            <a:solidFill>
              <a:srgbClr val="000000">
                <a:alpha val="0"/>
              </a:srgbClr>
            </a:solidFill>
            <a:prstDash val="solid"/>
          </a:ln>
        </p:spPr>
      </p:sp>
      <p:sp>
        <p:nvSpPr>
          <p:cNvPr id="21" name="Rectangles 20"/>
          <p:cNvSpPr>
            <a:spLocks noGrp="1"/>
          </p:cNvSpPr>
          <p:nvPr/>
        </p:nvSpPr>
        <p:spPr>
          <a:xfrm>
            <a:off x="781050" y="4933950"/>
            <a:ext cx="1143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F7F2E9"/>
                </a:solidFill>
                <a:latin typeface="Avenir Next" panose="020B0803020202020204"/>
                <a:ea typeface="Avenir Next" panose="020B0803020202020204"/>
                <a:cs typeface="Avenir Next" panose="020B0803020202020204"/>
              </a:defRPr>
            </a:pPr>
            <a:r>
              <a:rPr sz="715" b="1">
                <a:solidFill>
                  <a:srgbClr val="F7F2E9"/>
                </a:solidFill>
                <a:latin typeface="Avenir Next" panose="020B0803020202020204"/>
                <a:ea typeface="Avenir Next" panose="020B0803020202020204"/>
                <a:cs typeface="Avenir Next" panose="020B0803020202020204"/>
              </a:rPr>
              <a:t>PRESENTED BY</a:t>
            </a:r>
            <a:endParaRPr sz="715" b="1">
              <a:solidFill>
                <a:srgbClr val="F7F2E9"/>
              </a:solidFill>
              <a:latin typeface="Avenir Next" panose="020B0803020202020204"/>
              <a:ea typeface="Avenir Next" panose="020B0803020202020204"/>
              <a:cs typeface="Avenir Next" panose="020B0803020202020204"/>
            </a:endParaRPr>
          </a:p>
        </p:txBody>
      </p:sp>
      <p:sp>
        <p:nvSpPr>
          <p:cNvPr id="22" name="Rectangles 21"/>
          <p:cNvSpPr>
            <a:spLocks noGrp="1"/>
          </p:cNvSpPr>
          <p:nvPr/>
        </p:nvSpPr>
        <p:spPr>
          <a:xfrm>
            <a:off x="781050" y="5219700"/>
            <a:ext cx="4381500" cy="2571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F7F2E9"/>
                </a:solidFill>
                <a:latin typeface="New York"/>
                <a:ea typeface="New York"/>
                <a:cs typeface="New York"/>
              </a:defRPr>
            </a:pPr>
            <a:r>
              <a:rPr sz="1125" b="1">
                <a:solidFill>
                  <a:srgbClr val="F7F2E9"/>
                </a:solidFill>
                <a:latin typeface="New York"/>
                <a:ea typeface="New York"/>
                <a:cs typeface="New York"/>
              </a:rPr>
              <a:t>Nguyen Tien Khoa · Student ID 250104039</a:t>
            </a:r>
            <a:endParaRPr sz="1125" b="1">
              <a:solidFill>
                <a:srgbClr val="F7F2E9"/>
              </a:solidFill>
              <a:latin typeface="New York"/>
              <a:ea typeface="New York"/>
              <a:cs typeface="New York"/>
            </a:endParaRPr>
          </a:p>
        </p:txBody>
      </p:sp>
      <p:sp>
        <p:nvSpPr>
          <p:cNvPr id="23" name="Rectangles 22"/>
          <p:cNvSpPr>
            <a:spLocks noGrp="1"/>
          </p:cNvSpPr>
          <p:nvPr/>
        </p:nvSpPr>
        <p:spPr>
          <a:xfrm>
            <a:off x="5829300" y="4752975"/>
            <a:ext cx="5524500" cy="895350"/>
          </a:xfrm>
          <a:prstGeom prst="rect">
            <a:avLst/>
          </a:prstGeom>
          <a:solidFill>
            <a:srgbClr val="E45B4F"/>
          </a:solidFill>
          <a:ln w="0">
            <a:solidFill>
              <a:srgbClr val="000000">
                <a:alpha val="0"/>
              </a:srgbClr>
            </a:solidFill>
            <a:prstDash val="solid"/>
          </a:ln>
        </p:spPr>
      </p:sp>
      <p:sp>
        <p:nvSpPr>
          <p:cNvPr id="24" name="Rectangles 23"/>
          <p:cNvSpPr>
            <a:spLocks noGrp="1"/>
          </p:cNvSpPr>
          <p:nvPr/>
        </p:nvSpPr>
        <p:spPr>
          <a:xfrm>
            <a:off x="6057900" y="4933950"/>
            <a:ext cx="1524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15" b="1">
                <a:solidFill>
                  <a:srgbClr val="F7F2E9"/>
                </a:solidFill>
                <a:latin typeface="Avenir Next" panose="020B0803020202020204"/>
                <a:ea typeface="Avenir Next" panose="020B0803020202020204"/>
                <a:cs typeface="Avenir Next" panose="020B0803020202020204"/>
              </a:defRPr>
            </a:pPr>
            <a:r>
              <a:rPr sz="715" b="1">
                <a:solidFill>
                  <a:srgbClr val="F7F2E9"/>
                </a:solidFill>
                <a:latin typeface="Avenir Next" panose="020B0803020202020204"/>
                <a:ea typeface="Avenir Next" panose="020B0803020202020204"/>
                <a:cs typeface="Avenir Next" panose="020B0803020202020204"/>
              </a:rPr>
              <a:t>COURSE</a:t>
            </a:r>
            <a:endParaRPr sz="715" b="1">
              <a:solidFill>
                <a:srgbClr val="F7F2E9"/>
              </a:solidFill>
              <a:latin typeface="Avenir Next" panose="020B0803020202020204"/>
              <a:ea typeface="Avenir Next" panose="020B0803020202020204"/>
              <a:cs typeface="Avenir Next" panose="020B0803020202020204"/>
            </a:endParaRPr>
          </a:p>
        </p:txBody>
      </p:sp>
      <p:sp>
        <p:nvSpPr>
          <p:cNvPr id="25" name="Rectangles 24"/>
          <p:cNvSpPr>
            <a:spLocks noGrp="1"/>
          </p:cNvSpPr>
          <p:nvPr/>
        </p:nvSpPr>
        <p:spPr>
          <a:xfrm>
            <a:off x="6057900" y="5219700"/>
            <a:ext cx="4953000" cy="2571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F7F2E9"/>
                </a:solidFill>
                <a:latin typeface="New York"/>
                <a:ea typeface="New York"/>
                <a:cs typeface="New York"/>
              </a:defRPr>
            </a:pPr>
            <a:r>
              <a:rPr sz="1125" b="1">
                <a:solidFill>
                  <a:srgbClr val="F7F2E9"/>
                </a:solidFill>
                <a:latin typeface="New York"/>
                <a:ea typeface="New York"/>
                <a:cs typeface="New York"/>
              </a:rPr>
              <a:t>Research on Data Analysis · IS6502.CH201</a:t>
            </a:r>
            <a:endParaRPr sz="1125" b="1">
              <a:solidFill>
                <a:srgbClr val="F7F2E9"/>
              </a:solidFill>
              <a:latin typeface="New York"/>
              <a:ea typeface="New York"/>
              <a:cs typeface="New York"/>
            </a:endParaRPr>
          </a:p>
        </p:txBody>
      </p:sp>
      <p:sp>
        <p:nvSpPr>
          <p:cNvPr id="26" name="Rectangles 25"/>
          <p:cNvSpPr>
            <a:spLocks noGrp="1"/>
          </p:cNvSpPr>
          <p:nvPr/>
        </p:nvSpPr>
        <p:spPr>
          <a:xfrm>
            <a:off x="552450" y="5981700"/>
            <a:ext cx="108013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EAD9A8"/>
                </a:solidFill>
                <a:latin typeface="Avenir Next" panose="020B0803020202020204"/>
                <a:ea typeface="Avenir Next" panose="020B0803020202020204"/>
                <a:cs typeface="Avenir Next" panose="020B0803020202020204"/>
              </a:defRPr>
            </a:pPr>
            <a:r>
              <a:rPr sz="825" b="1">
                <a:solidFill>
                  <a:srgbClr val="EAD9A8"/>
                </a:solidFill>
                <a:latin typeface="Avenir Next" panose="020B0803020202020204"/>
                <a:ea typeface="Avenir Next" panose="020B0803020202020204"/>
                <a:cs typeface="Avenir Next" panose="020B0803020202020204"/>
              </a:rPr>
              <a:t>Assoc. Prof. Dr. Nguyen Dinh Thuan · July 2026</a:t>
            </a:r>
            <a:endParaRPr sz="825" b="1">
              <a:solidFill>
                <a:srgbClr val="EAD9A8"/>
              </a:solidFill>
              <a:latin typeface="Avenir Next" panose="020B0803020202020204"/>
              <a:ea typeface="Avenir Next" panose="020B0803020202020204"/>
              <a:cs typeface="Avenir Next" panose="020B0803020202020204"/>
            </a:endParaRPr>
          </a:p>
        </p:txBody>
      </p:sp>
      <p:sp>
        <p:nvSpPr>
          <p:cNvPr id="27" name="Rectangles 26"/>
          <p:cNvSpPr>
            <a:spLocks noGrp="1"/>
          </p:cNvSpPr>
          <p:nvPr/>
        </p:nvSpPr>
        <p:spPr>
          <a:xfrm>
            <a:off x="552450" y="6486525"/>
            <a:ext cx="11087100" cy="9525"/>
          </a:xfrm>
          <a:prstGeom prst="rect">
            <a:avLst/>
          </a:prstGeom>
          <a:solidFill>
            <a:srgbClr val="203D42"/>
          </a:solidFill>
          <a:ln w="0">
            <a:solidFill>
              <a:srgbClr val="000000">
                <a:alpha val="0"/>
              </a:srgbClr>
            </a:solidFill>
            <a:prstDash val="solid"/>
          </a:ln>
        </p:spPr>
      </p:sp>
      <p:sp>
        <p:nvSpPr>
          <p:cNvPr id="28" name="Rectangles 27"/>
          <p:cNvSpPr>
            <a:spLocks noGrp="1"/>
          </p:cNvSpPr>
          <p:nvPr/>
        </p:nvSpPr>
        <p:spPr>
          <a:xfrm>
            <a:off x="552450" y="6562725"/>
            <a:ext cx="9429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640" b="0">
                <a:solidFill>
                  <a:srgbClr val="B9D7D1"/>
                </a:solidFill>
                <a:latin typeface="Avenir Next" panose="020B0803020202020204"/>
                <a:ea typeface="Avenir Next" panose="020B0803020202020204"/>
                <a:cs typeface="Avenir Next" panose="020B0803020202020204"/>
              </a:defRPr>
            </a:pPr>
            <a:r>
              <a:rPr sz="640" b="0">
                <a:solidFill>
                  <a:srgbClr val="B9D7D1"/>
                </a:solidFill>
                <a:latin typeface="Avenir Next" panose="020B0803020202020204"/>
                <a:ea typeface="Avenir Next" panose="020B0803020202020204"/>
                <a:cs typeface="Avenir Next" panose="020B0803020202020204"/>
              </a:rPr>
              <a:t>Are Counterfactual HR Intervention Scenarios Feasible?</a:t>
            </a:r>
            <a:endParaRPr sz="640" b="0">
              <a:solidFill>
                <a:srgbClr val="B9D7D1"/>
              </a:solidFill>
              <a:latin typeface="Avenir Next" panose="020B0803020202020204"/>
              <a:ea typeface="Avenir Next" panose="020B0803020202020204"/>
              <a:cs typeface="Avenir Next" panose="020B0803020202020204"/>
            </a:endParaRPr>
          </a:p>
        </p:txBody>
      </p:sp>
      <p:sp>
        <p:nvSpPr>
          <p:cNvPr id="29" name="Rectangles 28"/>
          <p:cNvSpPr>
            <a:spLocks noGrp="1"/>
          </p:cNvSpPr>
          <p:nvPr/>
        </p:nvSpPr>
        <p:spPr>
          <a:xfrm>
            <a:off x="11049000" y="6543675"/>
            <a:ext cx="590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675" b="1">
                <a:solidFill>
                  <a:srgbClr val="EAD9A8"/>
                </a:solidFill>
                <a:latin typeface="Avenir Next" panose="020B0803020202020204"/>
                <a:ea typeface="Avenir Next" panose="020B0803020202020204"/>
                <a:cs typeface="Avenir Next" panose="020B0803020202020204"/>
              </a:defRPr>
            </a:pPr>
            <a:r>
              <a:rPr sz="675" b="1">
                <a:solidFill>
                  <a:srgbClr val="EAD9A8"/>
                </a:solidFill>
                <a:latin typeface="Avenir Next" panose="020B0803020202020204"/>
                <a:ea typeface="Avenir Next" panose="020B0803020202020204"/>
                <a:cs typeface="Avenir Next" panose="020B0803020202020204"/>
              </a:rPr>
              <a:t>15</a:t>
            </a:r>
            <a:endParaRPr sz="675" b="1">
              <a:solidFill>
                <a:srgbClr val="EAD9A8"/>
              </a:solidFill>
              <a:latin typeface="Avenir Next" panose="020B0803020202020204"/>
              <a:ea typeface="Avenir Next" panose="020B0803020202020204"/>
              <a:cs typeface="Avenir Next" panose="020B0803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9195</Words>
  <Application>WPS Presentation</Application>
  <PresentationFormat>Converted Presentation</PresentationFormat>
  <Paragraphs>732</Paragraphs>
  <Slides>15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15</vt:i4>
      </vt:variant>
    </vt:vector>
  </HeadingPairs>
  <TitlesOfParts>
    <vt:vector size="28" baseType="lpstr">
      <vt:lpstr>Arial</vt:lpstr>
      <vt:lpstr>SimSun</vt:lpstr>
      <vt:lpstr>Wingdings</vt:lpstr>
      <vt:lpstr>Avenir Next</vt:lpstr>
      <vt:lpstr>New York</vt:lpstr>
      <vt:lpstr>Thonburi</vt:lpstr>
      <vt:lpstr>微软雅黑</vt:lpstr>
      <vt:lpstr>汉仪旗黑</vt:lpstr>
      <vt:lpstr>Arial Unicode MS</vt:lpstr>
      <vt:lpstr>Calibri</vt:lpstr>
      <vt:lpstr>Helvetica Neue</vt:lpstr>
      <vt:lpstr>宋体-简</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admin</cp:lastModifiedBy>
  <cp:revision>8</cp:revision>
  <dcterms:created xsi:type="dcterms:W3CDTF">2026-07-15T18:35:45Z</dcterms:created>
  <dcterms:modified xsi:type="dcterms:W3CDTF">2026-07-15T18:35:45Z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1033-3.1.4.5932</vt:lpwstr>
  </property>
</Properties>
</file>